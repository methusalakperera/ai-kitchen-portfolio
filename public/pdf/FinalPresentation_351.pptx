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8"/>
  </p:notesMasterIdLst>
  <p:handoutMasterIdLst>
    <p:handoutMasterId r:id="rId19"/>
  </p:handoutMasterIdLst>
  <p:sldIdLst>
    <p:sldId id="295" r:id="rId5"/>
    <p:sldId id="306" r:id="rId6"/>
    <p:sldId id="296" r:id="rId7"/>
    <p:sldId id="305" r:id="rId8"/>
    <p:sldId id="297" r:id="rId9"/>
    <p:sldId id="300" r:id="rId10"/>
    <p:sldId id="264" r:id="rId11"/>
    <p:sldId id="303" r:id="rId12"/>
    <p:sldId id="304" r:id="rId13"/>
    <p:sldId id="299" r:id="rId14"/>
    <p:sldId id="265" r:id="rId15"/>
    <p:sldId id="268" r:id="rId16"/>
    <p:sldId id="30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FCFF"/>
    <a:srgbClr val="E8F7F5"/>
    <a:srgbClr val="46A2F2"/>
    <a:srgbClr val="59AAF2"/>
    <a:srgbClr val="42A187"/>
    <a:srgbClr val="C3FD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3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5/4/2026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Panel. We are Group 25-26J-351, presenting our AI-Powered Kitchen Ecosystem — a solution for food waste reduction and nutrition optimization."</a:t>
            </a:r>
          </a:p>
        </p:txBody>
      </p:sp>
      <p:sp>
        <p:nvSpPr>
          <p:cNvPr id="4" name="Slide Number Placeholder 3"/>
          <p:cNvSpPr>
            <a:spLocks noGrp="1"/>
          </p:cNvSpPr>
          <p:nvPr>
            <p:ph type="sldNum" sz="quarter" idx="5"/>
          </p:nvPr>
        </p:nvSpPr>
        <p:spPr/>
        <p:txBody>
          <a:bodyPr/>
          <a:lstStyle/>
          <a:p>
            <a:fld id="{6C0B8AC8-E212-48B2-9917-7448FC83DD17}" type="slidenum">
              <a:rPr lang="en-US" smtClean="0"/>
              <a:t>1</a:t>
            </a:fld>
            <a:endParaRPr lang="en-US"/>
          </a:p>
        </p:txBody>
      </p:sp>
    </p:spTree>
    <p:extLst>
      <p:ext uri="{BB962C8B-B14F-4D97-AF65-F5344CB8AC3E}">
        <p14:creationId xmlns:p14="http://schemas.microsoft.com/office/powerpoint/2010/main" val="2143605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F3D9-AC46-2987-F742-5B5C4B958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04590-D7D2-3F92-E7C3-922A8D5FE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1737C-984F-0A77-6937-A1516CFA4000}"/>
              </a:ext>
            </a:extLst>
          </p:cNvPr>
          <p:cNvSpPr>
            <a:spLocks noGrp="1"/>
          </p:cNvSpPr>
          <p:nvPr>
            <p:ph type="body" idx="1"/>
          </p:nvPr>
        </p:nvSpPr>
        <p:spPr/>
        <p:txBody>
          <a:bodyPr/>
          <a:lstStyle/>
          <a:p>
            <a:r>
              <a:rPr lang="en-US" dirty="0"/>
              <a:t>"Based on PP2 feedback, we strengthened our theoretical foundation by reviewing 28+ research papers, defined structured ML pipelines, added evaluation metrics, and simplified our system flow visualizations."</a:t>
            </a:r>
          </a:p>
        </p:txBody>
      </p:sp>
      <p:sp>
        <p:nvSpPr>
          <p:cNvPr id="4" name="Slide Number Placeholder 3">
            <a:extLst>
              <a:ext uri="{FF2B5EF4-FFF2-40B4-BE49-F238E27FC236}">
                <a16:creationId xmlns:a16="http://schemas.microsoft.com/office/drawing/2014/main" id="{8951C1D5-16E8-1BF2-DD8E-B2AE12D1EA2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1501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40% of global food is wasted while millions still face nutritional imbalances. Existing apps work in silos — recipe apps don't talk to nutrition trackers, and shopping tools ignore what's already in your kitchen. We address this gap with an integrated AI-driven kitchen ecosystem."</a:t>
            </a:r>
          </a:p>
        </p:txBody>
      </p:sp>
      <p:sp>
        <p:nvSpPr>
          <p:cNvPr id="4" name="Slide Number Placeholder 3"/>
          <p:cNvSpPr>
            <a:spLocks noGrp="1"/>
          </p:cNvSpPr>
          <p:nvPr>
            <p:ph type="sldNum" sz="quarter" idx="5"/>
          </p:nvPr>
        </p:nvSpPr>
        <p:spPr/>
        <p:txBody>
          <a:bodyPr/>
          <a:lstStyle/>
          <a:p>
            <a:fld id="{6C0B8AC8-E212-48B2-9917-7448FC83DD17}" type="slidenum">
              <a:rPr lang="en-US" smtClean="0"/>
              <a:t>3</a:t>
            </a:fld>
            <a:endParaRPr lang="en-US"/>
          </a:p>
        </p:txBody>
      </p:sp>
    </p:spTree>
    <p:extLst>
      <p:ext uri="{BB962C8B-B14F-4D97-AF65-F5344CB8AC3E}">
        <p14:creationId xmlns:p14="http://schemas.microsoft.com/office/powerpoint/2010/main" val="280196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tools fail at the integration level. Recipe apps don't check your fridge. Nutrition trackers don't predict deficiencies. Expiry systems use fixed dates, not real conditions. And grocery platforms ignore your household inventory. These are the exact gaps our system fills."</a:t>
            </a:r>
          </a:p>
        </p:txBody>
      </p:sp>
      <p:sp>
        <p:nvSpPr>
          <p:cNvPr id="4" name="Slide Number Placeholder 3"/>
          <p:cNvSpPr>
            <a:spLocks noGrp="1"/>
          </p:cNvSpPr>
          <p:nvPr>
            <p:ph type="sldNum" sz="quarter" idx="5"/>
          </p:nvPr>
        </p:nvSpPr>
        <p:spPr/>
        <p:txBody>
          <a:bodyPr/>
          <a:lstStyle/>
          <a:p>
            <a:fld id="{6C0B8AC8-E212-48B2-9917-7448FC83DD17}" type="slidenum">
              <a:rPr lang="en-US" smtClean="0"/>
              <a:t>4</a:t>
            </a:fld>
            <a:endParaRPr lang="en-US"/>
          </a:p>
        </p:txBody>
      </p:sp>
    </p:spTree>
    <p:extLst>
      <p:ext uri="{BB962C8B-B14F-4D97-AF65-F5344CB8AC3E}">
        <p14:creationId xmlns:p14="http://schemas.microsoft.com/office/powerpoint/2010/main" val="3660688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four core modules: O1 — a Spontaneous Cooking Assistant using SBERT and Google Cloud Vision. O2 — a Nutritional Guidance System predicting deficiency risks with 84% accuracy. O3 — an AI Food Expiry Predictor using </a:t>
            </a:r>
            <a:r>
              <a:rPr lang="en-US" dirty="0" err="1"/>
              <a:t>CatBoost</a:t>
            </a:r>
            <a:r>
              <a:rPr lang="en-US" dirty="0"/>
              <a:t> regression. And O4 — a Smart Shopping Module with NLP-powered query understanding and voice input."</a:t>
            </a:r>
          </a:p>
        </p:txBody>
      </p:sp>
      <p:sp>
        <p:nvSpPr>
          <p:cNvPr id="4" name="Slide Number Placeholder 3"/>
          <p:cNvSpPr>
            <a:spLocks noGrp="1"/>
          </p:cNvSpPr>
          <p:nvPr>
            <p:ph type="sldNum" sz="quarter" idx="5"/>
          </p:nvPr>
        </p:nvSpPr>
        <p:spPr/>
        <p:txBody>
          <a:bodyPr/>
          <a:lstStyle/>
          <a:p>
            <a:fld id="{6C0B8AC8-E212-48B2-9917-7448FC83DD17}" type="slidenum">
              <a:rPr lang="en-US" smtClean="0"/>
              <a:t>5</a:t>
            </a:fld>
            <a:endParaRPr lang="en-US"/>
          </a:p>
        </p:txBody>
      </p:sp>
    </p:spTree>
    <p:extLst>
      <p:ext uri="{BB962C8B-B14F-4D97-AF65-F5344CB8AC3E}">
        <p14:creationId xmlns:p14="http://schemas.microsoft.com/office/powerpoint/2010/main" val="1949022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19C2E-1F99-D4C0-C36F-03DEA1D0E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19262-6F15-DC91-895A-B421626C6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D7AB8-4E46-C198-E4AB-03295701FF99}"/>
              </a:ext>
            </a:extLst>
          </p:cNvPr>
          <p:cNvSpPr>
            <a:spLocks noGrp="1"/>
          </p:cNvSpPr>
          <p:nvPr>
            <p:ph type="body" idx="1"/>
          </p:nvPr>
        </p:nvSpPr>
        <p:spPr/>
        <p:txBody>
          <a:bodyPr/>
          <a:lstStyle/>
          <a:p>
            <a:r>
              <a:rPr lang="en-US" dirty="0"/>
              <a:t>"All four modules are integrated into one ecosystem, sharing a common data layer so your fridge inventory informs your recipes, your nutrition, your expiry alerts, and your shopping list — simultaneously."</a:t>
            </a:r>
          </a:p>
        </p:txBody>
      </p:sp>
      <p:sp>
        <p:nvSpPr>
          <p:cNvPr id="4" name="Slide Number Placeholder 3">
            <a:extLst>
              <a:ext uri="{FF2B5EF4-FFF2-40B4-BE49-F238E27FC236}">
                <a16:creationId xmlns:a16="http://schemas.microsoft.com/office/drawing/2014/main" id="{884E1D5B-7633-AD86-B92D-C11562CA559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2521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cooking assistant uses a two-tier fuzzy normalization engine — mapping Sinhala and Tamil ingredient names to English, then using SBERT embeddings to retrieve the most semantically relevant recipe from 190 validated Sri Lankan recipes across three languages."</a:t>
            </a:r>
          </a:p>
        </p:txBody>
      </p:sp>
      <p:sp>
        <p:nvSpPr>
          <p:cNvPr id="4" name="Slide Number Placeholder 3"/>
          <p:cNvSpPr>
            <a:spLocks noGrp="1"/>
          </p:cNvSpPr>
          <p:nvPr>
            <p:ph type="sldNum" sz="quarter" idx="5"/>
          </p:nvPr>
        </p:nvSpPr>
        <p:spPr/>
        <p:txBody>
          <a:bodyPr/>
          <a:lstStyle/>
          <a:p>
            <a:fld id="{6C0B8AC8-E212-48B2-9917-7448FC83DD17}" type="slidenum">
              <a:rPr lang="en-US" smtClean="0"/>
              <a:t>7</a:t>
            </a:fld>
            <a:endParaRPr lang="en-US"/>
          </a:p>
        </p:txBody>
      </p:sp>
    </p:spTree>
    <p:extLst>
      <p:ext uri="{BB962C8B-B14F-4D97-AF65-F5344CB8AC3E}">
        <p14:creationId xmlns:p14="http://schemas.microsoft.com/office/powerpoint/2010/main" val="11787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Gradient Boosting classifier, trained on Sri Lankan nutritional standards, predicts deficiency risk for energy, protein, calcium, and iron — achieving 84.38% accuracy and a weighted F1 of 0.8446, with a 14-day forward projection capability."</a:t>
            </a:r>
          </a:p>
        </p:txBody>
      </p:sp>
      <p:sp>
        <p:nvSpPr>
          <p:cNvPr id="4" name="Slide Number Placeholder 3"/>
          <p:cNvSpPr>
            <a:spLocks noGrp="1"/>
          </p:cNvSpPr>
          <p:nvPr>
            <p:ph type="sldNum" sz="quarter" idx="5"/>
          </p:nvPr>
        </p:nvSpPr>
        <p:spPr/>
        <p:txBody>
          <a:bodyPr/>
          <a:lstStyle/>
          <a:p>
            <a:fld id="{6C0B8AC8-E212-48B2-9917-7448FC83DD17}" type="slidenum">
              <a:rPr lang="en-US" smtClean="0"/>
              <a:t>8</a:t>
            </a:fld>
            <a:endParaRPr lang="en-US"/>
          </a:p>
        </p:txBody>
      </p:sp>
    </p:spTree>
    <p:extLst>
      <p:ext uri="{BB962C8B-B14F-4D97-AF65-F5344CB8AC3E}">
        <p14:creationId xmlns:p14="http://schemas.microsoft.com/office/powerpoint/2010/main" val="220069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expiry predictor uses </a:t>
            </a:r>
            <a:r>
              <a:rPr lang="en-US" dirty="0" err="1"/>
              <a:t>CatBoost</a:t>
            </a:r>
            <a:r>
              <a:rPr lang="en-US" dirty="0"/>
              <a:t> with a safety layer ensuring predictions never fall below 60% of base expiry. An adaptive learning layer adjusts predictions based on your personal feedback patterns, and a priority system flags items expiring within 2 days."</a:t>
            </a:r>
          </a:p>
        </p:txBody>
      </p:sp>
      <p:sp>
        <p:nvSpPr>
          <p:cNvPr id="4" name="Slide Number Placeholder 3"/>
          <p:cNvSpPr>
            <a:spLocks noGrp="1"/>
          </p:cNvSpPr>
          <p:nvPr>
            <p:ph type="sldNum" sz="quarter" idx="5"/>
          </p:nvPr>
        </p:nvSpPr>
        <p:spPr/>
        <p:txBody>
          <a:bodyPr/>
          <a:lstStyle/>
          <a:p>
            <a:fld id="{6C0B8AC8-E212-48B2-9917-7448FC83DD17}" type="slidenum">
              <a:rPr lang="en-US" smtClean="0"/>
              <a:t>9</a:t>
            </a:fld>
            <a:endParaRPr lang="en-US"/>
          </a:p>
        </p:txBody>
      </p:sp>
    </p:spTree>
    <p:extLst>
      <p:ext uri="{BB962C8B-B14F-4D97-AF65-F5344CB8AC3E}">
        <p14:creationId xmlns:p14="http://schemas.microsoft.com/office/powerpoint/2010/main" val="534745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shopping module achieves 94.2% NLP query accuracy and 87.2% recommendation precision using a 5-algorithm ensemble. A waste-conscious ML model contributes to an average 35% reduction in household food waste."</a:t>
            </a:r>
          </a:p>
        </p:txBody>
      </p:sp>
      <p:sp>
        <p:nvSpPr>
          <p:cNvPr id="4" name="Slide Number Placeholder 3"/>
          <p:cNvSpPr>
            <a:spLocks noGrp="1"/>
          </p:cNvSpPr>
          <p:nvPr>
            <p:ph type="sldNum" sz="quarter" idx="5"/>
          </p:nvPr>
        </p:nvSpPr>
        <p:spPr/>
        <p:txBody>
          <a:bodyPr/>
          <a:lstStyle/>
          <a:p>
            <a:fld id="{6C0B8AC8-E212-48B2-9917-7448FC83DD17}" type="slidenum">
              <a:rPr lang="en-US" smtClean="0"/>
              <a:t>10</a:t>
            </a:fld>
            <a:endParaRPr lang="en-US"/>
          </a:p>
        </p:txBody>
      </p:sp>
    </p:spTree>
    <p:extLst>
      <p:ext uri="{BB962C8B-B14F-4D97-AF65-F5344CB8AC3E}">
        <p14:creationId xmlns:p14="http://schemas.microsoft.com/office/powerpoint/2010/main" val="1436098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modules — SBERT semantic matching improved recipe relevance, nutrition classification hit 84% accuracy, food expiry reached R² of 0.74, and users reported high satisfaction and measurable improvements in meal planning and purchasing behavior."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limitations include a short evaluation period and Sri Lanka-only recipe coverage. Future directions include IoT sensor integration, expanded datasets, deep learning upgrades, and large-scale user studies."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system has strong commercial potential. We envision a freemium SaaS model targeting households, nutritionists, and grocery retailers. A B2B API for supermarkets and healthcare platforms represents our primary revenue stream. We are exploring partnerships with Sri Lankan grocery chains and health apps, with a go-to-market plan targeting 10,000 users in year one."</a:t>
            </a:r>
            <a:endParaRPr lang="en-US" dirty="0"/>
          </a:p>
        </p:txBody>
      </p:sp>
      <p:sp>
        <p:nvSpPr>
          <p:cNvPr id="4" name="Slide Number Placeholder 3"/>
          <p:cNvSpPr>
            <a:spLocks noGrp="1"/>
          </p:cNvSpPr>
          <p:nvPr>
            <p:ph type="sldNum" sz="quarter" idx="5"/>
          </p:nvPr>
        </p:nvSpPr>
        <p:spPr/>
        <p:txBody>
          <a:bodyPr/>
          <a:lstStyle/>
          <a:p>
            <a:fld id="{6C0B8AC8-E212-48B2-9917-7448FC83DD17}" type="slidenum">
              <a:rPr lang="en-US" smtClean="0"/>
              <a:t>13</a:t>
            </a:fld>
            <a:endParaRPr lang="en-US"/>
          </a:p>
        </p:txBody>
      </p:sp>
    </p:spTree>
    <p:extLst>
      <p:ext uri="{BB962C8B-B14F-4D97-AF65-F5344CB8AC3E}">
        <p14:creationId xmlns:p14="http://schemas.microsoft.com/office/powerpoint/2010/main" val="3509052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801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7"/>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5/4/2026</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4" r:id="rId15"/>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9F014-595B-83F1-44E7-60F561FD37F4}"/>
            </a:ext>
          </a:extLst>
        </p:cNvPr>
        <p:cNvGrpSpPr/>
        <p:nvPr/>
      </p:nvGrpSpPr>
      <p:grpSpPr>
        <a:xfrm>
          <a:off x="0" y="0"/>
          <a:ext cx="0" cy="0"/>
          <a:chOff x="0" y="0"/>
          <a:chExt cx="0" cy="0"/>
        </a:xfrm>
      </p:grpSpPr>
      <p:sp>
        <p:nvSpPr>
          <p:cNvPr id="8" name="Text 3">
            <a:extLst>
              <a:ext uri="{FF2B5EF4-FFF2-40B4-BE49-F238E27FC236}">
                <a16:creationId xmlns:a16="http://schemas.microsoft.com/office/drawing/2014/main" id="{62AAF36A-9C39-42FF-9F77-CC815C8995CE}"/>
              </a:ext>
            </a:extLst>
          </p:cNvPr>
          <p:cNvSpPr>
            <a:spLocks noGrp="1"/>
          </p:cNvSpPr>
          <p:nvPr>
            <p:ph type="title"/>
          </p:nvPr>
        </p:nvSpPr>
        <p:spPr>
          <a:xfrm>
            <a:off x="491958" y="308928"/>
            <a:ext cx="11684000" cy="79216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800" b="1">
                <a:solidFill>
                  <a:srgbClr val="FFFFFF"/>
                </a:solidFill>
                <a:latin typeface="Calibri" pitchFamily="34" charset="0"/>
                <a:ea typeface="Calibri" pitchFamily="34" charset="-122"/>
                <a:cs typeface="Calibri" pitchFamily="34" charset="-120"/>
              </a:rPr>
              <a:t>AI-Powered Kitchen Ecosystem</a:t>
            </a:r>
            <a:endParaRPr lang="en-US" sz="3800"/>
          </a:p>
        </p:txBody>
      </p:sp>
      <p:sp>
        <p:nvSpPr>
          <p:cNvPr id="9" name="Shape 1">
            <a:extLst>
              <a:ext uri="{FF2B5EF4-FFF2-40B4-BE49-F238E27FC236}">
                <a16:creationId xmlns:a16="http://schemas.microsoft.com/office/drawing/2014/main" id="{99C55EAC-E9DF-4C75-8D42-29276F806A65}"/>
              </a:ext>
            </a:extLst>
          </p:cNvPr>
          <p:cNvSpPr/>
          <p:nvPr/>
        </p:nvSpPr>
        <p:spPr>
          <a:xfrm>
            <a:off x="7657432" y="-1524000"/>
            <a:ext cx="5867400" cy="5867400"/>
          </a:xfrm>
          <a:prstGeom prst="ellipse">
            <a:avLst/>
          </a:prstGeom>
          <a:solidFill>
            <a:srgbClr val="028090">
              <a:alpha val="30000"/>
            </a:srgbClr>
          </a:solidFill>
          <a:ln/>
        </p:spPr>
        <p:txBody>
          <a:bodyPr/>
          <a:lstStyle/>
          <a:p>
            <a:endParaRPr lang="en-US"/>
          </a:p>
        </p:txBody>
      </p:sp>
      <p:sp>
        <p:nvSpPr>
          <p:cNvPr id="10" name="Shape 2">
            <a:extLst>
              <a:ext uri="{FF2B5EF4-FFF2-40B4-BE49-F238E27FC236}">
                <a16:creationId xmlns:a16="http://schemas.microsoft.com/office/drawing/2014/main" id="{02A89DA9-B20E-4DA2-9F4D-085B6C17EED4}"/>
              </a:ext>
            </a:extLst>
          </p:cNvPr>
          <p:cNvSpPr/>
          <p:nvPr/>
        </p:nvSpPr>
        <p:spPr>
          <a:xfrm>
            <a:off x="9448800" y="2409447"/>
            <a:ext cx="3962400" cy="3810000"/>
          </a:xfrm>
          <a:prstGeom prst="ellipse">
            <a:avLst/>
          </a:prstGeom>
          <a:solidFill>
            <a:srgbClr val="02C39A">
              <a:alpha val="20000"/>
            </a:srgbClr>
          </a:solidFill>
          <a:ln/>
        </p:spPr>
        <p:txBody>
          <a:bodyPr/>
          <a:lstStyle/>
          <a:p>
            <a:endParaRPr lang="en-US"/>
          </a:p>
        </p:txBody>
      </p:sp>
      <p:sp>
        <p:nvSpPr>
          <p:cNvPr id="11" name="Text 3">
            <a:extLst>
              <a:ext uri="{FF2B5EF4-FFF2-40B4-BE49-F238E27FC236}">
                <a16:creationId xmlns:a16="http://schemas.microsoft.com/office/drawing/2014/main" id="{9F9441D8-ED7E-4D17-8721-44E5FD4ABDEF}"/>
              </a:ext>
            </a:extLst>
          </p:cNvPr>
          <p:cNvSpPr/>
          <p:nvPr/>
        </p:nvSpPr>
        <p:spPr>
          <a:xfrm>
            <a:off x="850232" y="511183"/>
            <a:ext cx="10210800" cy="10058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6000" b="1">
                <a:solidFill>
                  <a:srgbClr val="42A187"/>
                </a:solidFill>
                <a:latin typeface="Calibri" pitchFamily="34" charset="0"/>
                <a:ea typeface="Calibri" pitchFamily="34" charset="-122"/>
                <a:cs typeface="Calibri" pitchFamily="34" charset="-120"/>
              </a:rPr>
              <a:t>AI-Powered Kitchen Ecosystem</a:t>
            </a:r>
            <a:endParaRPr lang="en-US" sz="6000">
              <a:solidFill>
                <a:srgbClr val="42A187"/>
              </a:solidFill>
            </a:endParaRPr>
          </a:p>
        </p:txBody>
      </p:sp>
      <p:sp>
        <p:nvSpPr>
          <p:cNvPr id="12" name="Text 4">
            <a:extLst>
              <a:ext uri="{FF2B5EF4-FFF2-40B4-BE49-F238E27FC236}">
                <a16:creationId xmlns:a16="http://schemas.microsoft.com/office/drawing/2014/main" id="{00B11D61-F230-4EC9-B022-39E97A25ABB5}"/>
              </a:ext>
            </a:extLst>
          </p:cNvPr>
          <p:cNvSpPr/>
          <p:nvPr/>
        </p:nvSpPr>
        <p:spPr>
          <a:xfrm>
            <a:off x="850232" y="1242869"/>
            <a:ext cx="9384632" cy="1100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3200">
                <a:solidFill>
                  <a:srgbClr val="02C39A"/>
                </a:solidFill>
                <a:latin typeface="Calibri" pitchFamily="34" charset="0"/>
                <a:ea typeface="Calibri" pitchFamily="34" charset="-122"/>
                <a:cs typeface="Calibri" pitchFamily="34" charset="-120"/>
              </a:rPr>
              <a:t>for Food Waste Reduction and Nutrition Optimization</a:t>
            </a:r>
            <a:endParaRPr lang="en-US" sz="3200"/>
          </a:p>
        </p:txBody>
      </p:sp>
      <p:sp>
        <p:nvSpPr>
          <p:cNvPr id="13" name="Shape 5">
            <a:extLst>
              <a:ext uri="{FF2B5EF4-FFF2-40B4-BE49-F238E27FC236}">
                <a16:creationId xmlns:a16="http://schemas.microsoft.com/office/drawing/2014/main" id="{CA9DAC50-18F1-41F5-AD3F-AD8AE1EE12E6}"/>
              </a:ext>
            </a:extLst>
          </p:cNvPr>
          <p:cNvSpPr/>
          <p:nvPr/>
        </p:nvSpPr>
        <p:spPr>
          <a:xfrm>
            <a:off x="850232" y="2137728"/>
            <a:ext cx="6807200" cy="36576"/>
          </a:xfrm>
          <a:prstGeom prst="rect">
            <a:avLst/>
          </a:prstGeom>
          <a:solidFill>
            <a:srgbClr val="02C39A"/>
          </a:solidFill>
          <a:ln/>
        </p:spPr>
        <p:txBody>
          <a:bodyPr/>
          <a:lstStyle/>
          <a:p>
            <a:endParaRPr lang="en-US" sz="3600"/>
          </a:p>
        </p:txBody>
      </p:sp>
      <p:sp>
        <p:nvSpPr>
          <p:cNvPr id="14" name="Text 6">
            <a:extLst>
              <a:ext uri="{FF2B5EF4-FFF2-40B4-BE49-F238E27FC236}">
                <a16:creationId xmlns:a16="http://schemas.microsoft.com/office/drawing/2014/main" id="{2C6BC7CD-5F03-4176-A75B-0A8FEB2A6925}"/>
              </a:ext>
            </a:extLst>
          </p:cNvPr>
          <p:cNvSpPr/>
          <p:nvPr/>
        </p:nvSpPr>
        <p:spPr>
          <a:xfrm>
            <a:off x="2895600" y="6346817"/>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51267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AB70A-E517-B6AF-CF87-C046E2EB33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9C15B6C-D777-5E77-AF86-44A2416AFCB3}"/>
              </a:ext>
            </a:extLst>
          </p:cNvPr>
          <p:cNvSpPr/>
          <p:nvPr/>
        </p:nvSpPr>
        <p:spPr>
          <a:xfrm>
            <a:off x="0" y="0"/>
            <a:ext cx="12192000" cy="1036320"/>
          </a:xfrm>
          <a:prstGeom prst="rect">
            <a:avLst/>
          </a:prstGeom>
          <a:solidFill>
            <a:srgbClr val="E63946"/>
          </a:solidFill>
          <a:ln/>
        </p:spPr>
      </p:sp>
      <p:sp>
        <p:nvSpPr>
          <p:cNvPr id="3" name="Text 1">
            <a:extLst>
              <a:ext uri="{FF2B5EF4-FFF2-40B4-BE49-F238E27FC236}">
                <a16:creationId xmlns:a16="http://schemas.microsoft.com/office/drawing/2014/main" id="{C0A12105-A82C-6958-DC0F-FFC53A3B9C17}"/>
              </a:ext>
            </a:extLst>
          </p:cNvPr>
          <p:cNvSpPr/>
          <p:nvPr/>
        </p:nvSpPr>
        <p:spPr>
          <a:xfrm>
            <a:off x="487680" y="0"/>
            <a:ext cx="11216640" cy="1036320"/>
          </a:xfrm>
          <a:prstGeom prst="rect">
            <a:avLst/>
          </a:prstGeom>
          <a:noFill/>
          <a:ln/>
        </p:spPr>
        <p:txBody>
          <a:bodyPr wrap="square" lIns="0" tIns="0" rIns="0" bIns="0" rtlCol="0" anchor="ctr"/>
          <a:lstStyle/>
          <a:p>
            <a:r>
              <a:rPr lang="en-US" sz="3200" b="1">
                <a:solidFill>
                  <a:srgbClr val="FFFFFF"/>
                </a:solidFill>
                <a:latin typeface="Calibri" pitchFamily="34" charset="0"/>
                <a:ea typeface="Calibri" pitchFamily="34" charset="-122"/>
                <a:cs typeface="Calibri" pitchFamily="34" charset="-120"/>
              </a:rPr>
              <a:t>Addressing Panel Feedback — IT-P10</a:t>
            </a:r>
            <a:endParaRPr lang="en-US" sz="3200"/>
          </a:p>
        </p:txBody>
      </p:sp>
      <p:sp>
        <p:nvSpPr>
          <p:cNvPr id="4" name="Shape 2">
            <a:extLst>
              <a:ext uri="{FF2B5EF4-FFF2-40B4-BE49-F238E27FC236}">
                <a16:creationId xmlns:a16="http://schemas.microsoft.com/office/drawing/2014/main" id="{99577709-2B08-C28A-D853-63699694B784}"/>
              </a:ext>
            </a:extLst>
          </p:cNvPr>
          <p:cNvSpPr/>
          <p:nvPr/>
        </p:nvSpPr>
        <p:spPr>
          <a:xfrm>
            <a:off x="447597" y="1250515"/>
            <a:ext cx="11255054" cy="5011914"/>
          </a:xfrm>
          <a:prstGeom prst="rect">
            <a:avLst/>
          </a:prstGeom>
          <a:solidFill>
            <a:srgbClr val="FFF3F3"/>
          </a:solidFill>
          <a:ln/>
          <a:effectLst>
            <a:outerShdw blurRad="101600" dist="38100" dir="8100000" algn="bl" rotWithShape="0">
              <a:srgbClr val="000000">
                <a:alpha val="12000"/>
              </a:srgbClr>
            </a:outerShdw>
          </a:effectLst>
        </p:spPr>
      </p:sp>
      <p:sp>
        <p:nvSpPr>
          <p:cNvPr id="5" name="Shape 3">
            <a:extLst>
              <a:ext uri="{FF2B5EF4-FFF2-40B4-BE49-F238E27FC236}">
                <a16:creationId xmlns:a16="http://schemas.microsoft.com/office/drawing/2014/main" id="{BFB1B301-4F9C-3C0D-A449-5C7C8342E2F5}"/>
              </a:ext>
            </a:extLst>
          </p:cNvPr>
          <p:cNvSpPr/>
          <p:nvPr/>
        </p:nvSpPr>
        <p:spPr>
          <a:xfrm>
            <a:off x="343213" y="1250514"/>
            <a:ext cx="149729" cy="5011914"/>
          </a:xfrm>
          <a:prstGeom prst="rect">
            <a:avLst/>
          </a:prstGeom>
          <a:solidFill>
            <a:srgbClr val="E63946"/>
          </a:solidFill>
          <a:ln/>
        </p:spPr>
      </p:sp>
      <p:graphicFrame>
        <p:nvGraphicFramePr>
          <p:cNvPr id="21" name="Table 20">
            <a:extLst>
              <a:ext uri="{FF2B5EF4-FFF2-40B4-BE49-F238E27FC236}">
                <a16:creationId xmlns:a16="http://schemas.microsoft.com/office/drawing/2014/main" id="{787E42A9-1617-6AE3-D3F8-4BA3861C23C3}"/>
              </a:ext>
            </a:extLst>
          </p:cNvPr>
          <p:cNvGraphicFramePr>
            <a:graphicFrameLocks noGrp="1"/>
          </p:cNvGraphicFramePr>
          <p:nvPr>
            <p:extLst>
              <p:ext uri="{D42A27DB-BD31-4B8C-83A1-F6EECF244321}">
                <p14:modId xmlns:p14="http://schemas.microsoft.com/office/powerpoint/2010/main" val="2341441050"/>
              </p:ext>
            </p:extLst>
          </p:nvPr>
        </p:nvGraphicFramePr>
        <p:xfrm>
          <a:off x="730685" y="1490806"/>
          <a:ext cx="10972800" cy="4519859"/>
        </p:xfrm>
        <a:graphic>
          <a:graphicData uri="http://schemas.openxmlformats.org/drawingml/2006/table">
            <a:tbl>
              <a:tblPr bandRow="1">
                <a:tableStyleId>{5940675A-B579-460E-94D1-54222C63F5DA}</a:tableStyleId>
              </a:tblPr>
              <a:tblGrid>
                <a:gridCol w="5486400">
                  <a:extLst>
                    <a:ext uri="{9D8B030D-6E8A-4147-A177-3AD203B41FA5}">
                      <a16:colId xmlns:a16="http://schemas.microsoft.com/office/drawing/2014/main" val="4185685544"/>
                    </a:ext>
                  </a:extLst>
                </a:gridCol>
                <a:gridCol w="5486400">
                  <a:extLst>
                    <a:ext uri="{9D8B030D-6E8A-4147-A177-3AD203B41FA5}">
                      <a16:colId xmlns:a16="http://schemas.microsoft.com/office/drawing/2014/main" val="2656295342"/>
                    </a:ext>
                  </a:extLst>
                </a:gridCol>
              </a:tblGrid>
              <a:tr h="487227">
                <a:tc>
                  <a:txBody>
                    <a:bodyPr/>
                    <a:lstStyle/>
                    <a:p>
                      <a:pPr>
                        <a:buNone/>
                      </a:pPr>
                      <a:r>
                        <a:rPr lang="en-US">
                          <a:solidFill>
                            <a:srgbClr val="C00000"/>
                          </a:solidFill>
                        </a:rPr>
                        <a:t>Panel Concern</a:t>
                      </a:r>
                      <a:endParaRPr lang="en-US" dirty="0">
                        <a:solidFill>
                          <a:srgbClr val="C00000"/>
                        </a:solidFill>
                      </a:endParaRPr>
                    </a:p>
                  </a:txBody>
                  <a:tcPr anchor="ctr">
                    <a:solidFill>
                      <a:schemeClr val="bg1"/>
                    </a:solidFill>
                  </a:tcPr>
                </a:tc>
                <a:tc>
                  <a:txBody>
                    <a:bodyPr/>
                    <a:lstStyle/>
                    <a:p>
                      <a:pPr>
                        <a:buNone/>
                      </a:pPr>
                      <a:r>
                        <a:rPr lang="en-US">
                          <a:solidFill>
                            <a:srgbClr val="C00000"/>
                          </a:solidFill>
                        </a:rPr>
                        <a:t>Our Improvement</a:t>
                      </a:r>
                      <a:endParaRPr lang="en-US" dirty="0">
                        <a:solidFill>
                          <a:srgbClr val="C00000"/>
                        </a:solidFill>
                      </a:endParaRPr>
                    </a:p>
                  </a:txBody>
                  <a:tcPr anchor="ctr">
                    <a:solidFill>
                      <a:schemeClr val="bg1"/>
                    </a:solidFill>
                  </a:tcPr>
                </a:tc>
                <a:extLst>
                  <a:ext uri="{0D108BD9-81ED-4DB2-BD59-A6C34878D82A}">
                    <a16:rowId xmlns:a16="http://schemas.microsoft.com/office/drawing/2014/main" val="89744266"/>
                  </a:ext>
                </a:extLst>
              </a:tr>
              <a:tr h="848138">
                <a:tc>
                  <a:txBody>
                    <a:bodyPr/>
                    <a:lstStyle/>
                    <a:p>
                      <a:pPr>
                        <a:buNone/>
                      </a:pPr>
                      <a:r>
                        <a:rPr lang="en-US" dirty="0">
                          <a:solidFill>
                            <a:srgbClr val="C00000"/>
                          </a:solidFill>
                        </a:rPr>
                        <a:t>Weak background &amp; methodology understanding</a:t>
                      </a:r>
                    </a:p>
                  </a:txBody>
                  <a:tcPr anchor="ctr">
                    <a:solidFill>
                      <a:schemeClr val="bg1"/>
                    </a:solidFill>
                  </a:tcPr>
                </a:tc>
                <a:tc>
                  <a:txBody>
                    <a:bodyPr/>
                    <a:lstStyle/>
                    <a:p>
                      <a:pPr>
                        <a:buNone/>
                      </a:pPr>
                      <a:r>
                        <a:rPr lang="en-US" dirty="0">
                          <a:solidFill>
                            <a:srgbClr val="C00000"/>
                          </a:solidFill>
                        </a:rPr>
                        <a:t>Reviewed 28+ research papers and strengthened theoretical foundation</a:t>
                      </a:r>
                    </a:p>
                  </a:txBody>
                  <a:tcPr anchor="ctr">
                    <a:solidFill>
                      <a:schemeClr val="bg1"/>
                    </a:solidFill>
                  </a:tcPr>
                </a:tc>
                <a:extLst>
                  <a:ext uri="{0D108BD9-81ED-4DB2-BD59-A6C34878D82A}">
                    <a16:rowId xmlns:a16="http://schemas.microsoft.com/office/drawing/2014/main" val="3907138990"/>
                  </a:ext>
                </a:extLst>
              </a:tr>
              <a:tr h="848138">
                <a:tc>
                  <a:txBody>
                    <a:bodyPr/>
                    <a:lstStyle/>
                    <a:p>
                      <a:pPr>
                        <a:buNone/>
                      </a:pPr>
                      <a:r>
                        <a:rPr lang="en-US" dirty="0">
                          <a:solidFill>
                            <a:srgbClr val="C00000"/>
                          </a:solidFill>
                        </a:rPr>
                        <a:t>Lack of clear methodology explanation</a:t>
                      </a:r>
                    </a:p>
                  </a:txBody>
                  <a:tcPr anchor="ctr">
                    <a:solidFill>
                      <a:schemeClr val="bg1"/>
                    </a:solidFill>
                  </a:tcPr>
                </a:tc>
                <a:tc>
                  <a:txBody>
                    <a:bodyPr/>
                    <a:lstStyle/>
                    <a:p>
                      <a:pPr>
                        <a:buNone/>
                      </a:pPr>
                      <a:r>
                        <a:rPr lang="en-US">
                          <a:solidFill>
                            <a:srgbClr val="C00000"/>
                          </a:solidFill>
                        </a:rPr>
                        <a:t>Defined structured ML pipelines </a:t>
                      </a:r>
                      <a:endParaRPr lang="en-US" dirty="0">
                        <a:solidFill>
                          <a:srgbClr val="C00000"/>
                        </a:solidFill>
                      </a:endParaRPr>
                    </a:p>
                  </a:txBody>
                  <a:tcPr anchor="ctr">
                    <a:solidFill>
                      <a:schemeClr val="bg1"/>
                    </a:solidFill>
                  </a:tcPr>
                </a:tc>
                <a:extLst>
                  <a:ext uri="{0D108BD9-81ED-4DB2-BD59-A6C34878D82A}">
                    <a16:rowId xmlns:a16="http://schemas.microsoft.com/office/drawing/2014/main" val="3681612908"/>
                  </a:ext>
                </a:extLst>
              </a:tr>
              <a:tr h="848138">
                <a:tc>
                  <a:txBody>
                    <a:bodyPr/>
                    <a:lstStyle/>
                    <a:p>
                      <a:pPr>
                        <a:buNone/>
                      </a:pPr>
                      <a:r>
                        <a:rPr lang="en-US">
                          <a:solidFill>
                            <a:srgbClr val="C00000"/>
                          </a:solidFill>
                        </a:rPr>
                        <a:t>Unclear results &amp; validation</a:t>
                      </a:r>
                      <a:endParaRPr lang="en-US" dirty="0">
                        <a:solidFill>
                          <a:srgbClr val="C00000"/>
                        </a:solidFill>
                      </a:endParaRPr>
                    </a:p>
                  </a:txBody>
                  <a:tcPr anchor="ctr">
                    <a:solidFill>
                      <a:schemeClr val="bg1"/>
                    </a:solidFill>
                  </a:tcPr>
                </a:tc>
                <a:tc>
                  <a:txBody>
                    <a:bodyPr/>
                    <a:lstStyle/>
                    <a:p>
                      <a:pPr>
                        <a:buNone/>
                      </a:pPr>
                      <a:r>
                        <a:rPr lang="en-US">
                          <a:solidFill>
                            <a:srgbClr val="C00000"/>
                          </a:solidFill>
                        </a:rPr>
                        <a:t>Added evaluation metrics and experimental </a:t>
                      </a:r>
                      <a:r>
                        <a:rPr lang="en-US" dirty="0">
                          <a:solidFill>
                            <a:srgbClr val="C00000"/>
                          </a:solidFill>
                        </a:rPr>
                        <a:t>validation</a:t>
                      </a:r>
                    </a:p>
                  </a:txBody>
                  <a:tcPr anchor="ctr">
                    <a:solidFill>
                      <a:schemeClr val="bg1"/>
                    </a:solidFill>
                  </a:tcPr>
                </a:tc>
                <a:extLst>
                  <a:ext uri="{0D108BD9-81ED-4DB2-BD59-A6C34878D82A}">
                    <a16:rowId xmlns:a16="http://schemas.microsoft.com/office/drawing/2014/main" val="2671312954"/>
                  </a:ext>
                </a:extLst>
              </a:tr>
              <a:tr h="848138">
                <a:tc>
                  <a:txBody>
                    <a:bodyPr/>
                    <a:lstStyle/>
                    <a:p>
                      <a:pPr>
                        <a:buNone/>
                      </a:pPr>
                      <a:r>
                        <a:rPr lang="en-US" dirty="0">
                          <a:solidFill>
                            <a:srgbClr val="C00000"/>
                          </a:solidFill>
                        </a:rPr>
                        <a:t>Contribution not evident</a:t>
                      </a:r>
                    </a:p>
                  </a:txBody>
                  <a:tcPr anchor="ctr">
                    <a:solidFill>
                      <a:schemeClr val="bg1"/>
                    </a:solidFill>
                  </a:tcPr>
                </a:tc>
                <a:tc>
                  <a:txBody>
                    <a:bodyPr/>
                    <a:lstStyle/>
                    <a:p>
                      <a:pPr>
                        <a:buNone/>
                      </a:pPr>
                      <a:r>
                        <a:rPr lang="en-US">
                          <a:solidFill>
                            <a:srgbClr val="C00000"/>
                          </a:solidFill>
                        </a:rPr>
                        <a:t>Highlighted novel frameworks and system integration</a:t>
                      </a:r>
                      <a:endParaRPr lang="en-US" dirty="0">
                        <a:solidFill>
                          <a:srgbClr val="C00000"/>
                        </a:solidFill>
                      </a:endParaRPr>
                    </a:p>
                  </a:txBody>
                  <a:tcPr anchor="ctr">
                    <a:solidFill>
                      <a:schemeClr val="bg1"/>
                    </a:solidFill>
                  </a:tcPr>
                </a:tc>
                <a:extLst>
                  <a:ext uri="{0D108BD9-81ED-4DB2-BD59-A6C34878D82A}">
                    <a16:rowId xmlns:a16="http://schemas.microsoft.com/office/drawing/2014/main" val="3817991236"/>
                  </a:ext>
                </a:extLst>
              </a:tr>
              <a:tr h="487227">
                <a:tc>
                  <a:txBody>
                    <a:bodyPr/>
                    <a:lstStyle/>
                    <a:p>
                      <a:pPr>
                        <a:buNone/>
                      </a:pPr>
                      <a:r>
                        <a:rPr lang="en-US">
                          <a:solidFill>
                            <a:srgbClr val="C00000"/>
                          </a:solidFill>
                        </a:rPr>
                        <a:t>Difficulty explaining system flow</a:t>
                      </a:r>
                      <a:endParaRPr lang="en-US" dirty="0">
                        <a:solidFill>
                          <a:srgbClr val="C00000"/>
                        </a:solidFill>
                      </a:endParaRPr>
                    </a:p>
                  </a:txBody>
                  <a:tcPr anchor="ctr">
                    <a:solidFill>
                      <a:schemeClr val="bg1"/>
                    </a:solidFill>
                  </a:tcPr>
                </a:tc>
                <a:tc>
                  <a:txBody>
                    <a:bodyPr/>
                    <a:lstStyle/>
                    <a:p>
                      <a:pPr>
                        <a:buNone/>
                      </a:pPr>
                      <a:r>
                        <a:rPr lang="en-US" dirty="0">
                          <a:solidFill>
                            <a:srgbClr val="C00000"/>
                          </a:solidFill>
                        </a:rPr>
                        <a:t>Simplified pipeline visualization and module interactions</a:t>
                      </a:r>
                    </a:p>
                  </a:txBody>
                  <a:tcPr anchor="ctr">
                    <a:solidFill>
                      <a:schemeClr val="bg1"/>
                    </a:solidFill>
                  </a:tcPr>
                </a:tc>
                <a:extLst>
                  <a:ext uri="{0D108BD9-81ED-4DB2-BD59-A6C34878D82A}">
                    <a16:rowId xmlns:a16="http://schemas.microsoft.com/office/drawing/2014/main" val="1484917292"/>
                  </a:ext>
                </a:extLst>
              </a:tr>
            </a:tbl>
          </a:graphicData>
        </a:graphic>
      </p:graphicFrame>
      <p:sp>
        <p:nvSpPr>
          <p:cNvPr id="7" name="Text 6">
            <a:extLst>
              <a:ext uri="{FF2B5EF4-FFF2-40B4-BE49-F238E27FC236}">
                <a16:creationId xmlns:a16="http://schemas.microsoft.com/office/drawing/2014/main" id="{99248CA1-4268-4FE3-85AB-1C371A58CD70}"/>
              </a:ext>
            </a:extLst>
          </p:cNvPr>
          <p:cNvSpPr/>
          <p:nvPr/>
        </p:nvSpPr>
        <p:spPr>
          <a:xfrm>
            <a:off x="2895600" y="6346817"/>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2009599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45EA0-B31E-6936-FFA2-5D0395D291EA}"/>
            </a:ext>
          </a:extLst>
        </p:cNvPr>
        <p:cNvGrpSpPr/>
        <p:nvPr/>
      </p:nvGrpSpPr>
      <p:grpSpPr>
        <a:xfrm>
          <a:off x="0" y="0"/>
          <a:ext cx="0" cy="0"/>
          <a:chOff x="0" y="0"/>
          <a:chExt cx="0" cy="0"/>
        </a:xfrm>
      </p:grpSpPr>
      <p:sp>
        <p:nvSpPr>
          <p:cNvPr id="26" name="Shape 1">
            <a:extLst>
              <a:ext uri="{FF2B5EF4-FFF2-40B4-BE49-F238E27FC236}">
                <a16:creationId xmlns:a16="http://schemas.microsoft.com/office/drawing/2014/main" id="{7FF9406E-B2AF-4A65-837B-B5D97FAB1078}"/>
              </a:ext>
            </a:extLst>
          </p:cNvPr>
          <p:cNvSpPr/>
          <p:nvPr/>
        </p:nvSpPr>
        <p:spPr>
          <a:xfrm>
            <a:off x="7657432" y="-1524000"/>
            <a:ext cx="5867400" cy="5867400"/>
          </a:xfrm>
          <a:prstGeom prst="ellipse">
            <a:avLst/>
          </a:prstGeom>
          <a:solidFill>
            <a:srgbClr val="028090">
              <a:alpha val="30000"/>
            </a:srgbClr>
          </a:solidFill>
          <a:ln/>
        </p:spPr>
        <p:txBody>
          <a:bodyPr/>
          <a:lstStyle/>
          <a:p>
            <a:endParaRPr lang="en-US"/>
          </a:p>
        </p:txBody>
      </p:sp>
      <p:sp>
        <p:nvSpPr>
          <p:cNvPr id="27" name="Shape 2">
            <a:extLst>
              <a:ext uri="{FF2B5EF4-FFF2-40B4-BE49-F238E27FC236}">
                <a16:creationId xmlns:a16="http://schemas.microsoft.com/office/drawing/2014/main" id="{CBF8D5CA-89E2-425F-AFE9-A4F27972B464}"/>
              </a:ext>
            </a:extLst>
          </p:cNvPr>
          <p:cNvSpPr/>
          <p:nvPr/>
        </p:nvSpPr>
        <p:spPr>
          <a:xfrm>
            <a:off x="9448800" y="2409447"/>
            <a:ext cx="3962400" cy="3810000"/>
          </a:xfrm>
          <a:prstGeom prst="ellipse">
            <a:avLst/>
          </a:prstGeom>
          <a:solidFill>
            <a:srgbClr val="02C39A">
              <a:alpha val="20000"/>
            </a:srgbClr>
          </a:solidFill>
          <a:ln/>
        </p:spPr>
        <p:txBody>
          <a:bodyPr/>
          <a:lstStyle/>
          <a:p>
            <a:endParaRPr lang="en-US"/>
          </a:p>
        </p:txBody>
      </p:sp>
      <p:sp>
        <p:nvSpPr>
          <p:cNvPr id="7" name="Title 6">
            <a:extLst>
              <a:ext uri="{FF2B5EF4-FFF2-40B4-BE49-F238E27FC236}">
                <a16:creationId xmlns:a16="http://schemas.microsoft.com/office/drawing/2014/main" id="{F2056673-32B1-40B9-8947-72C343E30623}"/>
              </a:ext>
            </a:extLst>
          </p:cNvPr>
          <p:cNvSpPr>
            <a:spLocks noGrp="1"/>
          </p:cNvSpPr>
          <p:nvPr>
            <p:ph type="title"/>
          </p:nvPr>
        </p:nvSpPr>
        <p:spPr>
          <a:xfrm>
            <a:off x="-480915" y="245478"/>
            <a:ext cx="11684000" cy="1143000"/>
          </a:xfrm>
        </p:spPr>
        <p:txBody>
          <a:bodyPr>
            <a:noAutofit/>
          </a:bodyPr>
          <a:lstStyle/>
          <a:p>
            <a:r>
              <a:rPr lang="en-US" sz="4800" b="1">
                <a:solidFill>
                  <a:srgbClr val="42A187"/>
                </a:solidFill>
                <a:latin typeface="Calibri" pitchFamily="34" charset="0"/>
                <a:ea typeface="Calibri" pitchFamily="34" charset="-122"/>
                <a:cs typeface="Calibri" pitchFamily="34" charset="-120"/>
              </a:rPr>
              <a:t>AI-Powered Kitchen Ecosystem</a:t>
            </a:r>
            <a:br>
              <a:rPr lang="en-US" sz="4800">
                <a:solidFill>
                  <a:srgbClr val="42A187"/>
                </a:solidFill>
              </a:rPr>
            </a:br>
            <a:endParaRPr lang="en-US" sz="4800">
              <a:solidFill>
                <a:srgbClr val="42A187"/>
              </a:solidFill>
            </a:endParaRPr>
          </a:p>
        </p:txBody>
      </p:sp>
      <p:sp>
        <p:nvSpPr>
          <p:cNvPr id="8" name="Text 1">
            <a:extLst>
              <a:ext uri="{FF2B5EF4-FFF2-40B4-BE49-F238E27FC236}">
                <a16:creationId xmlns:a16="http://schemas.microsoft.com/office/drawing/2014/main" id="{5D7FA0CA-CB60-43BC-B10C-C821EF055008}"/>
              </a:ext>
            </a:extLst>
          </p:cNvPr>
          <p:cNvSpPr/>
          <p:nvPr/>
        </p:nvSpPr>
        <p:spPr>
          <a:xfrm>
            <a:off x="1340586" y="705546"/>
            <a:ext cx="8412480" cy="7772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latin typeface="Calibri"/>
                <a:ea typeface="Calibri"/>
                <a:cs typeface="Calibri"/>
              </a:rPr>
              <a:t>Research Problem</a:t>
            </a:r>
            <a:endParaRPr lang="en-US" sz="2600"/>
          </a:p>
        </p:txBody>
      </p:sp>
      <p:sp>
        <p:nvSpPr>
          <p:cNvPr id="15" name="Shape 8">
            <a:extLst>
              <a:ext uri="{FF2B5EF4-FFF2-40B4-BE49-F238E27FC236}">
                <a16:creationId xmlns:a16="http://schemas.microsoft.com/office/drawing/2014/main" id="{F127772A-1FE2-4B1B-8201-50D6C01B5BE4}"/>
              </a:ext>
            </a:extLst>
          </p:cNvPr>
          <p:cNvSpPr/>
          <p:nvPr/>
        </p:nvSpPr>
        <p:spPr>
          <a:xfrm>
            <a:off x="1263042" y="1408508"/>
            <a:ext cx="10089555" cy="1847717"/>
          </a:xfrm>
          <a:prstGeom prst="rect">
            <a:avLst/>
          </a:prstGeom>
          <a:solidFill>
            <a:srgbClr val="E8F7F5"/>
          </a:solidFill>
          <a:ln/>
          <a:effectLst>
            <a:outerShdw blurRad="101600" dist="38100" dir="8100000" algn="bl" rotWithShape="0">
              <a:srgbClr val="000000">
                <a:alpha val="12000"/>
              </a:srgbClr>
            </a:outerShdw>
          </a:effectLst>
        </p:spPr>
        <p:txBody>
          <a:bodyPr/>
          <a:lstStyle/>
          <a:p>
            <a:endParaRPr lang="en-US"/>
          </a:p>
        </p:txBody>
      </p:sp>
      <p:sp>
        <p:nvSpPr>
          <p:cNvPr id="16" name="Text 9">
            <a:extLst>
              <a:ext uri="{FF2B5EF4-FFF2-40B4-BE49-F238E27FC236}">
                <a16:creationId xmlns:a16="http://schemas.microsoft.com/office/drawing/2014/main" id="{2F671B1C-33D1-401C-93FD-FD08D42D92B5}"/>
              </a:ext>
            </a:extLst>
          </p:cNvPr>
          <p:cNvSpPr/>
          <p:nvPr/>
        </p:nvSpPr>
        <p:spPr>
          <a:xfrm>
            <a:off x="1367424" y="1601827"/>
            <a:ext cx="9839035" cy="145770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i="1" dirty="0">
                <a:solidFill>
                  <a:srgbClr val="FF0000"/>
                </a:solidFill>
                <a:latin typeface="Arial"/>
                <a:ea typeface="Calibri"/>
                <a:cs typeface="Arial"/>
              </a:rPr>
              <a:t>“Modern households lack an intelligent system that connects food storage, nutrition, cooking, and shopping, resulting in significant </a:t>
            </a:r>
            <a:r>
              <a:rPr lang="en-US" sz="2400" b="1" i="1">
                <a:solidFill>
                  <a:srgbClr val="FF0000"/>
                </a:solidFill>
                <a:latin typeface="Arial"/>
                <a:ea typeface="Calibri"/>
                <a:cs typeface="Arial"/>
              </a:rPr>
              <a:t>food waste and poor dietary decisions"</a:t>
            </a:r>
            <a:endParaRPr lang="en-US">
              <a:solidFill>
                <a:srgbClr val="FF0000"/>
              </a:solidFill>
            </a:endParaRPr>
          </a:p>
        </p:txBody>
      </p:sp>
      <p:sp>
        <p:nvSpPr>
          <p:cNvPr id="18" name="Shape 11">
            <a:extLst>
              <a:ext uri="{FF2B5EF4-FFF2-40B4-BE49-F238E27FC236}">
                <a16:creationId xmlns:a16="http://schemas.microsoft.com/office/drawing/2014/main" id="{61D508CA-909C-4D4D-B8C1-CA340460AFCF}"/>
              </a:ext>
            </a:extLst>
          </p:cNvPr>
          <p:cNvSpPr/>
          <p:nvPr/>
        </p:nvSpPr>
        <p:spPr>
          <a:xfrm>
            <a:off x="1098114" y="3535359"/>
            <a:ext cx="10249421" cy="2874583"/>
          </a:xfrm>
          <a:prstGeom prst="rect">
            <a:avLst/>
          </a:prstGeom>
          <a:solidFill>
            <a:srgbClr val="E8F7F5"/>
          </a:solidFill>
          <a:ln/>
          <a:effectLst>
            <a:outerShdw blurRad="101600" dist="38100" dir="8100000" algn="bl" rotWithShape="0">
              <a:srgbClr val="000000">
                <a:alpha val="12000"/>
              </a:srgbClr>
            </a:outerShdw>
          </a:effectLst>
        </p:spPr>
        <p:txBody>
          <a:bodyPr/>
          <a:lstStyle/>
          <a:p>
            <a:endParaRPr lang="en-US" sz="2400"/>
          </a:p>
        </p:txBody>
      </p:sp>
      <p:sp>
        <p:nvSpPr>
          <p:cNvPr id="25" name="Text 18">
            <a:extLst>
              <a:ext uri="{FF2B5EF4-FFF2-40B4-BE49-F238E27FC236}">
                <a16:creationId xmlns:a16="http://schemas.microsoft.com/office/drawing/2014/main" id="{7F427CDF-CD88-42AD-B9BA-013D47BCE5F0}"/>
              </a:ext>
            </a:extLst>
          </p:cNvPr>
          <p:cNvSpPr/>
          <p:nvPr/>
        </p:nvSpPr>
        <p:spPr>
          <a:xfrm>
            <a:off x="1544300" y="4093799"/>
            <a:ext cx="9752730" cy="197407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pPr>
            <a:r>
              <a:rPr lang="en-US" sz="2000" dirty="0">
                <a:solidFill>
                  <a:schemeClr val="accent4">
                    <a:lumMod val="49000"/>
                  </a:schemeClr>
                </a:solidFill>
                <a:latin typeface="Calibri"/>
                <a:ea typeface="Calibri"/>
                <a:cs typeface="Calibri"/>
              </a:rPr>
              <a:t>• Nearly 40% of global food is wasted, while many people still struggle with balanced nutrition.</a:t>
            </a:r>
            <a:endParaRPr lang="en-US" sz="1600" dirty="0">
              <a:solidFill>
                <a:schemeClr val="accent4">
                  <a:lumMod val="49000"/>
                </a:schemeClr>
              </a:solidFill>
              <a:latin typeface="Calibri"/>
              <a:ea typeface="Calibri"/>
              <a:cs typeface="Calibri"/>
            </a:endParaRPr>
          </a:p>
          <a:p>
            <a:br>
              <a:rPr lang="en-US" sz="2000" dirty="0">
                <a:latin typeface="Calibri"/>
                <a:ea typeface="Calibri" pitchFamily="34" charset="-122"/>
                <a:cs typeface="Calibri"/>
              </a:rPr>
            </a:br>
            <a:r>
              <a:rPr lang="en-US" sz="2000" dirty="0">
                <a:solidFill>
                  <a:schemeClr val="accent4">
                    <a:lumMod val="49000"/>
                  </a:schemeClr>
                </a:solidFill>
                <a:latin typeface="Calibri"/>
                <a:ea typeface="Calibri"/>
                <a:cs typeface="Calibri"/>
              </a:rPr>
              <a:t> • Existing applications operate in isolated silos (recipe apps, nutrition trackers, shopping tools).</a:t>
            </a:r>
            <a:endParaRPr lang="en-US" sz="1600" dirty="0">
              <a:solidFill>
                <a:schemeClr val="accent4">
                  <a:lumMod val="49000"/>
                </a:schemeClr>
              </a:solidFill>
              <a:latin typeface="Calibri"/>
              <a:ea typeface="Calibri"/>
              <a:cs typeface="Calibri"/>
            </a:endParaRPr>
          </a:p>
          <a:p>
            <a:br>
              <a:rPr lang="en-US" sz="2000" dirty="0">
                <a:latin typeface="Calibri"/>
                <a:ea typeface="Calibri" pitchFamily="34" charset="-122"/>
                <a:cs typeface="Calibri"/>
              </a:rPr>
            </a:br>
            <a:r>
              <a:rPr lang="en-US" sz="2000" dirty="0">
                <a:solidFill>
                  <a:schemeClr val="accent4">
                    <a:lumMod val="49000"/>
                  </a:schemeClr>
                </a:solidFill>
                <a:latin typeface="Calibri"/>
                <a:ea typeface="Calibri"/>
                <a:cs typeface="Calibri"/>
              </a:rPr>
              <a:t> • The absence of an integrated AI-driven kitchen ecosystem prevents effective food lifecycle management</a:t>
            </a:r>
            <a:r>
              <a:rPr lang="en-US" dirty="0">
                <a:solidFill>
                  <a:schemeClr val="accent4">
                    <a:lumMod val="49000"/>
                  </a:schemeClr>
                </a:solidFill>
                <a:latin typeface="Calibri"/>
                <a:ea typeface="Calibri"/>
                <a:cs typeface="Calibri"/>
              </a:rPr>
              <a:t>.</a:t>
            </a:r>
            <a:endParaRPr lang="en-US" sz="1600">
              <a:solidFill>
                <a:schemeClr val="accent4">
                  <a:lumMod val="49000"/>
                </a:schemeClr>
              </a:solidFill>
              <a:latin typeface="Calibri"/>
              <a:ea typeface="Calibri"/>
              <a:cs typeface="Calibri"/>
            </a:endParaRPr>
          </a:p>
          <a:p>
            <a:pPr marL="342900" indent="-342900">
              <a:buSzPct val="100000"/>
              <a:buChar char="•"/>
            </a:pPr>
            <a:endParaRPr lang="en-US" sz="1600" dirty="0">
              <a:solidFill>
                <a:srgbClr val="1A1A1A"/>
              </a:solidFill>
              <a:latin typeface="Calibri"/>
              <a:ea typeface="Calibri"/>
              <a:cs typeface="Calibri"/>
            </a:endParaRPr>
          </a:p>
        </p:txBody>
      </p:sp>
      <p:sp>
        <p:nvSpPr>
          <p:cNvPr id="10" name="Text 6">
            <a:extLst>
              <a:ext uri="{FF2B5EF4-FFF2-40B4-BE49-F238E27FC236}">
                <a16:creationId xmlns:a16="http://schemas.microsoft.com/office/drawing/2014/main" id="{9DFC0FCD-FABB-4FB7-A164-08EC3FB82CAB}"/>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194578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20F9-4577-71B4-02C6-E0930DE68EAE}"/>
            </a:ext>
          </a:extLst>
        </p:cNvPr>
        <p:cNvGrpSpPr/>
        <p:nvPr/>
      </p:nvGrpSpPr>
      <p:grpSpPr>
        <a:xfrm>
          <a:off x="0" y="0"/>
          <a:ext cx="0" cy="0"/>
          <a:chOff x="0" y="0"/>
          <a:chExt cx="0" cy="0"/>
        </a:xfrm>
      </p:grpSpPr>
      <p:sp>
        <p:nvSpPr>
          <p:cNvPr id="26" name="Shape 1">
            <a:extLst>
              <a:ext uri="{FF2B5EF4-FFF2-40B4-BE49-F238E27FC236}">
                <a16:creationId xmlns:a16="http://schemas.microsoft.com/office/drawing/2014/main" id="{471C8626-387E-EFB2-F3EB-790AD9B6CEF7}"/>
              </a:ext>
            </a:extLst>
          </p:cNvPr>
          <p:cNvSpPr/>
          <p:nvPr/>
        </p:nvSpPr>
        <p:spPr>
          <a:xfrm>
            <a:off x="7657432" y="-1524000"/>
            <a:ext cx="5867400" cy="5867400"/>
          </a:xfrm>
          <a:prstGeom prst="ellipse">
            <a:avLst/>
          </a:prstGeom>
          <a:solidFill>
            <a:srgbClr val="028090">
              <a:alpha val="30000"/>
            </a:srgbClr>
          </a:solidFill>
          <a:ln/>
        </p:spPr>
        <p:txBody>
          <a:bodyPr/>
          <a:lstStyle/>
          <a:p>
            <a:endParaRPr lang="en-US"/>
          </a:p>
        </p:txBody>
      </p:sp>
      <p:sp>
        <p:nvSpPr>
          <p:cNvPr id="27" name="Shape 2">
            <a:extLst>
              <a:ext uri="{FF2B5EF4-FFF2-40B4-BE49-F238E27FC236}">
                <a16:creationId xmlns:a16="http://schemas.microsoft.com/office/drawing/2014/main" id="{B71D7A6D-BCB4-A720-3494-9CC6074EF654}"/>
              </a:ext>
            </a:extLst>
          </p:cNvPr>
          <p:cNvSpPr/>
          <p:nvPr/>
        </p:nvSpPr>
        <p:spPr>
          <a:xfrm>
            <a:off x="9448800" y="2409447"/>
            <a:ext cx="3962400" cy="3810000"/>
          </a:xfrm>
          <a:prstGeom prst="ellipse">
            <a:avLst/>
          </a:prstGeom>
          <a:solidFill>
            <a:srgbClr val="02C39A">
              <a:alpha val="20000"/>
            </a:srgbClr>
          </a:solidFill>
          <a:ln/>
        </p:spPr>
        <p:txBody>
          <a:bodyPr/>
          <a:lstStyle/>
          <a:p>
            <a:endParaRPr lang="en-US"/>
          </a:p>
        </p:txBody>
      </p:sp>
      <p:sp>
        <p:nvSpPr>
          <p:cNvPr id="7" name="Title 6">
            <a:extLst>
              <a:ext uri="{FF2B5EF4-FFF2-40B4-BE49-F238E27FC236}">
                <a16:creationId xmlns:a16="http://schemas.microsoft.com/office/drawing/2014/main" id="{BC947B79-E174-60D1-13C1-62B2B31948F4}"/>
              </a:ext>
            </a:extLst>
          </p:cNvPr>
          <p:cNvSpPr>
            <a:spLocks noGrp="1"/>
          </p:cNvSpPr>
          <p:nvPr>
            <p:ph type="title"/>
          </p:nvPr>
        </p:nvSpPr>
        <p:spPr>
          <a:xfrm>
            <a:off x="260208" y="443807"/>
            <a:ext cx="11673562" cy="516699"/>
          </a:xfrm>
        </p:spPr>
        <p:txBody>
          <a:bodyPr>
            <a:noAutofit/>
          </a:bodyPr>
          <a:lstStyle/>
          <a:p>
            <a:pPr algn="l"/>
            <a:r>
              <a:rPr lang="en-US" sz="2400" b="1" dirty="0">
                <a:solidFill>
                  <a:schemeClr val="accent4">
                    <a:lumMod val="49000"/>
                  </a:schemeClr>
                </a:solidFill>
                <a:latin typeface="Arial"/>
                <a:ea typeface="Calibri"/>
                <a:cs typeface="Arial"/>
              </a:rPr>
              <a:t>Identified Limitations of Existing Systems</a:t>
            </a:r>
            <a:endParaRPr lang="en-US" sz="2400" dirty="0">
              <a:solidFill>
                <a:schemeClr val="accent4">
                  <a:lumMod val="49000"/>
                </a:schemeClr>
              </a:solidFill>
            </a:endParaRPr>
          </a:p>
          <a:p>
            <a:pPr algn="l"/>
            <a:endParaRPr lang="en-US" sz="4000" b="1" dirty="0">
              <a:solidFill>
                <a:srgbClr val="42A187"/>
              </a:solidFill>
              <a:latin typeface="Calibri"/>
              <a:ea typeface="Calibri"/>
              <a:cs typeface="Calibri"/>
            </a:endParaRPr>
          </a:p>
        </p:txBody>
      </p:sp>
      <p:sp>
        <p:nvSpPr>
          <p:cNvPr id="15" name="Shape 8">
            <a:extLst>
              <a:ext uri="{FF2B5EF4-FFF2-40B4-BE49-F238E27FC236}">
                <a16:creationId xmlns:a16="http://schemas.microsoft.com/office/drawing/2014/main" id="{F6098FF5-2C61-BE1D-F0A9-4C3AF238506C}"/>
              </a:ext>
            </a:extLst>
          </p:cNvPr>
          <p:cNvSpPr/>
          <p:nvPr/>
        </p:nvSpPr>
        <p:spPr>
          <a:xfrm>
            <a:off x="271398" y="698700"/>
            <a:ext cx="11530047" cy="5542894"/>
          </a:xfrm>
          <a:prstGeom prst="rect">
            <a:avLst/>
          </a:prstGeom>
          <a:solidFill>
            <a:srgbClr val="E8FCFF"/>
          </a:solidFill>
          <a:ln/>
          <a:effectLst>
            <a:outerShdw blurRad="101600" dist="38100" dir="8100000" algn="bl" rotWithShape="0">
              <a:srgbClr val="000000">
                <a:alpha val="12000"/>
              </a:srgbClr>
            </a:outerShdw>
          </a:effectLst>
        </p:spPr>
        <p:txBody>
          <a:bodyPr/>
          <a:lstStyle/>
          <a:p>
            <a:endParaRPr lang="en-US"/>
          </a:p>
        </p:txBody>
      </p:sp>
      <p:graphicFrame>
        <p:nvGraphicFramePr>
          <p:cNvPr id="3" name="Table 2">
            <a:extLst>
              <a:ext uri="{FF2B5EF4-FFF2-40B4-BE49-F238E27FC236}">
                <a16:creationId xmlns:a16="http://schemas.microsoft.com/office/drawing/2014/main" id="{1449AD8C-A297-216B-7647-F6B42C9B3A54}"/>
              </a:ext>
            </a:extLst>
          </p:cNvPr>
          <p:cNvGraphicFramePr>
            <a:graphicFrameLocks noGrp="1"/>
          </p:cNvGraphicFramePr>
          <p:nvPr>
            <p:extLst>
              <p:ext uri="{D42A27DB-BD31-4B8C-83A1-F6EECF244321}">
                <p14:modId xmlns:p14="http://schemas.microsoft.com/office/powerpoint/2010/main" val="654099161"/>
              </p:ext>
            </p:extLst>
          </p:nvPr>
        </p:nvGraphicFramePr>
        <p:xfrm>
          <a:off x="417534" y="803753"/>
          <a:ext cx="11263833" cy="5350515"/>
        </p:xfrm>
        <a:graphic>
          <a:graphicData uri="http://schemas.openxmlformats.org/drawingml/2006/table">
            <a:tbl>
              <a:tblPr bandRow="1">
                <a:tableStyleId>{5C22544A-7EE6-4342-B048-85BDC9FD1C3A}</a:tableStyleId>
              </a:tblPr>
              <a:tblGrid>
                <a:gridCol w="3754611">
                  <a:extLst>
                    <a:ext uri="{9D8B030D-6E8A-4147-A177-3AD203B41FA5}">
                      <a16:colId xmlns:a16="http://schemas.microsoft.com/office/drawing/2014/main" val="907729291"/>
                    </a:ext>
                  </a:extLst>
                </a:gridCol>
                <a:gridCol w="3754611">
                  <a:extLst>
                    <a:ext uri="{9D8B030D-6E8A-4147-A177-3AD203B41FA5}">
                      <a16:colId xmlns:a16="http://schemas.microsoft.com/office/drawing/2014/main" val="877571993"/>
                    </a:ext>
                  </a:extLst>
                </a:gridCol>
                <a:gridCol w="3754611">
                  <a:extLst>
                    <a:ext uri="{9D8B030D-6E8A-4147-A177-3AD203B41FA5}">
                      <a16:colId xmlns:a16="http://schemas.microsoft.com/office/drawing/2014/main" val="290771132"/>
                    </a:ext>
                  </a:extLst>
                </a:gridCol>
              </a:tblGrid>
              <a:tr h="398443">
                <a:tc>
                  <a:txBody>
                    <a:bodyPr/>
                    <a:lstStyle/>
                    <a:p>
                      <a:pPr algn="ctr" fontAlgn="base">
                        <a:lnSpc>
                          <a:spcPts val="2025"/>
                        </a:lnSpc>
                        <a:buNone/>
                      </a:pPr>
                      <a:r>
                        <a:rPr lang="en-US" sz="2400" b="1" i="0">
                          <a:solidFill>
                            <a:schemeClr val="accent4">
                              <a:lumMod val="76000"/>
                            </a:schemeClr>
                          </a:solidFill>
                          <a:effectLst/>
                          <a:latin typeface="Calibri"/>
                        </a:rPr>
                        <a:t>System Type</a:t>
                      </a:r>
                      <a:endParaRPr lang="en-US" sz="2400" b="0" i="0">
                        <a:solidFill>
                          <a:schemeClr val="accent4">
                            <a:lumMod val="76000"/>
                          </a:schemeClr>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2025"/>
                        </a:lnSpc>
                        <a:buNone/>
                      </a:pPr>
                      <a:r>
                        <a:rPr lang="en-US" sz="2400" b="1" i="0">
                          <a:solidFill>
                            <a:schemeClr val="accent4">
                              <a:lumMod val="76000"/>
                            </a:schemeClr>
                          </a:solidFill>
                          <a:effectLst/>
                          <a:latin typeface="Calibri"/>
                        </a:rPr>
                        <a:t>What Current Systems Do</a:t>
                      </a:r>
                      <a:endParaRPr lang="en-US" sz="2400" b="0" i="0">
                        <a:solidFill>
                          <a:schemeClr val="accent4">
                            <a:lumMod val="76000"/>
                          </a:schemeClr>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2025"/>
                        </a:lnSpc>
                        <a:buNone/>
                      </a:pPr>
                      <a:r>
                        <a:rPr lang="en-US" sz="2400" b="1" i="0">
                          <a:solidFill>
                            <a:schemeClr val="accent4">
                              <a:lumMod val="76000"/>
                            </a:schemeClr>
                          </a:solidFill>
                          <a:effectLst/>
                          <a:latin typeface="Calibri"/>
                        </a:rPr>
                        <a:t>What They Fail To Do</a:t>
                      </a:r>
                      <a:endParaRPr lang="en-US" sz="2400" b="0" i="0">
                        <a:solidFill>
                          <a:schemeClr val="accent4">
                            <a:lumMod val="76000"/>
                          </a:schemeClr>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135181735"/>
                  </a:ext>
                </a:extLst>
              </a:tr>
              <a:tr h="1238018">
                <a:tc>
                  <a:txBody>
                    <a:bodyPr/>
                    <a:lstStyle/>
                    <a:p>
                      <a:pPr algn="l" fontAlgn="base">
                        <a:lnSpc>
                          <a:spcPts val="2025"/>
                        </a:lnSpc>
                        <a:buNone/>
                      </a:pPr>
                      <a:r>
                        <a:rPr lang="en-US" sz="2200" b="1" i="0">
                          <a:solidFill>
                            <a:schemeClr val="accent4">
                              <a:lumMod val="76000"/>
                            </a:schemeClr>
                          </a:solidFill>
                          <a:effectLst/>
                          <a:latin typeface="Calibri"/>
                        </a:rPr>
                        <a:t>Cooking Applications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800" b="0" i="0">
                          <a:solidFill>
                            <a:schemeClr val="tx2"/>
                          </a:solidFill>
                          <a:effectLst/>
                          <a:latin typeface="Calibri"/>
                        </a:rPr>
                        <a:t>Recommend recipes based on user search or popular ingredients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700" b="1" i="0" dirty="0">
                          <a:solidFill>
                            <a:srgbClr val="FF0000"/>
                          </a:solidFill>
                          <a:effectLst/>
                          <a:latin typeface="Calibri"/>
                        </a:rPr>
                        <a:t>Do not consider ingredients available </a:t>
                      </a:r>
                      <a:r>
                        <a:rPr lang="en-US" sz="1700" b="1" i="0">
                          <a:solidFill>
                            <a:srgbClr val="FF0000"/>
                          </a:solidFill>
                          <a:effectLst/>
                          <a:latin typeface="Calibri"/>
                        </a:rPr>
                        <a:t>in the user's kitchen</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952590056"/>
                  </a:ext>
                </a:extLst>
              </a:tr>
              <a:tr h="1238018">
                <a:tc>
                  <a:txBody>
                    <a:bodyPr/>
                    <a:lstStyle/>
                    <a:p>
                      <a:pPr algn="l" fontAlgn="base">
                        <a:lnSpc>
                          <a:spcPts val="2025"/>
                        </a:lnSpc>
                        <a:buNone/>
                      </a:pPr>
                      <a:r>
                        <a:rPr lang="en-US" sz="2200" b="1" i="0">
                          <a:solidFill>
                            <a:schemeClr val="accent4">
                              <a:lumMod val="76000"/>
                            </a:schemeClr>
                          </a:solidFill>
                          <a:effectLst/>
                          <a:latin typeface="Calibri"/>
                        </a:rPr>
                        <a:t>Nutrition Tracking Apps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800" b="0" i="0">
                          <a:solidFill>
                            <a:schemeClr val="tx2"/>
                          </a:solidFill>
                          <a:effectLst/>
                          <a:latin typeface="Calibri"/>
                        </a:rPr>
                        <a:t>Track calorie intake and provide dietary summaries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700" b="1" i="0">
                          <a:solidFill>
                            <a:srgbClr val="FF0000"/>
                          </a:solidFill>
                          <a:effectLst/>
                          <a:latin typeface="Calibri"/>
                        </a:rPr>
                        <a:t>Do not predict nutrient deficiencies or provide proactive health recommendations</a:t>
                      </a:r>
                      <a:endParaRPr lang="en-US" b="1" i="0">
                        <a:solidFill>
                          <a:srgbClr val="FF0000"/>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203395541"/>
                  </a:ext>
                </a:extLst>
              </a:tr>
              <a:tr h="1238018">
                <a:tc>
                  <a:txBody>
                    <a:bodyPr/>
                    <a:lstStyle/>
                    <a:p>
                      <a:pPr algn="l" fontAlgn="base">
                        <a:lnSpc>
                          <a:spcPts val="2025"/>
                        </a:lnSpc>
                        <a:buNone/>
                      </a:pPr>
                      <a:r>
                        <a:rPr lang="en-US" sz="2200" b="1" i="0">
                          <a:solidFill>
                            <a:schemeClr val="accent4">
                              <a:lumMod val="76000"/>
                            </a:schemeClr>
                          </a:solidFill>
                          <a:effectLst/>
                          <a:latin typeface="Calibri"/>
                        </a:rPr>
                        <a:t>Expiry Tracking Systems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800" b="0" i="0">
                          <a:solidFill>
                            <a:schemeClr val="tx2"/>
                          </a:solidFill>
                          <a:effectLst/>
                          <a:latin typeface="Calibri"/>
                        </a:rPr>
                        <a:t>Use fixed expiry dates printed on product packaging</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700" b="1" i="0">
                          <a:solidFill>
                            <a:srgbClr val="FF0000"/>
                          </a:solidFill>
                          <a:effectLst/>
                          <a:latin typeface="Calibri"/>
                        </a:rPr>
                        <a:t>Do not adapt to storage conditions, environmental factors, or user consumption patterns</a:t>
                      </a:r>
                      <a:endParaRPr lang="en-US" b="1" i="0">
                        <a:solidFill>
                          <a:srgbClr val="FF0000"/>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92327589"/>
                  </a:ext>
                </a:extLst>
              </a:tr>
              <a:tr h="1238018">
                <a:tc>
                  <a:txBody>
                    <a:bodyPr/>
                    <a:lstStyle/>
                    <a:p>
                      <a:pPr algn="l" fontAlgn="base">
                        <a:lnSpc>
                          <a:spcPts val="2025"/>
                        </a:lnSpc>
                        <a:buNone/>
                      </a:pPr>
                      <a:r>
                        <a:rPr lang="en-US" sz="2200" b="1" i="0">
                          <a:solidFill>
                            <a:schemeClr val="accent4">
                              <a:lumMod val="76000"/>
                            </a:schemeClr>
                          </a:solidFill>
                          <a:effectLst/>
                          <a:latin typeface="Calibri"/>
                        </a:rPr>
                        <a:t>Online Grocery Platforms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800" b="0" i="0">
                          <a:solidFill>
                            <a:schemeClr val="tx2"/>
                          </a:solidFill>
                          <a:effectLst/>
                          <a:latin typeface="Calibri"/>
                        </a:rPr>
                        <a:t>Recommend products based on purchase history or trends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2025"/>
                        </a:lnSpc>
                        <a:buNone/>
                      </a:pPr>
                      <a:r>
                        <a:rPr lang="en-US" sz="1700" b="1" i="0">
                          <a:solidFill>
                            <a:srgbClr val="FF0000"/>
                          </a:solidFill>
                          <a:effectLst/>
                          <a:latin typeface="Calibri"/>
                        </a:rPr>
                        <a:t>Do not consider household inventory or nutritional requirements when suggesting groceries</a:t>
                      </a:r>
                      <a:endParaRPr lang="en-US" b="1" i="0">
                        <a:solidFill>
                          <a:srgbClr val="FF0000"/>
                        </a:solidFill>
                        <a:effectLst/>
                        <a:latin typeface="Calibri"/>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969359738"/>
                  </a:ext>
                </a:extLst>
              </a:tr>
            </a:tbl>
          </a:graphicData>
        </a:graphic>
      </p:graphicFrame>
      <p:sp>
        <p:nvSpPr>
          <p:cNvPr id="8" name="Text 6">
            <a:extLst>
              <a:ext uri="{FF2B5EF4-FFF2-40B4-BE49-F238E27FC236}">
                <a16:creationId xmlns:a16="http://schemas.microsoft.com/office/drawing/2014/main" id="{B6E91BFD-D8E1-4275-ACB7-E35A9A6C1EF0}"/>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1354941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45EA0-B31E-6936-FFA2-5D0395D291EA}"/>
            </a:ext>
          </a:extLst>
        </p:cNvPr>
        <p:cNvGrpSpPr/>
        <p:nvPr/>
      </p:nvGrpSpPr>
      <p:grpSpPr>
        <a:xfrm>
          <a:off x="0" y="0"/>
          <a:ext cx="0" cy="0"/>
          <a:chOff x="0" y="0"/>
          <a:chExt cx="0" cy="0"/>
        </a:xfrm>
      </p:grpSpPr>
      <p:sp>
        <p:nvSpPr>
          <p:cNvPr id="26" name="Shape 1">
            <a:extLst>
              <a:ext uri="{FF2B5EF4-FFF2-40B4-BE49-F238E27FC236}">
                <a16:creationId xmlns:a16="http://schemas.microsoft.com/office/drawing/2014/main" id="{7FF9406E-B2AF-4A65-837B-B5D97FAB1078}"/>
              </a:ext>
            </a:extLst>
          </p:cNvPr>
          <p:cNvSpPr/>
          <p:nvPr/>
        </p:nvSpPr>
        <p:spPr>
          <a:xfrm>
            <a:off x="7657432" y="-1524000"/>
            <a:ext cx="5867400" cy="5867400"/>
          </a:xfrm>
          <a:prstGeom prst="ellipse">
            <a:avLst/>
          </a:prstGeom>
          <a:solidFill>
            <a:srgbClr val="028090">
              <a:alpha val="30000"/>
            </a:srgbClr>
          </a:solidFill>
          <a:ln/>
        </p:spPr>
        <p:txBody>
          <a:bodyPr/>
          <a:lstStyle/>
          <a:p>
            <a:endParaRPr lang="en-US"/>
          </a:p>
        </p:txBody>
      </p:sp>
      <p:sp>
        <p:nvSpPr>
          <p:cNvPr id="27" name="Shape 2">
            <a:extLst>
              <a:ext uri="{FF2B5EF4-FFF2-40B4-BE49-F238E27FC236}">
                <a16:creationId xmlns:a16="http://schemas.microsoft.com/office/drawing/2014/main" id="{CBF8D5CA-89E2-425F-AFE9-A4F27972B464}"/>
              </a:ext>
            </a:extLst>
          </p:cNvPr>
          <p:cNvSpPr/>
          <p:nvPr/>
        </p:nvSpPr>
        <p:spPr>
          <a:xfrm>
            <a:off x="9448800" y="2409447"/>
            <a:ext cx="3962400" cy="3810000"/>
          </a:xfrm>
          <a:prstGeom prst="ellipse">
            <a:avLst/>
          </a:prstGeom>
          <a:solidFill>
            <a:srgbClr val="02C39A">
              <a:alpha val="20000"/>
            </a:srgbClr>
          </a:solidFill>
          <a:ln/>
        </p:spPr>
        <p:txBody>
          <a:bodyPr/>
          <a:lstStyle/>
          <a:p>
            <a:endParaRPr lang="en-US"/>
          </a:p>
        </p:txBody>
      </p:sp>
      <p:sp>
        <p:nvSpPr>
          <p:cNvPr id="7" name="Title 6">
            <a:extLst>
              <a:ext uri="{FF2B5EF4-FFF2-40B4-BE49-F238E27FC236}">
                <a16:creationId xmlns:a16="http://schemas.microsoft.com/office/drawing/2014/main" id="{F2056673-32B1-40B9-8947-72C343E30623}"/>
              </a:ext>
            </a:extLst>
          </p:cNvPr>
          <p:cNvSpPr>
            <a:spLocks noGrp="1"/>
          </p:cNvSpPr>
          <p:nvPr>
            <p:ph type="title"/>
          </p:nvPr>
        </p:nvSpPr>
        <p:spPr>
          <a:xfrm>
            <a:off x="-492760" y="237665"/>
            <a:ext cx="11684000" cy="1143000"/>
          </a:xfrm>
        </p:spPr>
        <p:txBody>
          <a:bodyPr>
            <a:noAutofit/>
          </a:bodyPr>
          <a:lstStyle/>
          <a:p>
            <a:r>
              <a:rPr lang="en-US" sz="4800" b="1">
                <a:solidFill>
                  <a:srgbClr val="42A187"/>
                </a:solidFill>
                <a:latin typeface="Calibri" pitchFamily="34" charset="0"/>
                <a:ea typeface="Calibri" pitchFamily="34" charset="-122"/>
                <a:cs typeface="Calibri" pitchFamily="34" charset="-120"/>
              </a:rPr>
              <a:t>AI-Powered Kitchen Ecosystem</a:t>
            </a:r>
            <a:br>
              <a:rPr lang="en-US" sz="4800">
                <a:solidFill>
                  <a:schemeClr val="accent4"/>
                </a:solidFill>
              </a:rPr>
            </a:br>
            <a:endParaRPr lang="en-US" sz="4800"/>
          </a:p>
        </p:txBody>
      </p:sp>
      <p:sp>
        <p:nvSpPr>
          <p:cNvPr id="29" name="Text 1">
            <a:extLst>
              <a:ext uri="{FF2B5EF4-FFF2-40B4-BE49-F238E27FC236}">
                <a16:creationId xmlns:a16="http://schemas.microsoft.com/office/drawing/2014/main" id="{C215D386-83BD-4A2D-88FC-2313C240215B}"/>
              </a:ext>
            </a:extLst>
          </p:cNvPr>
          <p:cNvSpPr/>
          <p:nvPr/>
        </p:nvSpPr>
        <p:spPr>
          <a:xfrm>
            <a:off x="1524000" y="566928"/>
            <a:ext cx="8412480" cy="7772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600" b="1">
                <a:latin typeface="Calibri" pitchFamily="34" charset="0"/>
                <a:ea typeface="Calibri" pitchFamily="34" charset="-122"/>
                <a:cs typeface="Calibri" pitchFamily="34" charset="-120"/>
              </a:rPr>
              <a:t>Research Objectives</a:t>
            </a:r>
            <a:endParaRPr lang="en-US" sz="2600"/>
          </a:p>
        </p:txBody>
      </p:sp>
      <p:sp>
        <p:nvSpPr>
          <p:cNvPr id="30" name="Shape 2">
            <a:extLst>
              <a:ext uri="{FF2B5EF4-FFF2-40B4-BE49-F238E27FC236}">
                <a16:creationId xmlns:a16="http://schemas.microsoft.com/office/drawing/2014/main" id="{FE7BF09D-3C9D-4662-AEA6-7BDEE64E8EAB}"/>
              </a:ext>
            </a:extLst>
          </p:cNvPr>
          <p:cNvSpPr/>
          <p:nvPr/>
        </p:nvSpPr>
        <p:spPr>
          <a:xfrm>
            <a:off x="685800" y="1354275"/>
            <a:ext cx="10439400" cy="1143000"/>
          </a:xfrm>
          <a:prstGeom prst="rect">
            <a:avLst/>
          </a:prstGeom>
          <a:solidFill>
            <a:srgbClr val="F0FAF8"/>
          </a:solidFill>
          <a:ln/>
          <a:effectLst>
            <a:outerShdw blurRad="101600" dist="38100" dir="8100000" algn="bl" rotWithShape="0">
              <a:srgbClr val="000000">
                <a:alpha val="12000"/>
              </a:srgbClr>
            </a:outerShdw>
          </a:effectLst>
        </p:spPr>
        <p:txBody>
          <a:bodyPr/>
          <a:lstStyle/>
          <a:p>
            <a:endParaRPr lang="en-US"/>
          </a:p>
        </p:txBody>
      </p:sp>
      <p:sp>
        <p:nvSpPr>
          <p:cNvPr id="31" name="Shape 3">
            <a:extLst>
              <a:ext uri="{FF2B5EF4-FFF2-40B4-BE49-F238E27FC236}">
                <a16:creationId xmlns:a16="http://schemas.microsoft.com/office/drawing/2014/main" id="{1778D050-E345-441A-BDBE-F0409448C447}"/>
              </a:ext>
            </a:extLst>
          </p:cNvPr>
          <p:cNvSpPr/>
          <p:nvPr/>
        </p:nvSpPr>
        <p:spPr>
          <a:xfrm>
            <a:off x="685800" y="1354275"/>
            <a:ext cx="914400" cy="1143000"/>
          </a:xfrm>
          <a:prstGeom prst="rect">
            <a:avLst/>
          </a:prstGeom>
          <a:solidFill>
            <a:srgbClr val="028090"/>
          </a:solidFill>
          <a:ln/>
        </p:spPr>
        <p:txBody>
          <a:bodyPr/>
          <a:lstStyle/>
          <a:p>
            <a:endParaRPr lang="en-US"/>
          </a:p>
        </p:txBody>
      </p:sp>
      <p:sp>
        <p:nvSpPr>
          <p:cNvPr id="32" name="Text 4">
            <a:extLst>
              <a:ext uri="{FF2B5EF4-FFF2-40B4-BE49-F238E27FC236}">
                <a16:creationId xmlns:a16="http://schemas.microsoft.com/office/drawing/2014/main" id="{4CB5854E-7DF7-43C9-9503-A6D85B89411C}"/>
              </a:ext>
            </a:extLst>
          </p:cNvPr>
          <p:cNvSpPr/>
          <p:nvPr/>
        </p:nvSpPr>
        <p:spPr>
          <a:xfrm>
            <a:off x="685800" y="1354275"/>
            <a:ext cx="914400" cy="11430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O1</a:t>
            </a:r>
            <a:endParaRPr lang="en-US" sz="2200"/>
          </a:p>
        </p:txBody>
      </p:sp>
      <p:sp>
        <p:nvSpPr>
          <p:cNvPr id="33" name="Text 5">
            <a:extLst>
              <a:ext uri="{FF2B5EF4-FFF2-40B4-BE49-F238E27FC236}">
                <a16:creationId xmlns:a16="http://schemas.microsoft.com/office/drawing/2014/main" id="{E293DCCC-8F18-4BC2-A136-B9B8CC184493}"/>
              </a:ext>
            </a:extLst>
          </p:cNvPr>
          <p:cNvSpPr/>
          <p:nvPr/>
        </p:nvSpPr>
        <p:spPr>
          <a:xfrm>
            <a:off x="1737360" y="1427427"/>
            <a:ext cx="7223760" cy="4258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a:solidFill>
                  <a:srgbClr val="0D2B2B"/>
                </a:solidFill>
                <a:latin typeface="Calibri" pitchFamily="34" charset="0"/>
                <a:ea typeface="Calibri" pitchFamily="34" charset="-122"/>
                <a:cs typeface="Calibri" pitchFamily="34" charset="-120"/>
              </a:rPr>
              <a:t>Spontaneous Cooking Assistant</a:t>
            </a:r>
            <a:endParaRPr lang="en-US" sz="2000"/>
          </a:p>
        </p:txBody>
      </p:sp>
      <p:sp>
        <p:nvSpPr>
          <p:cNvPr id="34" name="Text 6">
            <a:extLst>
              <a:ext uri="{FF2B5EF4-FFF2-40B4-BE49-F238E27FC236}">
                <a16:creationId xmlns:a16="http://schemas.microsoft.com/office/drawing/2014/main" id="{7CA795E9-8AA6-41E3-9952-BC8CA62178CA}"/>
              </a:ext>
            </a:extLst>
          </p:cNvPr>
          <p:cNvSpPr/>
          <p:nvPr/>
        </p:nvSpPr>
        <p:spPr>
          <a:xfrm>
            <a:off x="1737360" y="1756611"/>
            <a:ext cx="9083040" cy="53788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a:solidFill>
                  <a:srgbClr val="4A6670"/>
                </a:solidFill>
                <a:latin typeface="Calibri" pitchFamily="34" charset="0"/>
                <a:ea typeface="Calibri" pitchFamily="34" charset="-122"/>
                <a:cs typeface="Calibri" pitchFamily="34" charset="-120"/>
              </a:rPr>
              <a:t>Sentence-BERT semantic matching + Levenshtein fuzzy resolution + Google Cloud Vision ingredient detection for trilingual Sri Lankan recipe retrieval (EN/SI/TA)</a:t>
            </a:r>
            <a:endParaRPr lang="en-US" sz="1600"/>
          </a:p>
        </p:txBody>
      </p:sp>
      <p:sp>
        <p:nvSpPr>
          <p:cNvPr id="35" name="Shape 7">
            <a:extLst>
              <a:ext uri="{FF2B5EF4-FFF2-40B4-BE49-F238E27FC236}">
                <a16:creationId xmlns:a16="http://schemas.microsoft.com/office/drawing/2014/main" id="{4EFB2581-3D71-48CE-9D37-DF780D747A3F}"/>
              </a:ext>
            </a:extLst>
          </p:cNvPr>
          <p:cNvSpPr/>
          <p:nvPr/>
        </p:nvSpPr>
        <p:spPr>
          <a:xfrm>
            <a:off x="669076" y="2590800"/>
            <a:ext cx="10439400" cy="1142999"/>
          </a:xfrm>
          <a:prstGeom prst="rect">
            <a:avLst/>
          </a:prstGeom>
          <a:solidFill>
            <a:srgbClr val="F0FAF8"/>
          </a:solidFill>
          <a:ln/>
          <a:effectLst>
            <a:outerShdw blurRad="101600" dist="38100" dir="8100000" algn="bl" rotWithShape="0">
              <a:srgbClr val="000000">
                <a:alpha val="12000"/>
              </a:srgbClr>
            </a:outerShdw>
          </a:effectLst>
        </p:spPr>
        <p:txBody>
          <a:bodyPr/>
          <a:lstStyle/>
          <a:p>
            <a:endParaRPr lang="en-US"/>
          </a:p>
        </p:txBody>
      </p:sp>
      <p:sp>
        <p:nvSpPr>
          <p:cNvPr id="36" name="Shape 8">
            <a:extLst>
              <a:ext uri="{FF2B5EF4-FFF2-40B4-BE49-F238E27FC236}">
                <a16:creationId xmlns:a16="http://schemas.microsoft.com/office/drawing/2014/main" id="{246C12B4-9E03-4CB9-914C-2086E3E8892F}"/>
              </a:ext>
            </a:extLst>
          </p:cNvPr>
          <p:cNvSpPr/>
          <p:nvPr/>
        </p:nvSpPr>
        <p:spPr>
          <a:xfrm>
            <a:off x="669076" y="2590800"/>
            <a:ext cx="914400" cy="1142999"/>
          </a:xfrm>
          <a:prstGeom prst="rect">
            <a:avLst/>
          </a:prstGeom>
          <a:solidFill>
            <a:srgbClr val="02C39A"/>
          </a:solidFill>
          <a:ln/>
        </p:spPr>
        <p:txBody>
          <a:bodyPr/>
          <a:lstStyle/>
          <a:p>
            <a:endParaRPr lang="en-US"/>
          </a:p>
        </p:txBody>
      </p:sp>
      <p:sp>
        <p:nvSpPr>
          <p:cNvPr id="37" name="Text 9">
            <a:extLst>
              <a:ext uri="{FF2B5EF4-FFF2-40B4-BE49-F238E27FC236}">
                <a16:creationId xmlns:a16="http://schemas.microsoft.com/office/drawing/2014/main" id="{94601DBB-75D9-478D-AC80-56B6B83F5BC3}"/>
              </a:ext>
            </a:extLst>
          </p:cNvPr>
          <p:cNvSpPr/>
          <p:nvPr/>
        </p:nvSpPr>
        <p:spPr>
          <a:xfrm>
            <a:off x="669076" y="2590800"/>
            <a:ext cx="914400" cy="114299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O2</a:t>
            </a:r>
            <a:endParaRPr lang="en-US" sz="2200"/>
          </a:p>
        </p:txBody>
      </p:sp>
      <p:sp>
        <p:nvSpPr>
          <p:cNvPr id="38" name="Text 10">
            <a:extLst>
              <a:ext uri="{FF2B5EF4-FFF2-40B4-BE49-F238E27FC236}">
                <a16:creationId xmlns:a16="http://schemas.microsoft.com/office/drawing/2014/main" id="{33F71FCB-018A-4C43-BA61-869B6E38D381}"/>
              </a:ext>
            </a:extLst>
          </p:cNvPr>
          <p:cNvSpPr/>
          <p:nvPr/>
        </p:nvSpPr>
        <p:spPr>
          <a:xfrm>
            <a:off x="1720636" y="2663953"/>
            <a:ext cx="7223760" cy="42582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a:solidFill>
                  <a:srgbClr val="0D2B2B"/>
                </a:solidFill>
                <a:latin typeface="Calibri" pitchFamily="34" charset="0"/>
                <a:ea typeface="Calibri" pitchFamily="34" charset="-122"/>
                <a:cs typeface="Calibri" pitchFamily="34" charset="-120"/>
              </a:rPr>
              <a:t>Nutritional Guidance System (PHIF)</a:t>
            </a:r>
            <a:endParaRPr lang="en-US" sz="2000"/>
          </a:p>
        </p:txBody>
      </p:sp>
      <p:sp>
        <p:nvSpPr>
          <p:cNvPr id="39" name="Text 11">
            <a:extLst>
              <a:ext uri="{FF2B5EF4-FFF2-40B4-BE49-F238E27FC236}">
                <a16:creationId xmlns:a16="http://schemas.microsoft.com/office/drawing/2014/main" id="{B2132DA0-2999-4BF3-88F4-4AB1BAC004E1}"/>
              </a:ext>
            </a:extLst>
          </p:cNvPr>
          <p:cNvSpPr/>
          <p:nvPr/>
        </p:nvSpPr>
        <p:spPr>
          <a:xfrm>
            <a:off x="1720636" y="2993137"/>
            <a:ext cx="9099764" cy="53788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solidFill>
                  <a:srgbClr val="4A6670"/>
                </a:solidFill>
                <a:ea typeface="+mn-lt"/>
                <a:cs typeface="+mn-lt"/>
              </a:rPr>
              <a:t>Gradient</a:t>
            </a:r>
            <a:r>
              <a:rPr lang="en-US" sz="1600">
                <a:solidFill>
                  <a:srgbClr val="4A6670"/>
                </a:solidFill>
                <a:latin typeface="Calibri"/>
                <a:ea typeface="Calibri"/>
                <a:cs typeface="Calibri"/>
              </a:rPr>
              <a:t> Boosting classifier predicting nutrient deficiency risks (LOW/MEDIUM/HIGH) with personalized dietary guidance via ANPL and SNRP prioritization</a:t>
            </a:r>
            <a:endParaRPr lang="en-US" sz="1600">
              <a:latin typeface="Calibri"/>
              <a:ea typeface="Calibri"/>
              <a:cs typeface="Calibri"/>
            </a:endParaRPr>
          </a:p>
        </p:txBody>
      </p:sp>
      <p:sp>
        <p:nvSpPr>
          <p:cNvPr id="40" name="Shape 12">
            <a:extLst>
              <a:ext uri="{FF2B5EF4-FFF2-40B4-BE49-F238E27FC236}">
                <a16:creationId xmlns:a16="http://schemas.microsoft.com/office/drawing/2014/main" id="{0FCDDBB1-C63B-4993-B6CE-C019193DC8B7}"/>
              </a:ext>
            </a:extLst>
          </p:cNvPr>
          <p:cNvSpPr/>
          <p:nvPr/>
        </p:nvSpPr>
        <p:spPr>
          <a:xfrm>
            <a:off x="685800" y="3873245"/>
            <a:ext cx="10363200" cy="1142998"/>
          </a:xfrm>
          <a:prstGeom prst="rect">
            <a:avLst/>
          </a:prstGeom>
          <a:solidFill>
            <a:srgbClr val="F0FAF8"/>
          </a:solidFill>
          <a:ln/>
          <a:effectLst>
            <a:outerShdw blurRad="101600" dist="38100" dir="8100000" algn="bl" rotWithShape="0">
              <a:srgbClr val="000000">
                <a:alpha val="12000"/>
              </a:srgbClr>
            </a:outerShdw>
          </a:effectLst>
        </p:spPr>
        <p:txBody>
          <a:bodyPr/>
          <a:lstStyle/>
          <a:p>
            <a:endParaRPr lang="en-US"/>
          </a:p>
        </p:txBody>
      </p:sp>
      <p:sp>
        <p:nvSpPr>
          <p:cNvPr id="41" name="Shape 13">
            <a:extLst>
              <a:ext uri="{FF2B5EF4-FFF2-40B4-BE49-F238E27FC236}">
                <a16:creationId xmlns:a16="http://schemas.microsoft.com/office/drawing/2014/main" id="{E1C29FA1-9D1D-48DE-B898-B14C5750E50D}"/>
              </a:ext>
            </a:extLst>
          </p:cNvPr>
          <p:cNvSpPr/>
          <p:nvPr/>
        </p:nvSpPr>
        <p:spPr>
          <a:xfrm>
            <a:off x="685800" y="3873245"/>
            <a:ext cx="914400" cy="1142998"/>
          </a:xfrm>
          <a:prstGeom prst="rect">
            <a:avLst/>
          </a:prstGeom>
          <a:solidFill>
            <a:schemeClr val="accent3">
              <a:lumMod val="60000"/>
              <a:lumOff val="40000"/>
            </a:schemeClr>
          </a:solidFill>
          <a:ln/>
        </p:spPr>
        <p:txBody>
          <a:bodyPr/>
          <a:lstStyle/>
          <a:p>
            <a:endParaRPr lang="en-US"/>
          </a:p>
        </p:txBody>
      </p:sp>
      <p:sp>
        <p:nvSpPr>
          <p:cNvPr id="42" name="Text 14">
            <a:extLst>
              <a:ext uri="{FF2B5EF4-FFF2-40B4-BE49-F238E27FC236}">
                <a16:creationId xmlns:a16="http://schemas.microsoft.com/office/drawing/2014/main" id="{DC04CCB4-F5C8-4109-A180-31EB32ADFBFB}"/>
              </a:ext>
            </a:extLst>
          </p:cNvPr>
          <p:cNvSpPr/>
          <p:nvPr/>
        </p:nvSpPr>
        <p:spPr>
          <a:xfrm>
            <a:off x="685800" y="3873245"/>
            <a:ext cx="914400" cy="114299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O3</a:t>
            </a:r>
            <a:endParaRPr lang="en-US" sz="2200"/>
          </a:p>
        </p:txBody>
      </p:sp>
      <p:sp>
        <p:nvSpPr>
          <p:cNvPr id="43" name="Text 15">
            <a:extLst>
              <a:ext uri="{FF2B5EF4-FFF2-40B4-BE49-F238E27FC236}">
                <a16:creationId xmlns:a16="http://schemas.microsoft.com/office/drawing/2014/main" id="{71CEABAE-EDE3-46B7-AA75-3DC50D5DF8CD}"/>
              </a:ext>
            </a:extLst>
          </p:cNvPr>
          <p:cNvSpPr/>
          <p:nvPr/>
        </p:nvSpPr>
        <p:spPr>
          <a:xfrm>
            <a:off x="1737360" y="3946396"/>
            <a:ext cx="7223760" cy="42582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a:solidFill>
                  <a:srgbClr val="0D2B2B"/>
                </a:solidFill>
                <a:latin typeface="Calibri" pitchFamily="34" charset="0"/>
                <a:ea typeface="Calibri" pitchFamily="34" charset="-122"/>
                <a:cs typeface="Calibri" pitchFamily="34" charset="-120"/>
              </a:rPr>
              <a:t>AI Food Expiry Predictor (AEIF)</a:t>
            </a:r>
            <a:endParaRPr lang="en-US" sz="2000"/>
          </a:p>
        </p:txBody>
      </p:sp>
      <p:sp>
        <p:nvSpPr>
          <p:cNvPr id="44" name="Text 16">
            <a:extLst>
              <a:ext uri="{FF2B5EF4-FFF2-40B4-BE49-F238E27FC236}">
                <a16:creationId xmlns:a16="http://schemas.microsoft.com/office/drawing/2014/main" id="{D7A79F50-2D61-4636-8182-14BBF028A697}"/>
              </a:ext>
            </a:extLst>
          </p:cNvPr>
          <p:cNvSpPr/>
          <p:nvPr/>
        </p:nvSpPr>
        <p:spPr>
          <a:xfrm>
            <a:off x="1737360" y="4275580"/>
            <a:ext cx="9235440" cy="5378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a:solidFill>
                  <a:srgbClr val="4A6670"/>
                </a:solidFill>
                <a:latin typeface="Calibri" pitchFamily="34" charset="0"/>
                <a:ea typeface="Calibri" pitchFamily="34" charset="-122"/>
                <a:cs typeface="Calibri" pitchFamily="34" charset="-120"/>
              </a:rPr>
              <a:t>CatBoost gradient boosting regression with biological safety validation bounds and AED adaptive personalization through user feedback</a:t>
            </a:r>
            <a:endParaRPr lang="en-US" sz="1600"/>
          </a:p>
        </p:txBody>
      </p:sp>
      <p:sp>
        <p:nvSpPr>
          <p:cNvPr id="45" name="Shape 17">
            <a:extLst>
              <a:ext uri="{FF2B5EF4-FFF2-40B4-BE49-F238E27FC236}">
                <a16:creationId xmlns:a16="http://schemas.microsoft.com/office/drawing/2014/main" id="{0C0844CC-866D-495B-B254-51EA43129962}"/>
              </a:ext>
            </a:extLst>
          </p:cNvPr>
          <p:cNvSpPr/>
          <p:nvPr/>
        </p:nvSpPr>
        <p:spPr>
          <a:xfrm>
            <a:off x="685800" y="5134935"/>
            <a:ext cx="10363200" cy="1142998"/>
          </a:xfrm>
          <a:prstGeom prst="rect">
            <a:avLst/>
          </a:prstGeom>
          <a:solidFill>
            <a:srgbClr val="F0FAF8"/>
          </a:solidFill>
          <a:ln/>
          <a:effectLst>
            <a:outerShdw blurRad="101600" dist="38100" dir="8100000" algn="bl" rotWithShape="0">
              <a:srgbClr val="000000">
                <a:alpha val="12000"/>
              </a:srgbClr>
            </a:outerShdw>
          </a:effectLst>
        </p:spPr>
        <p:txBody>
          <a:bodyPr/>
          <a:lstStyle/>
          <a:p>
            <a:endParaRPr lang="en-US"/>
          </a:p>
        </p:txBody>
      </p:sp>
      <p:sp>
        <p:nvSpPr>
          <p:cNvPr id="46" name="Shape 18">
            <a:extLst>
              <a:ext uri="{FF2B5EF4-FFF2-40B4-BE49-F238E27FC236}">
                <a16:creationId xmlns:a16="http://schemas.microsoft.com/office/drawing/2014/main" id="{B45C7F04-9A88-4721-B55E-20B90DD5FA62}"/>
              </a:ext>
            </a:extLst>
          </p:cNvPr>
          <p:cNvSpPr/>
          <p:nvPr/>
        </p:nvSpPr>
        <p:spPr>
          <a:xfrm>
            <a:off x="669076" y="5134935"/>
            <a:ext cx="920015" cy="1142998"/>
          </a:xfrm>
          <a:prstGeom prst="rect">
            <a:avLst/>
          </a:prstGeom>
          <a:solidFill>
            <a:schemeClr val="accent4">
              <a:lumMod val="60000"/>
              <a:lumOff val="40000"/>
            </a:schemeClr>
          </a:solidFill>
          <a:ln/>
        </p:spPr>
        <p:txBody>
          <a:bodyPr/>
          <a:lstStyle/>
          <a:p>
            <a:endParaRPr lang="en-US"/>
          </a:p>
        </p:txBody>
      </p:sp>
      <p:sp>
        <p:nvSpPr>
          <p:cNvPr id="47" name="Text 19">
            <a:extLst>
              <a:ext uri="{FF2B5EF4-FFF2-40B4-BE49-F238E27FC236}">
                <a16:creationId xmlns:a16="http://schemas.microsoft.com/office/drawing/2014/main" id="{D4DEC263-BB9D-4C48-A4C7-AE5CF5B1E0E8}"/>
              </a:ext>
            </a:extLst>
          </p:cNvPr>
          <p:cNvSpPr/>
          <p:nvPr/>
        </p:nvSpPr>
        <p:spPr>
          <a:xfrm>
            <a:off x="669076" y="5134935"/>
            <a:ext cx="920015" cy="114299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200" b="1">
                <a:solidFill>
                  <a:srgbClr val="FFFFFF"/>
                </a:solidFill>
                <a:latin typeface="Calibri" pitchFamily="34" charset="0"/>
                <a:ea typeface="Calibri" pitchFamily="34" charset="-122"/>
                <a:cs typeface="Calibri" pitchFamily="34" charset="-120"/>
              </a:rPr>
              <a:t>O4</a:t>
            </a:r>
            <a:endParaRPr lang="en-US" sz="2200"/>
          </a:p>
        </p:txBody>
      </p:sp>
      <p:sp>
        <p:nvSpPr>
          <p:cNvPr id="48" name="Text 20">
            <a:extLst>
              <a:ext uri="{FF2B5EF4-FFF2-40B4-BE49-F238E27FC236}">
                <a16:creationId xmlns:a16="http://schemas.microsoft.com/office/drawing/2014/main" id="{A245ECE3-E3BF-4E72-B752-D801705AA074}"/>
              </a:ext>
            </a:extLst>
          </p:cNvPr>
          <p:cNvSpPr/>
          <p:nvPr/>
        </p:nvSpPr>
        <p:spPr>
          <a:xfrm>
            <a:off x="1681892" y="5208086"/>
            <a:ext cx="7268119" cy="42582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a:solidFill>
                  <a:srgbClr val="0D2B2B"/>
                </a:solidFill>
                <a:latin typeface="Calibri" pitchFamily="34" charset="0"/>
                <a:ea typeface="Calibri" pitchFamily="34" charset="-122"/>
                <a:cs typeface="Calibri" pitchFamily="34" charset="-120"/>
              </a:rPr>
              <a:t>Smart Shopping Module</a:t>
            </a:r>
            <a:endParaRPr lang="en-US" sz="2000"/>
          </a:p>
        </p:txBody>
      </p:sp>
      <p:sp>
        <p:nvSpPr>
          <p:cNvPr id="49" name="Text 21">
            <a:extLst>
              <a:ext uri="{FF2B5EF4-FFF2-40B4-BE49-F238E27FC236}">
                <a16:creationId xmlns:a16="http://schemas.microsoft.com/office/drawing/2014/main" id="{3554DB50-C694-4C7D-BEDE-72FB9F892B0D}"/>
              </a:ext>
            </a:extLst>
          </p:cNvPr>
          <p:cNvSpPr/>
          <p:nvPr/>
        </p:nvSpPr>
        <p:spPr>
          <a:xfrm>
            <a:off x="1681892" y="5537270"/>
            <a:ext cx="9138508" cy="53788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a:solidFill>
                  <a:srgbClr val="4A6670"/>
                </a:solidFill>
                <a:latin typeface="Calibri" pitchFamily="34" charset="0"/>
                <a:ea typeface="Calibri" pitchFamily="34" charset="-122"/>
                <a:cs typeface="Calibri" pitchFamily="34" charset="-120"/>
              </a:rPr>
              <a:t>SERPAPI real-time product data + SpaCy NLP 5-stage query understanding + hybrid collaborative/content-based recommendation engine + voice input</a:t>
            </a:r>
            <a:endParaRPr lang="en-US" sz="1600"/>
          </a:p>
        </p:txBody>
      </p:sp>
      <p:sp>
        <p:nvSpPr>
          <p:cNvPr id="28" name="Text 6">
            <a:extLst>
              <a:ext uri="{FF2B5EF4-FFF2-40B4-BE49-F238E27FC236}">
                <a16:creationId xmlns:a16="http://schemas.microsoft.com/office/drawing/2014/main" id="{568829F4-C739-4501-AB30-174DAB274508}"/>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172827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F90D6-DAD1-CF92-28C9-1737D3EAA3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490DD1F-BFE9-D757-6F1E-C15E19DB7AE3}"/>
              </a:ext>
            </a:extLst>
          </p:cNvPr>
          <p:cNvSpPr/>
          <p:nvPr/>
        </p:nvSpPr>
        <p:spPr>
          <a:xfrm>
            <a:off x="0" y="0"/>
            <a:ext cx="12192000" cy="1036320"/>
          </a:xfrm>
          <a:prstGeom prst="rect">
            <a:avLst/>
          </a:prstGeom>
          <a:solidFill>
            <a:srgbClr val="0D2B2B"/>
          </a:solidFill>
          <a:ln/>
        </p:spPr>
      </p:sp>
      <p:sp>
        <p:nvSpPr>
          <p:cNvPr id="3" name="Text 1">
            <a:extLst>
              <a:ext uri="{FF2B5EF4-FFF2-40B4-BE49-F238E27FC236}">
                <a16:creationId xmlns:a16="http://schemas.microsoft.com/office/drawing/2014/main" id="{0482BFDC-C2D3-A717-B0FC-B91E76429D8F}"/>
              </a:ext>
            </a:extLst>
          </p:cNvPr>
          <p:cNvSpPr/>
          <p:nvPr/>
        </p:nvSpPr>
        <p:spPr>
          <a:xfrm>
            <a:off x="487680" y="0"/>
            <a:ext cx="11216640" cy="1036320"/>
          </a:xfrm>
          <a:prstGeom prst="rect">
            <a:avLst/>
          </a:prstGeom>
          <a:noFill/>
          <a:ln/>
        </p:spPr>
        <p:txBody>
          <a:bodyPr wrap="square" lIns="0" tIns="0" rIns="0" bIns="0" rtlCol="0" anchor="ctr"/>
          <a:lstStyle/>
          <a:p>
            <a:r>
              <a:rPr lang="en-US" sz="3200" b="1">
                <a:solidFill>
                  <a:srgbClr val="FFFFFF"/>
                </a:solidFill>
                <a:latin typeface="Calibri" pitchFamily="34" charset="0"/>
                <a:ea typeface="Calibri" pitchFamily="34" charset="-122"/>
                <a:cs typeface="Calibri" pitchFamily="34" charset="-120"/>
              </a:rPr>
              <a:t>System Architecture — Four-Module Ecosystem</a:t>
            </a:r>
            <a:endParaRPr lang="en-US" sz="3200"/>
          </a:p>
        </p:txBody>
      </p:sp>
      <p:pic>
        <p:nvPicPr>
          <p:cNvPr id="41" name="Picture 40" descr="A diagram of a computer application&#10;&#10;AI-generated content may be incorrect.">
            <a:extLst>
              <a:ext uri="{FF2B5EF4-FFF2-40B4-BE49-F238E27FC236}">
                <a16:creationId xmlns:a16="http://schemas.microsoft.com/office/drawing/2014/main" id="{F9EB1C20-626A-0E94-5668-C7946BC554A8}"/>
              </a:ext>
            </a:extLst>
          </p:cNvPr>
          <p:cNvPicPr>
            <a:picLocks noChangeAspect="1"/>
          </p:cNvPicPr>
          <p:nvPr/>
        </p:nvPicPr>
        <p:blipFill>
          <a:blip r:embed="rId3"/>
          <a:srcRect t="3185" b="5642"/>
          <a:stretch>
            <a:fillRect/>
          </a:stretch>
        </p:blipFill>
        <p:spPr>
          <a:xfrm>
            <a:off x="866384" y="1199091"/>
            <a:ext cx="9947763" cy="4891663"/>
          </a:xfrm>
          <a:prstGeom prst="rect">
            <a:avLst/>
          </a:prstGeom>
        </p:spPr>
      </p:pic>
      <p:sp>
        <p:nvSpPr>
          <p:cNvPr id="5" name="Text 6">
            <a:extLst>
              <a:ext uri="{FF2B5EF4-FFF2-40B4-BE49-F238E27FC236}">
                <a16:creationId xmlns:a16="http://schemas.microsoft.com/office/drawing/2014/main" id="{208E9136-689C-408A-85EE-9B0C4EEA31E5}"/>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3900572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76200" y="1"/>
            <a:ext cx="7723716" cy="533400"/>
          </a:xfrm>
        </p:spPr>
        <p:txBody>
          <a:bodyPr>
            <a:normAutofit fontScale="90000"/>
          </a:bodyPr>
          <a:lstStyle/>
          <a:p>
            <a:r>
              <a:rPr lang="en-US" sz="3200"/>
              <a:t>IT22131942 | Perera u. m. k.</a:t>
            </a:r>
          </a:p>
        </p:txBody>
      </p:sp>
      <p:sp>
        <p:nvSpPr>
          <p:cNvPr id="4" name="Rectangle 3">
            <a:extLst>
              <a:ext uri="{FF2B5EF4-FFF2-40B4-BE49-F238E27FC236}">
                <a16:creationId xmlns:a16="http://schemas.microsoft.com/office/drawing/2014/main" id="{5FB98E66-DBD5-4B29-AC68-A58A70C64231}"/>
              </a:ext>
            </a:extLst>
          </p:cNvPr>
          <p:cNvSpPr/>
          <p:nvPr/>
        </p:nvSpPr>
        <p:spPr>
          <a:xfrm>
            <a:off x="256547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a:solidFill>
                  <a:schemeClr val="tx1"/>
                </a:solidFill>
              </a:rPr>
              <a:t>IT22131942</a:t>
            </a:r>
            <a:r>
              <a:rPr lang="en-US" sz="2000">
                <a:solidFill>
                  <a:schemeClr val="tx1"/>
                </a:solidFill>
              </a:rPr>
              <a:t>|   PERERA U. M. K.|   </a:t>
            </a:r>
            <a:r>
              <a:rPr lang="en-US" sz="2000" b="0">
                <a:solidFill>
                  <a:schemeClr val="tx1"/>
                </a:solidFill>
              </a:rPr>
              <a:t>25-26J-351</a:t>
            </a:r>
          </a:p>
        </p:txBody>
      </p:sp>
      <p:sp>
        <p:nvSpPr>
          <p:cNvPr id="47" name="Shape 2">
            <a:extLst>
              <a:ext uri="{FF2B5EF4-FFF2-40B4-BE49-F238E27FC236}">
                <a16:creationId xmlns:a16="http://schemas.microsoft.com/office/drawing/2014/main" id="{2C24CB2E-82CD-4A5A-9A40-2C70F5EB6C57}"/>
              </a:ext>
            </a:extLst>
          </p:cNvPr>
          <p:cNvSpPr/>
          <p:nvPr/>
        </p:nvSpPr>
        <p:spPr>
          <a:xfrm>
            <a:off x="938784" y="1905000"/>
            <a:ext cx="1508760" cy="914400"/>
          </a:xfrm>
          <a:prstGeom prst="rect">
            <a:avLst/>
          </a:prstGeom>
          <a:solidFill>
            <a:srgbClr val="0D2B2B"/>
          </a:solidFill>
          <a:ln/>
          <a:effectLst>
            <a:outerShdw blurRad="101600" dist="38100" dir="8100000" algn="bl" rotWithShape="0">
              <a:srgbClr val="000000">
                <a:alpha val="12000"/>
              </a:srgbClr>
            </a:outerShdw>
          </a:effectLst>
        </p:spPr>
        <p:txBody>
          <a:bodyPr/>
          <a:lstStyle/>
          <a:p>
            <a:endParaRPr lang="en-US" sz="2800" b="1"/>
          </a:p>
        </p:txBody>
      </p:sp>
      <p:sp>
        <p:nvSpPr>
          <p:cNvPr id="48" name="Text 3">
            <a:extLst>
              <a:ext uri="{FF2B5EF4-FFF2-40B4-BE49-F238E27FC236}">
                <a16:creationId xmlns:a16="http://schemas.microsoft.com/office/drawing/2014/main" id="{1028DB1D-BB6A-4446-A446-9CA8337CCF86}"/>
              </a:ext>
            </a:extLst>
          </p:cNvPr>
          <p:cNvSpPr/>
          <p:nvPr/>
        </p:nvSpPr>
        <p:spPr>
          <a:xfrm>
            <a:off x="938784"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1</a:t>
            </a:r>
            <a:endParaRPr lang="en-US" sz="3200" b="1"/>
          </a:p>
        </p:txBody>
      </p:sp>
      <p:sp>
        <p:nvSpPr>
          <p:cNvPr id="49" name="Text 4">
            <a:extLst>
              <a:ext uri="{FF2B5EF4-FFF2-40B4-BE49-F238E27FC236}">
                <a16:creationId xmlns:a16="http://schemas.microsoft.com/office/drawing/2014/main" id="{C735BE8D-EA81-4C8D-A3AA-C5274F9A0D5A}"/>
              </a:ext>
            </a:extLst>
          </p:cNvPr>
          <p:cNvSpPr/>
          <p:nvPr/>
        </p:nvSpPr>
        <p:spPr>
          <a:xfrm>
            <a:off x="938784"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libri" pitchFamily="34" charset="0"/>
                <a:ea typeface="Calibri" pitchFamily="34" charset="-122"/>
                <a:cs typeface="Calibri" pitchFamily="34" charset="-120"/>
              </a:rPr>
              <a:t>Image / Text</a:t>
            </a:r>
            <a:endParaRPr lang="en-US" sz="1100" b="1"/>
          </a:p>
          <a:p>
            <a:pPr marL="0" indent="0" algn="ctr">
              <a:buNone/>
            </a:pPr>
            <a:r>
              <a:rPr lang="en-US" sz="1100" b="1">
                <a:solidFill>
                  <a:srgbClr val="FFFFFF"/>
                </a:solidFill>
                <a:latin typeface="Calibri" pitchFamily="34" charset="0"/>
                <a:ea typeface="Calibri" pitchFamily="34" charset="-122"/>
                <a:cs typeface="Calibri" pitchFamily="34" charset="-120"/>
              </a:rPr>
              <a:t>Input</a:t>
            </a:r>
            <a:endParaRPr lang="en-US" sz="1100" b="1"/>
          </a:p>
        </p:txBody>
      </p:sp>
      <p:sp>
        <p:nvSpPr>
          <p:cNvPr id="50" name="Shape 5">
            <a:extLst>
              <a:ext uri="{FF2B5EF4-FFF2-40B4-BE49-F238E27FC236}">
                <a16:creationId xmlns:a16="http://schemas.microsoft.com/office/drawing/2014/main" id="{12750B65-2274-4F6A-8C0F-A9CCAC9C4238}"/>
              </a:ext>
            </a:extLst>
          </p:cNvPr>
          <p:cNvSpPr/>
          <p:nvPr/>
        </p:nvSpPr>
        <p:spPr>
          <a:xfrm>
            <a:off x="2447544" y="2289048"/>
            <a:ext cx="201168" cy="146304"/>
          </a:xfrm>
          <a:prstGeom prst="rect">
            <a:avLst/>
          </a:prstGeom>
          <a:solidFill>
            <a:srgbClr val="4A6670"/>
          </a:solidFill>
          <a:ln/>
        </p:spPr>
        <p:txBody>
          <a:bodyPr/>
          <a:lstStyle/>
          <a:p>
            <a:endParaRPr lang="en-US" sz="2800" b="1"/>
          </a:p>
        </p:txBody>
      </p:sp>
      <p:sp>
        <p:nvSpPr>
          <p:cNvPr id="51" name="Shape 6">
            <a:extLst>
              <a:ext uri="{FF2B5EF4-FFF2-40B4-BE49-F238E27FC236}">
                <a16:creationId xmlns:a16="http://schemas.microsoft.com/office/drawing/2014/main" id="{38D5C21A-54D3-412C-8F86-8FC319EB5116}"/>
              </a:ext>
            </a:extLst>
          </p:cNvPr>
          <p:cNvSpPr/>
          <p:nvPr/>
        </p:nvSpPr>
        <p:spPr>
          <a:xfrm>
            <a:off x="2657856" y="1905000"/>
            <a:ext cx="1508760" cy="914400"/>
          </a:xfrm>
          <a:prstGeom prst="rect">
            <a:avLst/>
          </a:prstGeom>
          <a:solidFill>
            <a:srgbClr val="028090"/>
          </a:solidFill>
          <a:ln/>
          <a:effectLst>
            <a:outerShdw blurRad="101600" dist="38100" dir="8100000" algn="bl" rotWithShape="0">
              <a:srgbClr val="000000">
                <a:alpha val="12000"/>
              </a:srgbClr>
            </a:outerShdw>
          </a:effectLst>
        </p:spPr>
        <p:txBody>
          <a:bodyPr/>
          <a:lstStyle/>
          <a:p>
            <a:endParaRPr lang="en-US" sz="2800" b="1"/>
          </a:p>
        </p:txBody>
      </p:sp>
      <p:sp>
        <p:nvSpPr>
          <p:cNvPr id="52" name="Text 7">
            <a:extLst>
              <a:ext uri="{FF2B5EF4-FFF2-40B4-BE49-F238E27FC236}">
                <a16:creationId xmlns:a16="http://schemas.microsoft.com/office/drawing/2014/main" id="{40379765-5207-4630-A139-1D09C2D62A9F}"/>
              </a:ext>
            </a:extLst>
          </p:cNvPr>
          <p:cNvSpPr/>
          <p:nvPr/>
        </p:nvSpPr>
        <p:spPr>
          <a:xfrm>
            <a:off x="2657856"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2</a:t>
            </a:r>
            <a:endParaRPr lang="en-US" sz="3200" b="1"/>
          </a:p>
        </p:txBody>
      </p:sp>
      <p:sp>
        <p:nvSpPr>
          <p:cNvPr id="53" name="Text 8">
            <a:extLst>
              <a:ext uri="{FF2B5EF4-FFF2-40B4-BE49-F238E27FC236}">
                <a16:creationId xmlns:a16="http://schemas.microsoft.com/office/drawing/2014/main" id="{4E79A1FC-D204-4156-BD1E-19B6DBA270C9}"/>
              </a:ext>
            </a:extLst>
          </p:cNvPr>
          <p:cNvSpPr/>
          <p:nvPr/>
        </p:nvSpPr>
        <p:spPr>
          <a:xfrm>
            <a:off x="2657856"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libri" pitchFamily="34" charset="0"/>
                <a:ea typeface="Calibri" pitchFamily="34" charset="-122"/>
                <a:cs typeface="Calibri" pitchFamily="34" charset="-120"/>
              </a:rPr>
              <a:t>CV Detection</a:t>
            </a:r>
            <a:endParaRPr lang="en-US" sz="1100" b="1"/>
          </a:p>
          <a:p>
            <a:pPr marL="0" indent="0" algn="ctr">
              <a:buNone/>
            </a:pPr>
            <a:r>
              <a:rPr lang="en-US" sz="1100" b="1">
                <a:solidFill>
                  <a:srgbClr val="FFFFFF"/>
                </a:solidFill>
                <a:latin typeface="Calibri" pitchFamily="34" charset="0"/>
                <a:ea typeface="Calibri" pitchFamily="34" charset="-122"/>
                <a:cs typeface="Calibri" pitchFamily="34" charset="-120"/>
              </a:rPr>
              <a:t>GCloud Vision</a:t>
            </a:r>
            <a:endParaRPr lang="en-US" sz="1100" b="1"/>
          </a:p>
        </p:txBody>
      </p:sp>
      <p:sp>
        <p:nvSpPr>
          <p:cNvPr id="54" name="Shape 9">
            <a:extLst>
              <a:ext uri="{FF2B5EF4-FFF2-40B4-BE49-F238E27FC236}">
                <a16:creationId xmlns:a16="http://schemas.microsoft.com/office/drawing/2014/main" id="{A1B84C83-47AC-47A5-8B39-23604163C109}"/>
              </a:ext>
            </a:extLst>
          </p:cNvPr>
          <p:cNvSpPr/>
          <p:nvPr/>
        </p:nvSpPr>
        <p:spPr>
          <a:xfrm>
            <a:off x="4166616" y="2289048"/>
            <a:ext cx="201168" cy="146304"/>
          </a:xfrm>
          <a:prstGeom prst="rect">
            <a:avLst/>
          </a:prstGeom>
          <a:solidFill>
            <a:srgbClr val="4A6670"/>
          </a:solidFill>
          <a:ln/>
        </p:spPr>
        <p:txBody>
          <a:bodyPr/>
          <a:lstStyle/>
          <a:p>
            <a:endParaRPr lang="en-US" sz="2800" b="1"/>
          </a:p>
        </p:txBody>
      </p:sp>
      <p:sp>
        <p:nvSpPr>
          <p:cNvPr id="55" name="Shape 10">
            <a:extLst>
              <a:ext uri="{FF2B5EF4-FFF2-40B4-BE49-F238E27FC236}">
                <a16:creationId xmlns:a16="http://schemas.microsoft.com/office/drawing/2014/main" id="{E214F801-9CCB-4F3B-85C8-724350961BAC}"/>
              </a:ext>
            </a:extLst>
          </p:cNvPr>
          <p:cNvSpPr/>
          <p:nvPr/>
        </p:nvSpPr>
        <p:spPr>
          <a:xfrm>
            <a:off x="4376928" y="1905000"/>
            <a:ext cx="1508760" cy="914400"/>
          </a:xfrm>
          <a:prstGeom prst="rect">
            <a:avLst/>
          </a:prstGeom>
          <a:solidFill>
            <a:schemeClr val="accent4">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56" name="Text 11">
            <a:extLst>
              <a:ext uri="{FF2B5EF4-FFF2-40B4-BE49-F238E27FC236}">
                <a16:creationId xmlns:a16="http://schemas.microsoft.com/office/drawing/2014/main" id="{94299B58-5E0A-449F-A3AB-7C5AE0827A01}"/>
              </a:ext>
            </a:extLst>
          </p:cNvPr>
          <p:cNvSpPr/>
          <p:nvPr/>
        </p:nvSpPr>
        <p:spPr>
          <a:xfrm>
            <a:off x="4376928"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3</a:t>
            </a:r>
            <a:endParaRPr lang="en-US" sz="3200" b="1"/>
          </a:p>
        </p:txBody>
      </p:sp>
      <p:sp>
        <p:nvSpPr>
          <p:cNvPr id="57" name="Text 12">
            <a:extLst>
              <a:ext uri="{FF2B5EF4-FFF2-40B4-BE49-F238E27FC236}">
                <a16:creationId xmlns:a16="http://schemas.microsoft.com/office/drawing/2014/main" id="{A252D5F0-21BF-49C5-8A07-880C49397FE7}"/>
              </a:ext>
            </a:extLst>
          </p:cNvPr>
          <p:cNvSpPr/>
          <p:nvPr/>
        </p:nvSpPr>
        <p:spPr>
          <a:xfrm>
            <a:off x="4376928"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libri" pitchFamily="34" charset="0"/>
                <a:ea typeface="Calibri" pitchFamily="34" charset="-122"/>
                <a:cs typeface="Calibri" pitchFamily="34" charset="-120"/>
              </a:rPr>
              <a:t>2-Tier Fuzzy</a:t>
            </a:r>
            <a:endParaRPr lang="en-US" sz="1100" b="1"/>
          </a:p>
          <a:p>
            <a:pPr marL="0" indent="0" algn="ctr">
              <a:buNone/>
            </a:pPr>
            <a:r>
              <a:rPr lang="en-US" sz="1100" b="1">
                <a:solidFill>
                  <a:srgbClr val="FFFFFF"/>
                </a:solidFill>
                <a:latin typeface="Calibri" pitchFamily="34" charset="0"/>
                <a:ea typeface="Calibri" pitchFamily="34" charset="-122"/>
                <a:cs typeface="Calibri" pitchFamily="34" charset="-120"/>
              </a:rPr>
              <a:t>Normalization</a:t>
            </a:r>
            <a:endParaRPr lang="en-US" sz="1100" b="1"/>
          </a:p>
        </p:txBody>
      </p:sp>
      <p:sp>
        <p:nvSpPr>
          <p:cNvPr id="58" name="Shape 13">
            <a:extLst>
              <a:ext uri="{FF2B5EF4-FFF2-40B4-BE49-F238E27FC236}">
                <a16:creationId xmlns:a16="http://schemas.microsoft.com/office/drawing/2014/main" id="{09C3E337-9698-4F3C-B840-83F41B3B9DDC}"/>
              </a:ext>
            </a:extLst>
          </p:cNvPr>
          <p:cNvSpPr/>
          <p:nvPr/>
        </p:nvSpPr>
        <p:spPr>
          <a:xfrm>
            <a:off x="5885688" y="2289048"/>
            <a:ext cx="201168" cy="146304"/>
          </a:xfrm>
          <a:prstGeom prst="rect">
            <a:avLst/>
          </a:prstGeom>
          <a:solidFill>
            <a:srgbClr val="4A6670"/>
          </a:solidFill>
          <a:ln/>
        </p:spPr>
        <p:txBody>
          <a:bodyPr/>
          <a:lstStyle/>
          <a:p>
            <a:endParaRPr lang="en-US" sz="2800" b="1"/>
          </a:p>
        </p:txBody>
      </p:sp>
      <p:sp>
        <p:nvSpPr>
          <p:cNvPr id="59" name="Shape 14">
            <a:extLst>
              <a:ext uri="{FF2B5EF4-FFF2-40B4-BE49-F238E27FC236}">
                <a16:creationId xmlns:a16="http://schemas.microsoft.com/office/drawing/2014/main" id="{E959E8E0-E01A-4CF8-92E2-20D7A397F44C}"/>
              </a:ext>
            </a:extLst>
          </p:cNvPr>
          <p:cNvSpPr/>
          <p:nvPr/>
        </p:nvSpPr>
        <p:spPr>
          <a:xfrm>
            <a:off x="6096000" y="1905000"/>
            <a:ext cx="1508760" cy="914400"/>
          </a:xfrm>
          <a:prstGeom prst="rect">
            <a:avLst/>
          </a:prstGeom>
          <a:solidFill>
            <a:srgbClr val="02C39A"/>
          </a:solidFill>
          <a:ln/>
          <a:effectLst>
            <a:outerShdw blurRad="101600" dist="38100" dir="8100000" algn="bl" rotWithShape="0">
              <a:srgbClr val="000000">
                <a:alpha val="12000"/>
              </a:srgbClr>
            </a:outerShdw>
          </a:effectLst>
        </p:spPr>
        <p:txBody>
          <a:bodyPr/>
          <a:lstStyle/>
          <a:p>
            <a:endParaRPr lang="en-US" sz="2800" b="1"/>
          </a:p>
        </p:txBody>
      </p:sp>
      <p:sp>
        <p:nvSpPr>
          <p:cNvPr id="60" name="Text 15">
            <a:extLst>
              <a:ext uri="{FF2B5EF4-FFF2-40B4-BE49-F238E27FC236}">
                <a16:creationId xmlns:a16="http://schemas.microsoft.com/office/drawing/2014/main" id="{F5030727-F7AF-41C8-BDAB-14C5C7A1C649}"/>
              </a:ext>
            </a:extLst>
          </p:cNvPr>
          <p:cNvSpPr/>
          <p:nvPr/>
        </p:nvSpPr>
        <p:spPr>
          <a:xfrm>
            <a:off x="6096000"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4</a:t>
            </a:r>
            <a:endParaRPr lang="en-US" sz="3200" b="1"/>
          </a:p>
        </p:txBody>
      </p:sp>
      <p:sp>
        <p:nvSpPr>
          <p:cNvPr id="61" name="Text 16">
            <a:extLst>
              <a:ext uri="{FF2B5EF4-FFF2-40B4-BE49-F238E27FC236}">
                <a16:creationId xmlns:a16="http://schemas.microsoft.com/office/drawing/2014/main" id="{413BAC54-7A7B-41D2-84D0-A32FD6D2DEB3}"/>
              </a:ext>
            </a:extLst>
          </p:cNvPr>
          <p:cNvSpPr/>
          <p:nvPr/>
        </p:nvSpPr>
        <p:spPr>
          <a:xfrm>
            <a:off x="6096000"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libri" pitchFamily="34" charset="0"/>
                <a:ea typeface="Calibri" pitchFamily="34" charset="-122"/>
                <a:cs typeface="Calibri" pitchFamily="34" charset="-120"/>
              </a:rPr>
              <a:t>SBERT</a:t>
            </a:r>
            <a:endParaRPr lang="en-US" sz="1100" b="1"/>
          </a:p>
          <a:p>
            <a:pPr marL="0" indent="0" algn="ctr">
              <a:buNone/>
            </a:pPr>
            <a:r>
              <a:rPr lang="en-US" sz="1100" b="1">
                <a:solidFill>
                  <a:srgbClr val="FFFFFF"/>
                </a:solidFill>
                <a:latin typeface="Calibri" pitchFamily="34" charset="0"/>
                <a:ea typeface="Calibri" pitchFamily="34" charset="-122"/>
                <a:cs typeface="Calibri" pitchFamily="34" charset="-120"/>
              </a:rPr>
              <a:t>Embedding</a:t>
            </a:r>
            <a:endParaRPr lang="en-US" sz="1100" b="1"/>
          </a:p>
        </p:txBody>
      </p:sp>
      <p:sp>
        <p:nvSpPr>
          <p:cNvPr id="62" name="Shape 17">
            <a:extLst>
              <a:ext uri="{FF2B5EF4-FFF2-40B4-BE49-F238E27FC236}">
                <a16:creationId xmlns:a16="http://schemas.microsoft.com/office/drawing/2014/main" id="{6212546A-B624-4EEC-B70F-7208BC364A62}"/>
              </a:ext>
            </a:extLst>
          </p:cNvPr>
          <p:cNvSpPr/>
          <p:nvPr/>
        </p:nvSpPr>
        <p:spPr>
          <a:xfrm>
            <a:off x="7604760" y="2289048"/>
            <a:ext cx="201168" cy="146304"/>
          </a:xfrm>
          <a:prstGeom prst="rect">
            <a:avLst/>
          </a:prstGeom>
          <a:solidFill>
            <a:srgbClr val="4A6670"/>
          </a:solidFill>
          <a:ln/>
        </p:spPr>
        <p:txBody>
          <a:bodyPr/>
          <a:lstStyle/>
          <a:p>
            <a:endParaRPr lang="en-US" sz="2800" b="1"/>
          </a:p>
        </p:txBody>
      </p:sp>
      <p:sp>
        <p:nvSpPr>
          <p:cNvPr id="63" name="Shape 18">
            <a:extLst>
              <a:ext uri="{FF2B5EF4-FFF2-40B4-BE49-F238E27FC236}">
                <a16:creationId xmlns:a16="http://schemas.microsoft.com/office/drawing/2014/main" id="{02874F45-B8F9-4E32-85EB-B99A52A71488}"/>
              </a:ext>
            </a:extLst>
          </p:cNvPr>
          <p:cNvSpPr/>
          <p:nvPr/>
        </p:nvSpPr>
        <p:spPr>
          <a:xfrm>
            <a:off x="7815072" y="1905000"/>
            <a:ext cx="1508760" cy="914400"/>
          </a:xfrm>
          <a:prstGeom prst="rect">
            <a:avLst/>
          </a:prstGeom>
          <a:solidFill>
            <a:schemeClr val="accent4">
              <a:lumMod val="60000"/>
              <a:lumOff val="40000"/>
            </a:schemeClr>
          </a:solidFill>
          <a:ln/>
          <a:effectLst>
            <a:outerShdw blurRad="101600" dist="38100" dir="8100000" algn="bl" rotWithShape="0">
              <a:srgbClr val="000000">
                <a:alpha val="12000"/>
              </a:srgbClr>
            </a:outerShdw>
          </a:effectLst>
        </p:spPr>
        <p:txBody>
          <a:bodyPr/>
          <a:lstStyle/>
          <a:p>
            <a:endParaRPr lang="en-US" sz="2800" b="1"/>
          </a:p>
        </p:txBody>
      </p:sp>
      <p:sp>
        <p:nvSpPr>
          <p:cNvPr id="64" name="Text 19">
            <a:extLst>
              <a:ext uri="{FF2B5EF4-FFF2-40B4-BE49-F238E27FC236}">
                <a16:creationId xmlns:a16="http://schemas.microsoft.com/office/drawing/2014/main" id="{DAA43EA8-353C-486F-9594-0D7BF76C4C4B}"/>
              </a:ext>
            </a:extLst>
          </p:cNvPr>
          <p:cNvSpPr/>
          <p:nvPr/>
        </p:nvSpPr>
        <p:spPr>
          <a:xfrm>
            <a:off x="7815072"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5</a:t>
            </a:r>
            <a:endParaRPr lang="en-US" sz="3200" b="1"/>
          </a:p>
        </p:txBody>
      </p:sp>
      <p:sp>
        <p:nvSpPr>
          <p:cNvPr id="65" name="Text 20">
            <a:extLst>
              <a:ext uri="{FF2B5EF4-FFF2-40B4-BE49-F238E27FC236}">
                <a16:creationId xmlns:a16="http://schemas.microsoft.com/office/drawing/2014/main" id="{B729F88C-6084-4513-AAA3-DAB86EDA4BDE}"/>
              </a:ext>
            </a:extLst>
          </p:cNvPr>
          <p:cNvSpPr/>
          <p:nvPr/>
        </p:nvSpPr>
        <p:spPr>
          <a:xfrm>
            <a:off x="7815072"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libri" pitchFamily="34" charset="0"/>
                <a:ea typeface="Calibri" pitchFamily="34" charset="-122"/>
                <a:cs typeface="Calibri" pitchFamily="34" charset="-120"/>
              </a:rPr>
              <a:t>ChromaDB</a:t>
            </a:r>
            <a:endParaRPr lang="en-US" sz="1100" b="1"/>
          </a:p>
          <a:p>
            <a:pPr marL="0" indent="0" algn="ctr">
              <a:buNone/>
            </a:pPr>
            <a:r>
              <a:rPr lang="en-US" sz="1100" b="1">
                <a:solidFill>
                  <a:srgbClr val="FFFFFF"/>
                </a:solidFill>
                <a:latin typeface="Calibri" pitchFamily="34" charset="0"/>
                <a:ea typeface="Calibri" pitchFamily="34" charset="-122"/>
                <a:cs typeface="Calibri" pitchFamily="34" charset="-120"/>
              </a:rPr>
              <a:t>Retrieval</a:t>
            </a:r>
            <a:endParaRPr lang="en-US" sz="1100" b="1"/>
          </a:p>
        </p:txBody>
      </p:sp>
      <p:sp>
        <p:nvSpPr>
          <p:cNvPr id="67" name="Shape 22">
            <a:extLst>
              <a:ext uri="{FF2B5EF4-FFF2-40B4-BE49-F238E27FC236}">
                <a16:creationId xmlns:a16="http://schemas.microsoft.com/office/drawing/2014/main" id="{E6AB536E-AA05-4A17-A4E9-FD78BE4730B9}"/>
              </a:ext>
            </a:extLst>
          </p:cNvPr>
          <p:cNvSpPr/>
          <p:nvPr/>
        </p:nvSpPr>
        <p:spPr>
          <a:xfrm>
            <a:off x="926620" y="3057099"/>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68" name="Text 23">
            <a:extLst>
              <a:ext uri="{FF2B5EF4-FFF2-40B4-BE49-F238E27FC236}">
                <a16:creationId xmlns:a16="http://schemas.microsoft.com/office/drawing/2014/main" id="{E699780E-67E0-4750-BB41-9F448AA7809A}"/>
              </a:ext>
            </a:extLst>
          </p:cNvPr>
          <p:cNvSpPr/>
          <p:nvPr/>
        </p:nvSpPr>
        <p:spPr>
          <a:xfrm>
            <a:off x="926620" y="3102820"/>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libri" pitchFamily="34" charset="0"/>
                <a:ea typeface="Calibri" pitchFamily="34" charset="-122"/>
                <a:cs typeface="Calibri" pitchFamily="34" charset="-120"/>
              </a:rPr>
              <a:t>190</a:t>
            </a:r>
            <a:endParaRPr lang="en-US" sz="3200">
              <a:solidFill>
                <a:schemeClr val="accent1">
                  <a:lumMod val="50000"/>
                </a:schemeClr>
              </a:solidFill>
            </a:endParaRPr>
          </a:p>
        </p:txBody>
      </p:sp>
      <p:sp>
        <p:nvSpPr>
          <p:cNvPr id="69" name="Text 24">
            <a:extLst>
              <a:ext uri="{FF2B5EF4-FFF2-40B4-BE49-F238E27FC236}">
                <a16:creationId xmlns:a16="http://schemas.microsoft.com/office/drawing/2014/main" id="{88BC88F2-9BAD-4176-AEB1-F6AA52827649}"/>
              </a:ext>
            </a:extLst>
          </p:cNvPr>
          <p:cNvSpPr/>
          <p:nvPr/>
        </p:nvSpPr>
        <p:spPr>
          <a:xfrm>
            <a:off x="926620" y="3693911"/>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Validated</a:t>
            </a:r>
            <a:endParaRPr lang="en-US" sz="1600" b="1"/>
          </a:p>
          <a:p>
            <a:pPr marL="0" indent="0" algn="ctr">
              <a:buNone/>
            </a:pPr>
            <a:r>
              <a:rPr lang="en-US" sz="1600" b="1">
                <a:solidFill>
                  <a:srgbClr val="FFFFFF"/>
                </a:solidFill>
                <a:latin typeface="Calibri" pitchFamily="34" charset="0"/>
                <a:ea typeface="Calibri" pitchFamily="34" charset="-122"/>
                <a:cs typeface="Calibri" pitchFamily="34" charset="-120"/>
              </a:rPr>
              <a:t>Sri Lankan Recipes</a:t>
            </a:r>
            <a:endParaRPr lang="en-US" sz="1600" b="1"/>
          </a:p>
        </p:txBody>
      </p:sp>
      <p:sp>
        <p:nvSpPr>
          <p:cNvPr id="70" name="Shape 25">
            <a:extLst>
              <a:ext uri="{FF2B5EF4-FFF2-40B4-BE49-F238E27FC236}">
                <a16:creationId xmlns:a16="http://schemas.microsoft.com/office/drawing/2014/main" id="{B723EC1C-A17C-4836-8C20-0261CA9015AA}"/>
              </a:ext>
            </a:extLst>
          </p:cNvPr>
          <p:cNvSpPr/>
          <p:nvPr/>
        </p:nvSpPr>
        <p:spPr>
          <a:xfrm>
            <a:off x="3535930" y="3051372"/>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1" name="Text 26">
            <a:extLst>
              <a:ext uri="{FF2B5EF4-FFF2-40B4-BE49-F238E27FC236}">
                <a16:creationId xmlns:a16="http://schemas.microsoft.com/office/drawing/2014/main" id="{81AAF472-9A15-489A-AF97-F111B17D8B8E}"/>
              </a:ext>
            </a:extLst>
          </p:cNvPr>
          <p:cNvSpPr/>
          <p:nvPr/>
        </p:nvSpPr>
        <p:spPr>
          <a:xfrm>
            <a:off x="3535930" y="3097093"/>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libri" pitchFamily="34" charset="0"/>
                <a:ea typeface="Calibri" pitchFamily="34" charset="-122"/>
                <a:cs typeface="Calibri" pitchFamily="34" charset="-120"/>
              </a:rPr>
              <a:t>262</a:t>
            </a:r>
            <a:endParaRPr lang="en-US" sz="3200">
              <a:solidFill>
                <a:schemeClr val="accent1">
                  <a:lumMod val="50000"/>
                </a:schemeClr>
              </a:solidFill>
            </a:endParaRPr>
          </a:p>
        </p:txBody>
      </p:sp>
      <p:sp>
        <p:nvSpPr>
          <p:cNvPr id="72" name="Text 27">
            <a:extLst>
              <a:ext uri="{FF2B5EF4-FFF2-40B4-BE49-F238E27FC236}">
                <a16:creationId xmlns:a16="http://schemas.microsoft.com/office/drawing/2014/main" id="{1B20EF5C-3C97-4571-A0A3-250ACB738F08}"/>
              </a:ext>
            </a:extLst>
          </p:cNvPr>
          <p:cNvSpPr/>
          <p:nvPr/>
        </p:nvSpPr>
        <p:spPr>
          <a:xfrm>
            <a:off x="3535930" y="3688184"/>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Trilingual</a:t>
            </a:r>
            <a:endParaRPr lang="en-US" sz="1600" b="1"/>
          </a:p>
          <a:p>
            <a:pPr marL="0" indent="0" algn="ctr">
              <a:buNone/>
            </a:pPr>
            <a:r>
              <a:rPr lang="en-US" sz="1600" b="1">
                <a:solidFill>
                  <a:srgbClr val="FFFFFF"/>
                </a:solidFill>
                <a:latin typeface="Calibri" pitchFamily="34" charset="0"/>
                <a:ea typeface="Calibri" pitchFamily="34" charset="-122"/>
                <a:cs typeface="Calibri" pitchFamily="34" charset="-120"/>
              </a:rPr>
              <a:t>Ingredient Entries</a:t>
            </a:r>
            <a:endParaRPr lang="en-US" sz="1600" b="1"/>
          </a:p>
        </p:txBody>
      </p:sp>
      <p:sp>
        <p:nvSpPr>
          <p:cNvPr id="73" name="Shape 28">
            <a:extLst>
              <a:ext uri="{FF2B5EF4-FFF2-40B4-BE49-F238E27FC236}">
                <a16:creationId xmlns:a16="http://schemas.microsoft.com/office/drawing/2014/main" id="{A7844749-32FE-43EA-BD5C-2E49EE22BADF}"/>
              </a:ext>
            </a:extLst>
          </p:cNvPr>
          <p:cNvSpPr/>
          <p:nvPr/>
        </p:nvSpPr>
        <p:spPr>
          <a:xfrm>
            <a:off x="6177834" y="3048000"/>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4" name="Text 29">
            <a:extLst>
              <a:ext uri="{FF2B5EF4-FFF2-40B4-BE49-F238E27FC236}">
                <a16:creationId xmlns:a16="http://schemas.microsoft.com/office/drawing/2014/main" id="{AE37BD02-86B0-43B3-95ED-B8B7472AA0C6}"/>
              </a:ext>
            </a:extLst>
          </p:cNvPr>
          <p:cNvSpPr/>
          <p:nvPr/>
        </p:nvSpPr>
        <p:spPr>
          <a:xfrm>
            <a:off x="6177834" y="3093721"/>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libri" pitchFamily="34" charset="0"/>
                <a:ea typeface="Calibri" pitchFamily="34" charset="-122"/>
                <a:cs typeface="Calibri" pitchFamily="34" charset="-120"/>
              </a:rPr>
              <a:t>127</a:t>
            </a:r>
            <a:endParaRPr lang="en-US" sz="3200">
              <a:solidFill>
                <a:schemeClr val="accent1">
                  <a:lumMod val="50000"/>
                </a:schemeClr>
              </a:solidFill>
            </a:endParaRPr>
          </a:p>
        </p:txBody>
      </p:sp>
      <p:sp>
        <p:nvSpPr>
          <p:cNvPr id="75" name="Text 30">
            <a:extLst>
              <a:ext uri="{FF2B5EF4-FFF2-40B4-BE49-F238E27FC236}">
                <a16:creationId xmlns:a16="http://schemas.microsoft.com/office/drawing/2014/main" id="{F69A0645-30E7-4A29-B8C3-16CF4C5C7815}"/>
              </a:ext>
            </a:extLst>
          </p:cNvPr>
          <p:cNvSpPr/>
          <p:nvPr/>
        </p:nvSpPr>
        <p:spPr>
          <a:xfrm>
            <a:off x="6177834" y="3684812"/>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Expert Synonym</a:t>
            </a:r>
            <a:endParaRPr lang="en-US" sz="1600" b="1"/>
          </a:p>
          <a:p>
            <a:pPr marL="0" indent="0" algn="ctr">
              <a:buNone/>
            </a:pPr>
            <a:r>
              <a:rPr lang="en-US" sz="1600" b="1">
                <a:solidFill>
                  <a:srgbClr val="FFFFFF"/>
                </a:solidFill>
                <a:latin typeface="Calibri" pitchFamily="34" charset="0"/>
                <a:ea typeface="Calibri" pitchFamily="34" charset="-122"/>
                <a:cs typeface="Calibri" pitchFamily="34" charset="-120"/>
              </a:rPr>
              <a:t>Pairs (EN/SI/TA)</a:t>
            </a:r>
            <a:endParaRPr lang="en-US" sz="1600" b="1"/>
          </a:p>
        </p:txBody>
      </p:sp>
      <p:sp>
        <p:nvSpPr>
          <p:cNvPr id="76" name="Shape 31">
            <a:extLst>
              <a:ext uri="{FF2B5EF4-FFF2-40B4-BE49-F238E27FC236}">
                <a16:creationId xmlns:a16="http://schemas.microsoft.com/office/drawing/2014/main" id="{C45FE020-731A-479C-B2FA-2DAF6D623216}"/>
              </a:ext>
            </a:extLst>
          </p:cNvPr>
          <p:cNvSpPr/>
          <p:nvPr/>
        </p:nvSpPr>
        <p:spPr>
          <a:xfrm>
            <a:off x="8808749" y="3048000"/>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7" name="Text 32">
            <a:extLst>
              <a:ext uri="{FF2B5EF4-FFF2-40B4-BE49-F238E27FC236}">
                <a16:creationId xmlns:a16="http://schemas.microsoft.com/office/drawing/2014/main" id="{6A5C8AFB-544D-4FA7-AB58-45E87886743D}"/>
              </a:ext>
            </a:extLst>
          </p:cNvPr>
          <p:cNvSpPr/>
          <p:nvPr/>
        </p:nvSpPr>
        <p:spPr>
          <a:xfrm>
            <a:off x="8808749" y="3093721"/>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libri" pitchFamily="34" charset="0"/>
                <a:ea typeface="Calibri" pitchFamily="34" charset="-122"/>
                <a:cs typeface="Calibri" pitchFamily="34" charset="-120"/>
              </a:rPr>
              <a:t>26,215</a:t>
            </a:r>
            <a:endParaRPr lang="en-US" sz="3200">
              <a:solidFill>
                <a:schemeClr val="accent1">
                  <a:lumMod val="50000"/>
                </a:schemeClr>
              </a:solidFill>
            </a:endParaRPr>
          </a:p>
        </p:txBody>
      </p:sp>
      <p:sp>
        <p:nvSpPr>
          <p:cNvPr id="78" name="Text 33">
            <a:extLst>
              <a:ext uri="{FF2B5EF4-FFF2-40B4-BE49-F238E27FC236}">
                <a16:creationId xmlns:a16="http://schemas.microsoft.com/office/drawing/2014/main" id="{84775192-8D4C-4A40-919F-A93E1F19934A}"/>
              </a:ext>
            </a:extLst>
          </p:cNvPr>
          <p:cNvSpPr/>
          <p:nvPr/>
        </p:nvSpPr>
        <p:spPr>
          <a:xfrm>
            <a:off x="8808749" y="3684812"/>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Calibri" pitchFamily="34" charset="0"/>
                <a:ea typeface="Calibri" pitchFamily="34" charset="-122"/>
                <a:cs typeface="Calibri" pitchFamily="34" charset="-120"/>
              </a:rPr>
              <a:t>Augmented Training</a:t>
            </a:r>
            <a:endParaRPr lang="en-US" sz="1600" b="1"/>
          </a:p>
          <a:p>
            <a:pPr marL="0" indent="0" algn="ctr">
              <a:buNone/>
            </a:pPr>
            <a:r>
              <a:rPr lang="en-US" sz="1600" b="1">
                <a:solidFill>
                  <a:srgbClr val="FFFFFF"/>
                </a:solidFill>
                <a:latin typeface="Calibri" pitchFamily="34" charset="0"/>
                <a:ea typeface="Calibri" pitchFamily="34" charset="-122"/>
                <a:cs typeface="Calibri" pitchFamily="34" charset="-120"/>
              </a:rPr>
              <a:t>Images</a:t>
            </a:r>
            <a:endParaRPr lang="en-US" sz="1600" b="1"/>
          </a:p>
        </p:txBody>
      </p:sp>
      <p:sp>
        <p:nvSpPr>
          <p:cNvPr id="79" name="Shape 34">
            <a:extLst>
              <a:ext uri="{FF2B5EF4-FFF2-40B4-BE49-F238E27FC236}">
                <a16:creationId xmlns:a16="http://schemas.microsoft.com/office/drawing/2014/main" id="{F30F14FC-1E5B-4D6A-AB3A-2514E6BCA952}"/>
              </a:ext>
            </a:extLst>
          </p:cNvPr>
          <p:cNvSpPr/>
          <p:nvPr/>
        </p:nvSpPr>
        <p:spPr>
          <a:xfrm>
            <a:off x="938784" y="4543810"/>
            <a:ext cx="10719816" cy="1775317"/>
          </a:xfrm>
          <a:prstGeom prst="rect">
            <a:avLst/>
          </a:prstGeom>
          <a:solidFill>
            <a:srgbClr val="E8F7F5"/>
          </a:solidFill>
          <a:ln/>
          <a:effectLst>
            <a:outerShdw blurRad="101600" dist="38100" dir="8100000" algn="bl" rotWithShape="0">
              <a:srgbClr val="000000">
                <a:alpha val="12000"/>
              </a:srgbClr>
            </a:outerShdw>
          </a:effectLst>
        </p:spPr>
        <p:txBody>
          <a:bodyPr/>
          <a:lstStyle/>
          <a:p>
            <a:endParaRPr lang="en-US" sz="3200"/>
          </a:p>
        </p:txBody>
      </p:sp>
      <p:sp>
        <p:nvSpPr>
          <p:cNvPr id="80" name="Shape 35">
            <a:extLst>
              <a:ext uri="{FF2B5EF4-FFF2-40B4-BE49-F238E27FC236}">
                <a16:creationId xmlns:a16="http://schemas.microsoft.com/office/drawing/2014/main" id="{5F450FBD-11F9-4713-B2AF-BEF5971D143F}"/>
              </a:ext>
            </a:extLst>
          </p:cNvPr>
          <p:cNvSpPr/>
          <p:nvPr/>
        </p:nvSpPr>
        <p:spPr>
          <a:xfrm>
            <a:off x="907627" y="4549283"/>
            <a:ext cx="92213" cy="1775317"/>
          </a:xfrm>
          <a:prstGeom prst="rect">
            <a:avLst/>
          </a:prstGeom>
          <a:solidFill>
            <a:srgbClr val="028090"/>
          </a:solidFill>
          <a:ln/>
        </p:spPr>
        <p:txBody>
          <a:bodyPr/>
          <a:lstStyle/>
          <a:p>
            <a:endParaRPr lang="en-US" sz="3200"/>
          </a:p>
        </p:txBody>
      </p:sp>
      <p:sp>
        <p:nvSpPr>
          <p:cNvPr id="81" name="Text 36">
            <a:extLst>
              <a:ext uri="{FF2B5EF4-FFF2-40B4-BE49-F238E27FC236}">
                <a16:creationId xmlns:a16="http://schemas.microsoft.com/office/drawing/2014/main" id="{A32DC0B0-1163-46CF-9A0D-6F7EA89BF33B}"/>
              </a:ext>
            </a:extLst>
          </p:cNvPr>
          <p:cNvSpPr/>
          <p:nvPr/>
        </p:nvSpPr>
        <p:spPr>
          <a:xfrm>
            <a:off x="1054703" y="4559808"/>
            <a:ext cx="10258749" cy="41424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b="1">
                <a:solidFill>
                  <a:srgbClr val="0D2B2B"/>
                </a:solidFill>
                <a:latin typeface="Calibri" pitchFamily="34" charset="0"/>
                <a:ea typeface="Calibri" pitchFamily="34" charset="-122"/>
                <a:cs typeface="Calibri" pitchFamily="34" charset="-120"/>
              </a:rPr>
              <a:t>Two-Tier Fuzzy Normalization Engine</a:t>
            </a:r>
            <a:endParaRPr lang="en-US" sz="2000"/>
          </a:p>
        </p:txBody>
      </p:sp>
      <p:sp>
        <p:nvSpPr>
          <p:cNvPr id="82" name="Text 37">
            <a:extLst>
              <a:ext uri="{FF2B5EF4-FFF2-40B4-BE49-F238E27FC236}">
                <a16:creationId xmlns:a16="http://schemas.microsoft.com/office/drawing/2014/main" id="{919D9143-A601-4B95-A6CB-CC9F473700D8}"/>
              </a:ext>
            </a:extLst>
          </p:cNvPr>
          <p:cNvSpPr/>
          <p:nvPr/>
        </p:nvSpPr>
        <p:spPr>
          <a:xfrm>
            <a:off x="1054703" y="4907280"/>
            <a:ext cx="10258749" cy="118354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a:solidFill>
                  <a:srgbClr val="028090"/>
                </a:solidFill>
                <a:latin typeface="Calibri" pitchFamily="34" charset="0"/>
                <a:ea typeface="Calibri" pitchFamily="34" charset="-122"/>
                <a:cs typeface="Calibri" pitchFamily="34" charset="-120"/>
              </a:rPr>
              <a:t>Tier 1 — Expert Synonym Dictionary: </a:t>
            </a:r>
            <a:r>
              <a:rPr lang="en-US" sz="1600">
                <a:solidFill>
                  <a:srgbClr val="1A1A1A"/>
                </a:solidFill>
                <a:latin typeface="Calibri" pitchFamily="34" charset="0"/>
                <a:ea typeface="Calibri" pitchFamily="34" charset="-122"/>
                <a:cs typeface="Calibri" pitchFamily="34" charset="-120"/>
              </a:rPr>
              <a:t>127 pairs map Sinhala/Tamil names to canonical English (e.g. 'karapincha' → 'curry leaves'). Score = 1.0, Tier 2 bypassed.
</a:t>
            </a:r>
            <a:r>
              <a:rPr lang="en-US" sz="1600" b="1">
                <a:solidFill>
                  <a:srgbClr val="E76F51"/>
                </a:solidFill>
                <a:latin typeface="Calibri" pitchFamily="34" charset="0"/>
                <a:ea typeface="Calibri" pitchFamily="34" charset="-122"/>
                <a:cs typeface="Calibri" pitchFamily="34" charset="-120"/>
              </a:rPr>
              <a:t>Tier 2 — Levenshtein Fuzzy Matching: </a:t>
            </a:r>
            <a:r>
              <a:rPr lang="en-US" sz="1600">
                <a:solidFill>
                  <a:srgbClr val="1A1A1A"/>
                </a:solidFill>
                <a:latin typeface="Calibri" pitchFamily="34" charset="0"/>
                <a:ea typeface="Calibri" pitchFamily="34" charset="-122"/>
                <a:cs typeface="Calibri" pitchFamily="34" charset="-120"/>
              </a:rPr>
              <a:t>Normalized edit-distance against 262 canonical ingredients. Accepts matches above ROC-optimized threshold θ = 0.80 (AUC = 0.91).</a:t>
            </a:r>
            <a:endParaRPr lang="en-US" sz="1600"/>
          </a:p>
        </p:txBody>
      </p:sp>
      <p:sp>
        <p:nvSpPr>
          <p:cNvPr id="40" name="TextBox 39">
            <a:extLst>
              <a:ext uri="{FF2B5EF4-FFF2-40B4-BE49-F238E27FC236}">
                <a16:creationId xmlns:a16="http://schemas.microsoft.com/office/drawing/2014/main" id="{4AE6ED91-1524-4B8E-B86A-A4E5A0DBEA3C}"/>
              </a:ext>
            </a:extLst>
          </p:cNvPr>
          <p:cNvSpPr txBox="1"/>
          <p:nvPr/>
        </p:nvSpPr>
        <p:spPr>
          <a:xfrm>
            <a:off x="907627" y="781709"/>
            <a:ext cx="9244435" cy="769441"/>
          </a:xfrm>
          <a:prstGeom prst="rect">
            <a:avLst/>
          </a:prstGeom>
          <a:noFill/>
        </p:spPr>
        <p:txBody>
          <a:bodyPr wrap="square">
            <a:spAutoFit/>
          </a:bodyPr>
          <a:lstStyle/>
          <a:p>
            <a:r>
              <a:rPr lang="en-US" sz="4400" b="1">
                <a:solidFill>
                  <a:srgbClr val="42A187"/>
                </a:solidFill>
                <a:latin typeface="Calibri" pitchFamily="34" charset="0"/>
                <a:ea typeface="Calibri" pitchFamily="34" charset="-122"/>
                <a:cs typeface="Calibri" pitchFamily="34" charset="-120"/>
              </a:rPr>
              <a:t>Spontaneous Cooking Assistant</a:t>
            </a:r>
            <a:endParaRPr lang="en-US" sz="4400">
              <a:solidFill>
                <a:srgbClr val="42A187"/>
              </a:solidFill>
            </a:endParaRPr>
          </a:p>
        </p:txBody>
      </p:sp>
      <p:pic>
        <p:nvPicPr>
          <p:cNvPr id="3" name="Picture 2">
            <a:extLst>
              <a:ext uri="{FF2B5EF4-FFF2-40B4-BE49-F238E27FC236}">
                <a16:creationId xmlns:a16="http://schemas.microsoft.com/office/drawing/2014/main" id="{85972DCD-A8DC-4496-8AAF-A684719D570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41" t="3595" b="30941"/>
          <a:stretch/>
        </p:blipFill>
        <p:spPr>
          <a:xfrm>
            <a:off x="10130441" y="144966"/>
            <a:ext cx="1997750" cy="2411201"/>
          </a:xfrm>
          <a:prstGeom prst="rect">
            <a:avLst/>
          </a:prstGeom>
        </p:spPr>
      </p:pic>
    </p:spTree>
    <p:extLst>
      <p:ext uri="{BB962C8B-B14F-4D97-AF65-F5344CB8AC3E}">
        <p14:creationId xmlns:p14="http://schemas.microsoft.com/office/powerpoint/2010/main" val="2181409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18B8B-0010-2A06-FEA8-F2CD7E9E8A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59D674-FFBE-679B-DDB4-7735965E533B}"/>
              </a:ext>
            </a:extLst>
          </p:cNvPr>
          <p:cNvSpPr>
            <a:spLocks noGrp="1"/>
          </p:cNvSpPr>
          <p:nvPr>
            <p:ph type="title"/>
          </p:nvPr>
        </p:nvSpPr>
        <p:spPr>
          <a:xfrm>
            <a:off x="76200" y="1"/>
            <a:ext cx="7723716" cy="533400"/>
          </a:xfrm>
        </p:spPr>
        <p:txBody>
          <a:bodyPr>
            <a:normAutofit fontScale="90000"/>
          </a:bodyPr>
          <a:lstStyle/>
          <a:p>
            <a:r>
              <a:rPr lang="en-US" sz="3200">
                <a:latin typeface="Adobe Devanagari"/>
              </a:rPr>
              <a:t>IT22083982 | </a:t>
            </a:r>
            <a:r>
              <a:rPr lang="en-US" sz="3200" err="1">
                <a:latin typeface="Adobe Devanagari"/>
              </a:rPr>
              <a:t>Shahmi</a:t>
            </a:r>
            <a:r>
              <a:rPr lang="en-US" sz="3200">
                <a:latin typeface="Adobe Devanagari"/>
              </a:rPr>
              <a:t> M.T.M</a:t>
            </a:r>
          </a:p>
        </p:txBody>
      </p:sp>
      <p:sp>
        <p:nvSpPr>
          <p:cNvPr id="4" name="Rectangle 3">
            <a:extLst>
              <a:ext uri="{FF2B5EF4-FFF2-40B4-BE49-F238E27FC236}">
                <a16:creationId xmlns:a16="http://schemas.microsoft.com/office/drawing/2014/main" id="{1837E46C-14A7-9823-0ED4-E58F539AF667}"/>
              </a:ext>
            </a:extLst>
          </p:cNvPr>
          <p:cNvSpPr/>
          <p:nvPr/>
        </p:nvSpPr>
        <p:spPr>
          <a:xfrm>
            <a:off x="256547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solidFill>
                  <a:schemeClr val="tx1"/>
                </a:solidFill>
              </a:rPr>
              <a:t>IT22083982</a:t>
            </a:r>
            <a:r>
              <a:rPr lang="en-US" sz="2000" dirty="0">
                <a:solidFill>
                  <a:schemeClr val="tx1"/>
                </a:solidFill>
              </a:rPr>
              <a:t>|   </a:t>
            </a:r>
            <a:r>
              <a:rPr lang="en-US" sz="2000" dirty="0" err="1">
                <a:solidFill>
                  <a:schemeClr val="tx1"/>
                </a:solidFill>
              </a:rPr>
              <a:t>SHahmi</a:t>
            </a:r>
            <a:r>
              <a:rPr lang="en-US" sz="2000" dirty="0">
                <a:solidFill>
                  <a:schemeClr val="tx1"/>
                </a:solidFill>
              </a:rPr>
              <a:t> M.T.M|   </a:t>
            </a:r>
            <a:r>
              <a:rPr lang="en-US" sz="2000" b="0" dirty="0">
                <a:solidFill>
                  <a:schemeClr val="tx1"/>
                </a:solidFill>
              </a:rPr>
              <a:t>25-26J-351</a:t>
            </a:r>
          </a:p>
        </p:txBody>
      </p:sp>
      <p:sp>
        <p:nvSpPr>
          <p:cNvPr id="47" name="Shape 2">
            <a:extLst>
              <a:ext uri="{FF2B5EF4-FFF2-40B4-BE49-F238E27FC236}">
                <a16:creationId xmlns:a16="http://schemas.microsoft.com/office/drawing/2014/main" id="{193EB3DD-0D51-1B5C-AA7A-391FE7EDF7CD}"/>
              </a:ext>
            </a:extLst>
          </p:cNvPr>
          <p:cNvSpPr/>
          <p:nvPr/>
        </p:nvSpPr>
        <p:spPr>
          <a:xfrm>
            <a:off x="907892" y="1462216"/>
            <a:ext cx="1508760" cy="914400"/>
          </a:xfrm>
          <a:prstGeom prst="rect">
            <a:avLst/>
          </a:prstGeom>
          <a:solidFill>
            <a:schemeClr val="accent4">
              <a:lumMod val="75000"/>
            </a:schemeClr>
          </a:solidFill>
          <a:ln>
            <a:solidFill>
              <a:srgbClr val="0070C0"/>
            </a:solidFill>
          </a:ln>
          <a:effectLst>
            <a:outerShdw blurRad="101600" dist="38100" dir="8100000" algn="bl" rotWithShape="0">
              <a:srgbClr val="000000">
                <a:alpha val="12000"/>
              </a:srgbClr>
            </a:outerShdw>
          </a:effectLst>
        </p:spPr>
        <p:txBody>
          <a:bodyPr/>
          <a:lstStyle/>
          <a:p>
            <a:endParaRPr lang="en-US" sz="2800" b="1"/>
          </a:p>
        </p:txBody>
      </p:sp>
      <p:sp>
        <p:nvSpPr>
          <p:cNvPr id="48" name="Text 3">
            <a:extLst>
              <a:ext uri="{FF2B5EF4-FFF2-40B4-BE49-F238E27FC236}">
                <a16:creationId xmlns:a16="http://schemas.microsoft.com/office/drawing/2014/main" id="{58D630EE-87FA-9044-9CC6-D585FB8FC545}"/>
              </a:ext>
            </a:extLst>
          </p:cNvPr>
          <p:cNvSpPr/>
          <p:nvPr/>
        </p:nvSpPr>
        <p:spPr>
          <a:xfrm>
            <a:off x="907892" y="1507936"/>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1</a:t>
            </a:r>
            <a:endParaRPr lang="en-US" sz="3200" b="1"/>
          </a:p>
        </p:txBody>
      </p:sp>
      <p:sp>
        <p:nvSpPr>
          <p:cNvPr id="49" name="Text 4">
            <a:extLst>
              <a:ext uri="{FF2B5EF4-FFF2-40B4-BE49-F238E27FC236}">
                <a16:creationId xmlns:a16="http://schemas.microsoft.com/office/drawing/2014/main" id="{9035F308-B574-437B-F522-B1B33CC3EBA0}"/>
              </a:ext>
            </a:extLst>
          </p:cNvPr>
          <p:cNvSpPr/>
          <p:nvPr/>
        </p:nvSpPr>
        <p:spPr>
          <a:xfrm>
            <a:off x="907892" y="1809688"/>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solidFill>
                  <a:srgbClr val="FFFFFF"/>
                </a:solidFill>
                <a:latin typeface="Cambria"/>
                <a:ea typeface="Cambria"/>
                <a:cs typeface="Calibri"/>
              </a:rPr>
              <a:t>Meal</a:t>
            </a:r>
            <a:r>
              <a:rPr lang="en-US" sz="1100" dirty="0">
                <a:solidFill>
                  <a:srgbClr val="FFFFFF"/>
                </a:solidFill>
                <a:ea typeface="+mn-lt"/>
                <a:cs typeface="+mn-lt"/>
              </a:rPr>
              <a:t> Log Analysis</a:t>
            </a:r>
          </a:p>
          <a:p>
            <a:pPr algn="ctr"/>
            <a:r>
              <a:rPr lang="en-US" sz="1100">
                <a:solidFill>
                  <a:srgbClr val="FFFFFF"/>
                </a:solidFill>
                <a:ea typeface="+mn-lt"/>
                <a:cs typeface="+mn-lt"/>
              </a:rPr>
              <a:t>(User Intake Tracking)</a:t>
            </a:r>
            <a:endParaRPr lang="en-US"/>
          </a:p>
        </p:txBody>
      </p:sp>
      <p:sp>
        <p:nvSpPr>
          <p:cNvPr id="50" name="Shape 5">
            <a:extLst>
              <a:ext uri="{FF2B5EF4-FFF2-40B4-BE49-F238E27FC236}">
                <a16:creationId xmlns:a16="http://schemas.microsoft.com/office/drawing/2014/main" id="{0231CBE6-38D5-E194-5899-D751DF15C6AE}"/>
              </a:ext>
            </a:extLst>
          </p:cNvPr>
          <p:cNvSpPr/>
          <p:nvPr/>
        </p:nvSpPr>
        <p:spPr>
          <a:xfrm>
            <a:off x="2416652" y="1846264"/>
            <a:ext cx="201168" cy="146304"/>
          </a:xfrm>
          <a:prstGeom prst="rect">
            <a:avLst/>
          </a:prstGeom>
          <a:solidFill>
            <a:srgbClr val="4A6670"/>
          </a:solidFill>
          <a:ln/>
        </p:spPr>
        <p:txBody>
          <a:bodyPr/>
          <a:lstStyle/>
          <a:p>
            <a:endParaRPr lang="en-US" sz="2800" b="1"/>
          </a:p>
        </p:txBody>
      </p:sp>
      <p:sp>
        <p:nvSpPr>
          <p:cNvPr id="51" name="Shape 6">
            <a:extLst>
              <a:ext uri="{FF2B5EF4-FFF2-40B4-BE49-F238E27FC236}">
                <a16:creationId xmlns:a16="http://schemas.microsoft.com/office/drawing/2014/main" id="{2B1FD9AE-DD13-6F06-9A93-1916C900470C}"/>
              </a:ext>
            </a:extLst>
          </p:cNvPr>
          <p:cNvSpPr/>
          <p:nvPr/>
        </p:nvSpPr>
        <p:spPr>
          <a:xfrm>
            <a:off x="2626964" y="1462216"/>
            <a:ext cx="1508760" cy="914400"/>
          </a:xfrm>
          <a:prstGeom prst="rect">
            <a:avLst/>
          </a:prstGeom>
          <a:solidFill>
            <a:schemeClr val="accent4">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52" name="Text 7">
            <a:extLst>
              <a:ext uri="{FF2B5EF4-FFF2-40B4-BE49-F238E27FC236}">
                <a16:creationId xmlns:a16="http://schemas.microsoft.com/office/drawing/2014/main" id="{8019C084-69AF-6E16-588A-C1C86C2811D6}"/>
              </a:ext>
            </a:extLst>
          </p:cNvPr>
          <p:cNvSpPr/>
          <p:nvPr/>
        </p:nvSpPr>
        <p:spPr>
          <a:xfrm>
            <a:off x="2626964" y="1507936"/>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2</a:t>
            </a:r>
            <a:endParaRPr lang="en-US" sz="3200" b="1"/>
          </a:p>
        </p:txBody>
      </p:sp>
      <p:sp>
        <p:nvSpPr>
          <p:cNvPr id="53" name="Text 8">
            <a:extLst>
              <a:ext uri="{FF2B5EF4-FFF2-40B4-BE49-F238E27FC236}">
                <a16:creationId xmlns:a16="http://schemas.microsoft.com/office/drawing/2014/main" id="{A9D59A34-5E67-9DFC-6C1F-FF51C2DAC3AE}"/>
              </a:ext>
            </a:extLst>
          </p:cNvPr>
          <p:cNvSpPr/>
          <p:nvPr/>
        </p:nvSpPr>
        <p:spPr>
          <a:xfrm>
            <a:off x="2626964" y="1809688"/>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FFFFFF"/>
                </a:solidFill>
                <a:ea typeface="+mn-lt"/>
                <a:cs typeface="+mn-lt"/>
              </a:rPr>
              <a:t>Requirement Matching</a:t>
            </a:r>
            <a:br>
              <a:rPr lang="en-US" sz="1100" b="1" dirty="0">
                <a:solidFill>
                  <a:srgbClr val="FFFFFF"/>
                </a:solidFill>
                <a:ea typeface="+mn-lt"/>
                <a:cs typeface="+mn-lt"/>
              </a:rPr>
            </a:br>
            <a:r>
              <a:rPr lang="en-US" sz="1100" b="1">
                <a:solidFill>
                  <a:srgbClr val="FFFFFF"/>
                </a:solidFill>
                <a:ea typeface="+mn-lt"/>
                <a:cs typeface="+mn-lt"/>
              </a:rPr>
              <a:t> (Age, Gender, Health-Based)</a:t>
            </a:r>
            <a:endParaRPr lang="en-US"/>
          </a:p>
        </p:txBody>
      </p:sp>
      <p:sp>
        <p:nvSpPr>
          <p:cNvPr id="54" name="Shape 9">
            <a:extLst>
              <a:ext uri="{FF2B5EF4-FFF2-40B4-BE49-F238E27FC236}">
                <a16:creationId xmlns:a16="http://schemas.microsoft.com/office/drawing/2014/main" id="{616D96BD-09D5-9563-C022-26C9D2CAD620}"/>
              </a:ext>
            </a:extLst>
          </p:cNvPr>
          <p:cNvSpPr/>
          <p:nvPr/>
        </p:nvSpPr>
        <p:spPr>
          <a:xfrm>
            <a:off x="4135724" y="1846264"/>
            <a:ext cx="201168" cy="146304"/>
          </a:xfrm>
          <a:prstGeom prst="rect">
            <a:avLst/>
          </a:prstGeom>
          <a:solidFill>
            <a:srgbClr val="4A6670"/>
          </a:solidFill>
          <a:ln/>
        </p:spPr>
        <p:txBody>
          <a:bodyPr/>
          <a:lstStyle/>
          <a:p>
            <a:endParaRPr lang="en-US" sz="2800" b="1"/>
          </a:p>
        </p:txBody>
      </p:sp>
      <p:sp>
        <p:nvSpPr>
          <p:cNvPr id="55" name="Shape 10">
            <a:extLst>
              <a:ext uri="{FF2B5EF4-FFF2-40B4-BE49-F238E27FC236}">
                <a16:creationId xmlns:a16="http://schemas.microsoft.com/office/drawing/2014/main" id="{1D9668AF-3EDA-77B7-C138-B36DAD3FCC5D}"/>
              </a:ext>
            </a:extLst>
          </p:cNvPr>
          <p:cNvSpPr/>
          <p:nvPr/>
        </p:nvSpPr>
        <p:spPr>
          <a:xfrm>
            <a:off x="4346036" y="1462216"/>
            <a:ext cx="1508760" cy="914400"/>
          </a:xfrm>
          <a:prstGeom prst="rect">
            <a:avLst/>
          </a:prstGeom>
          <a:solidFill>
            <a:schemeClr val="accent4">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56" name="Text 11">
            <a:extLst>
              <a:ext uri="{FF2B5EF4-FFF2-40B4-BE49-F238E27FC236}">
                <a16:creationId xmlns:a16="http://schemas.microsoft.com/office/drawing/2014/main" id="{66107C3F-A7AD-1766-E089-075D36CEABEC}"/>
              </a:ext>
            </a:extLst>
          </p:cNvPr>
          <p:cNvSpPr/>
          <p:nvPr/>
        </p:nvSpPr>
        <p:spPr>
          <a:xfrm>
            <a:off x="4346036" y="1507936"/>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3</a:t>
            </a:r>
            <a:endParaRPr lang="en-US" sz="3200" b="1"/>
          </a:p>
        </p:txBody>
      </p:sp>
      <p:sp>
        <p:nvSpPr>
          <p:cNvPr id="57" name="Text 12">
            <a:extLst>
              <a:ext uri="{FF2B5EF4-FFF2-40B4-BE49-F238E27FC236}">
                <a16:creationId xmlns:a16="http://schemas.microsoft.com/office/drawing/2014/main" id="{EACAAAFD-95B0-F2FC-43DD-BFD9DE089B3E}"/>
              </a:ext>
            </a:extLst>
          </p:cNvPr>
          <p:cNvSpPr/>
          <p:nvPr/>
        </p:nvSpPr>
        <p:spPr>
          <a:xfrm>
            <a:off x="4346036" y="1809688"/>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FFFFFF"/>
                </a:solidFill>
                <a:ea typeface="+mn-lt"/>
                <a:cs typeface="+mn-lt"/>
              </a:rPr>
              <a:t>Hybrid Risk Prediction</a:t>
            </a:r>
            <a:br>
              <a:rPr lang="en-US" sz="1100" b="1" dirty="0">
                <a:solidFill>
                  <a:srgbClr val="FFFFFF"/>
                </a:solidFill>
                <a:ea typeface="+mn-lt"/>
                <a:cs typeface="+mn-lt"/>
              </a:rPr>
            </a:br>
            <a:r>
              <a:rPr lang="en-US" sz="1100" b="1">
                <a:solidFill>
                  <a:srgbClr val="FFFFFF"/>
                </a:solidFill>
                <a:ea typeface="+mn-lt"/>
                <a:cs typeface="+mn-lt"/>
              </a:rPr>
              <a:t> (ML + Nutrition Rules)</a:t>
            </a:r>
            <a:endParaRPr lang="en-US"/>
          </a:p>
        </p:txBody>
      </p:sp>
      <p:sp>
        <p:nvSpPr>
          <p:cNvPr id="58" name="Shape 13">
            <a:extLst>
              <a:ext uri="{FF2B5EF4-FFF2-40B4-BE49-F238E27FC236}">
                <a16:creationId xmlns:a16="http://schemas.microsoft.com/office/drawing/2014/main" id="{1B5570DE-1003-CAA5-68F6-2E919DDBE5F2}"/>
              </a:ext>
            </a:extLst>
          </p:cNvPr>
          <p:cNvSpPr/>
          <p:nvPr/>
        </p:nvSpPr>
        <p:spPr>
          <a:xfrm>
            <a:off x="5854796" y="1846264"/>
            <a:ext cx="201168" cy="146304"/>
          </a:xfrm>
          <a:prstGeom prst="rect">
            <a:avLst/>
          </a:prstGeom>
          <a:solidFill>
            <a:srgbClr val="4A6670"/>
          </a:solidFill>
          <a:ln/>
        </p:spPr>
        <p:txBody>
          <a:bodyPr/>
          <a:lstStyle/>
          <a:p>
            <a:endParaRPr lang="en-US" sz="2800" b="1"/>
          </a:p>
        </p:txBody>
      </p:sp>
      <p:sp>
        <p:nvSpPr>
          <p:cNvPr id="59" name="Shape 14">
            <a:extLst>
              <a:ext uri="{FF2B5EF4-FFF2-40B4-BE49-F238E27FC236}">
                <a16:creationId xmlns:a16="http://schemas.microsoft.com/office/drawing/2014/main" id="{AB6716DF-ABE5-89B4-4026-A9D941F8DF0F}"/>
              </a:ext>
            </a:extLst>
          </p:cNvPr>
          <p:cNvSpPr/>
          <p:nvPr/>
        </p:nvSpPr>
        <p:spPr>
          <a:xfrm>
            <a:off x="6065108" y="1462216"/>
            <a:ext cx="1611732" cy="914400"/>
          </a:xfrm>
          <a:prstGeom prst="rect">
            <a:avLst/>
          </a:prstGeom>
          <a:solidFill>
            <a:schemeClr val="accent4">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60" name="Text 15">
            <a:extLst>
              <a:ext uri="{FF2B5EF4-FFF2-40B4-BE49-F238E27FC236}">
                <a16:creationId xmlns:a16="http://schemas.microsoft.com/office/drawing/2014/main" id="{003B093F-E262-A565-EDBC-6D13CD6901BA}"/>
              </a:ext>
            </a:extLst>
          </p:cNvPr>
          <p:cNvSpPr/>
          <p:nvPr/>
        </p:nvSpPr>
        <p:spPr>
          <a:xfrm>
            <a:off x="6065108" y="1507936"/>
            <a:ext cx="1611732"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4</a:t>
            </a:r>
            <a:endParaRPr lang="en-US" sz="3200" b="1"/>
          </a:p>
        </p:txBody>
      </p:sp>
      <p:sp>
        <p:nvSpPr>
          <p:cNvPr id="61" name="Text 16">
            <a:extLst>
              <a:ext uri="{FF2B5EF4-FFF2-40B4-BE49-F238E27FC236}">
                <a16:creationId xmlns:a16="http://schemas.microsoft.com/office/drawing/2014/main" id="{1B7F1D7D-F2D6-37B5-DBDC-38ED7635ABA1}"/>
              </a:ext>
            </a:extLst>
          </p:cNvPr>
          <p:cNvSpPr/>
          <p:nvPr/>
        </p:nvSpPr>
        <p:spPr>
          <a:xfrm>
            <a:off x="5848867" y="1840579"/>
            <a:ext cx="2023622" cy="53381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FFFFFF"/>
                </a:solidFill>
                <a:ea typeface="+mn-lt"/>
                <a:cs typeface="+mn-lt"/>
              </a:rPr>
              <a:t>2 Weeks Projection</a:t>
            </a:r>
            <a:br>
              <a:rPr lang="en-US" sz="1100" b="1" dirty="0">
                <a:solidFill>
                  <a:srgbClr val="FFFFFF"/>
                </a:solidFill>
                <a:ea typeface="+mn-lt"/>
                <a:cs typeface="+mn-lt"/>
              </a:rPr>
            </a:br>
            <a:r>
              <a:rPr lang="en-US" sz="1100" b="1" dirty="0">
                <a:solidFill>
                  <a:srgbClr val="FFFFFF"/>
                </a:solidFill>
                <a:ea typeface="+mn-lt"/>
                <a:cs typeface="+mn-lt"/>
              </a:rPr>
              <a:t> (Pattern-Based Forecast)</a:t>
            </a:r>
            <a:endParaRPr lang="en-US" dirty="0"/>
          </a:p>
        </p:txBody>
      </p:sp>
      <p:sp>
        <p:nvSpPr>
          <p:cNvPr id="62" name="Shape 17">
            <a:extLst>
              <a:ext uri="{FF2B5EF4-FFF2-40B4-BE49-F238E27FC236}">
                <a16:creationId xmlns:a16="http://schemas.microsoft.com/office/drawing/2014/main" id="{E94181F3-D0A7-2B18-BB59-08C9552BAD8F}"/>
              </a:ext>
            </a:extLst>
          </p:cNvPr>
          <p:cNvSpPr/>
          <p:nvPr/>
        </p:nvSpPr>
        <p:spPr>
          <a:xfrm>
            <a:off x="7666544" y="1846264"/>
            <a:ext cx="201168" cy="146304"/>
          </a:xfrm>
          <a:prstGeom prst="rect">
            <a:avLst/>
          </a:prstGeom>
          <a:solidFill>
            <a:srgbClr val="4A6670"/>
          </a:solidFill>
          <a:ln/>
        </p:spPr>
        <p:txBody>
          <a:bodyPr/>
          <a:lstStyle/>
          <a:p>
            <a:endParaRPr lang="en-US" sz="2800" b="1"/>
          </a:p>
        </p:txBody>
      </p:sp>
      <p:sp>
        <p:nvSpPr>
          <p:cNvPr id="63" name="Shape 18">
            <a:extLst>
              <a:ext uri="{FF2B5EF4-FFF2-40B4-BE49-F238E27FC236}">
                <a16:creationId xmlns:a16="http://schemas.microsoft.com/office/drawing/2014/main" id="{059F4FED-47B3-9F3A-B6D6-530F47EB68B2}"/>
              </a:ext>
            </a:extLst>
          </p:cNvPr>
          <p:cNvSpPr/>
          <p:nvPr/>
        </p:nvSpPr>
        <p:spPr>
          <a:xfrm>
            <a:off x="7876856" y="1451919"/>
            <a:ext cx="1508760" cy="914400"/>
          </a:xfrm>
          <a:prstGeom prst="rect">
            <a:avLst/>
          </a:prstGeom>
          <a:solidFill>
            <a:schemeClr val="accent4">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64" name="Text 19">
            <a:extLst>
              <a:ext uri="{FF2B5EF4-FFF2-40B4-BE49-F238E27FC236}">
                <a16:creationId xmlns:a16="http://schemas.microsoft.com/office/drawing/2014/main" id="{8D6DBCFF-D2F7-BD1C-C7FC-255F80F87D5D}"/>
              </a:ext>
            </a:extLst>
          </p:cNvPr>
          <p:cNvSpPr/>
          <p:nvPr/>
        </p:nvSpPr>
        <p:spPr>
          <a:xfrm>
            <a:off x="7876856" y="1497639"/>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5</a:t>
            </a:r>
            <a:endParaRPr lang="en-US" sz="3200" b="1"/>
          </a:p>
        </p:txBody>
      </p:sp>
      <p:sp>
        <p:nvSpPr>
          <p:cNvPr id="65" name="Text 20">
            <a:extLst>
              <a:ext uri="{FF2B5EF4-FFF2-40B4-BE49-F238E27FC236}">
                <a16:creationId xmlns:a16="http://schemas.microsoft.com/office/drawing/2014/main" id="{55DBC7E4-B0AE-7859-3136-5B0F96EA4D2D}"/>
              </a:ext>
            </a:extLst>
          </p:cNvPr>
          <p:cNvSpPr/>
          <p:nvPr/>
        </p:nvSpPr>
        <p:spPr>
          <a:xfrm>
            <a:off x="7876856" y="1799391"/>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FFFFFF"/>
                </a:solidFill>
                <a:ea typeface="+mn-lt"/>
                <a:cs typeface="+mn-lt"/>
              </a:rPr>
              <a:t>Deficiency Insights</a:t>
            </a:r>
            <a:br>
              <a:rPr lang="en-US" sz="1100" b="1" dirty="0">
                <a:solidFill>
                  <a:srgbClr val="FFFFFF"/>
                </a:solidFill>
                <a:ea typeface="+mn-lt"/>
                <a:cs typeface="+mn-lt"/>
              </a:rPr>
            </a:br>
            <a:r>
              <a:rPr lang="en-US" sz="1100" b="1">
                <a:solidFill>
                  <a:srgbClr val="FFFFFF"/>
                </a:solidFill>
                <a:ea typeface="+mn-lt"/>
                <a:cs typeface="+mn-lt"/>
              </a:rPr>
              <a:t> (Nutrient-Level Risk Analysis)</a:t>
            </a:r>
            <a:endParaRPr lang="en-US"/>
          </a:p>
        </p:txBody>
      </p:sp>
      <p:sp>
        <p:nvSpPr>
          <p:cNvPr id="67" name="Shape 22">
            <a:extLst>
              <a:ext uri="{FF2B5EF4-FFF2-40B4-BE49-F238E27FC236}">
                <a16:creationId xmlns:a16="http://schemas.microsoft.com/office/drawing/2014/main" id="{B0E29977-B867-70B9-2E37-42903BA2BBAF}"/>
              </a:ext>
            </a:extLst>
          </p:cNvPr>
          <p:cNvSpPr/>
          <p:nvPr/>
        </p:nvSpPr>
        <p:spPr>
          <a:xfrm>
            <a:off x="906025" y="2624612"/>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68" name="Text 23">
            <a:extLst>
              <a:ext uri="{FF2B5EF4-FFF2-40B4-BE49-F238E27FC236}">
                <a16:creationId xmlns:a16="http://schemas.microsoft.com/office/drawing/2014/main" id="{15E7343D-2469-F2EB-67CE-1177B44831F4}"/>
              </a:ext>
            </a:extLst>
          </p:cNvPr>
          <p:cNvSpPr/>
          <p:nvPr/>
        </p:nvSpPr>
        <p:spPr>
          <a:xfrm>
            <a:off x="906025" y="2670333"/>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libri"/>
                <a:ea typeface="Calibri"/>
                <a:cs typeface="Calibri"/>
              </a:rPr>
              <a:t>15</a:t>
            </a:r>
            <a:endParaRPr lang="en-US" sz="3200">
              <a:solidFill>
                <a:schemeClr val="accent1">
                  <a:lumMod val="50000"/>
                </a:schemeClr>
              </a:solidFill>
              <a:latin typeface="Cambria"/>
              <a:ea typeface="Cambria"/>
              <a:cs typeface="Calibri"/>
            </a:endParaRPr>
          </a:p>
        </p:txBody>
      </p:sp>
      <p:sp>
        <p:nvSpPr>
          <p:cNvPr id="69" name="Text 24">
            <a:extLst>
              <a:ext uri="{FF2B5EF4-FFF2-40B4-BE49-F238E27FC236}">
                <a16:creationId xmlns:a16="http://schemas.microsoft.com/office/drawing/2014/main" id="{FB96E291-001E-EF33-228C-09A48460EA4E}"/>
              </a:ext>
            </a:extLst>
          </p:cNvPr>
          <p:cNvSpPr/>
          <p:nvPr/>
        </p:nvSpPr>
        <p:spPr>
          <a:xfrm>
            <a:off x="906025" y="3261424"/>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rgbClr val="FFFFFF"/>
                </a:solidFill>
                <a:ea typeface="+mn-lt"/>
                <a:cs typeface="+mn-lt"/>
              </a:rPr>
              <a:t>ML Features Used</a:t>
            </a:r>
            <a:endParaRPr lang="en-US" b="1"/>
          </a:p>
        </p:txBody>
      </p:sp>
      <p:sp>
        <p:nvSpPr>
          <p:cNvPr id="70" name="Shape 25">
            <a:extLst>
              <a:ext uri="{FF2B5EF4-FFF2-40B4-BE49-F238E27FC236}">
                <a16:creationId xmlns:a16="http://schemas.microsoft.com/office/drawing/2014/main" id="{2D22AC4C-081F-8016-BE35-0D4D63FC342C}"/>
              </a:ext>
            </a:extLst>
          </p:cNvPr>
          <p:cNvSpPr/>
          <p:nvPr/>
        </p:nvSpPr>
        <p:spPr>
          <a:xfrm>
            <a:off x="3515335" y="2618885"/>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1" name="Text 26">
            <a:extLst>
              <a:ext uri="{FF2B5EF4-FFF2-40B4-BE49-F238E27FC236}">
                <a16:creationId xmlns:a16="http://schemas.microsoft.com/office/drawing/2014/main" id="{1984BCD0-8F30-5925-87BF-F879C2A83BC4}"/>
              </a:ext>
            </a:extLst>
          </p:cNvPr>
          <p:cNvSpPr/>
          <p:nvPr/>
        </p:nvSpPr>
        <p:spPr>
          <a:xfrm>
            <a:off x="3515335" y="2664606"/>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chemeClr val="accent1">
                    <a:lumMod val="50000"/>
                  </a:schemeClr>
                </a:solidFill>
                <a:latin typeface="Cambria"/>
                <a:ea typeface="Cambria"/>
                <a:cs typeface="Calibri"/>
              </a:rPr>
              <a:t>84.38</a:t>
            </a:r>
            <a:r>
              <a:rPr lang="en-US" sz="3200" b="1">
                <a:solidFill>
                  <a:schemeClr val="accent1">
                    <a:lumMod val="50000"/>
                  </a:schemeClr>
                </a:solidFill>
                <a:ea typeface="+mn-lt"/>
                <a:cs typeface="+mn-lt"/>
              </a:rPr>
              <a:t>%</a:t>
            </a:r>
            <a:endParaRPr lang="en-US" sz="3200" b="1">
              <a:solidFill>
                <a:schemeClr val="accent1">
                  <a:lumMod val="50000"/>
                </a:schemeClr>
              </a:solidFill>
            </a:endParaRPr>
          </a:p>
        </p:txBody>
      </p:sp>
      <p:sp>
        <p:nvSpPr>
          <p:cNvPr id="72" name="Text 27">
            <a:extLst>
              <a:ext uri="{FF2B5EF4-FFF2-40B4-BE49-F238E27FC236}">
                <a16:creationId xmlns:a16="http://schemas.microsoft.com/office/drawing/2014/main" id="{B62FBFE1-FDF9-7783-8FF6-307F70BB8722}"/>
              </a:ext>
            </a:extLst>
          </p:cNvPr>
          <p:cNvSpPr/>
          <p:nvPr/>
        </p:nvSpPr>
        <p:spPr>
          <a:xfrm>
            <a:off x="3515335" y="3255697"/>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rgbClr val="FFFFFF"/>
                </a:solidFill>
                <a:ea typeface="+mn-lt"/>
                <a:cs typeface="+mn-lt"/>
              </a:rPr>
              <a:t>Overall Model Accuracy</a:t>
            </a:r>
            <a:endParaRPr lang="en-US" b="1"/>
          </a:p>
        </p:txBody>
      </p:sp>
      <p:sp>
        <p:nvSpPr>
          <p:cNvPr id="73" name="Shape 28">
            <a:extLst>
              <a:ext uri="{FF2B5EF4-FFF2-40B4-BE49-F238E27FC236}">
                <a16:creationId xmlns:a16="http://schemas.microsoft.com/office/drawing/2014/main" id="{A6AEDDCB-0255-C026-2E5E-4B5B865AEFE2}"/>
              </a:ext>
            </a:extLst>
          </p:cNvPr>
          <p:cNvSpPr/>
          <p:nvPr/>
        </p:nvSpPr>
        <p:spPr>
          <a:xfrm>
            <a:off x="6157239" y="2615513"/>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4" name="Text 29">
            <a:extLst>
              <a:ext uri="{FF2B5EF4-FFF2-40B4-BE49-F238E27FC236}">
                <a16:creationId xmlns:a16="http://schemas.microsoft.com/office/drawing/2014/main" id="{A54B4C90-796C-C21A-2663-DB28961E0230}"/>
              </a:ext>
            </a:extLst>
          </p:cNvPr>
          <p:cNvSpPr/>
          <p:nvPr/>
        </p:nvSpPr>
        <p:spPr>
          <a:xfrm>
            <a:off x="6157239" y="2661234"/>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a:solidFill>
                  <a:schemeClr val="accent1">
                    <a:lumMod val="50000"/>
                  </a:schemeClr>
                </a:solidFill>
                <a:ea typeface="+mn-lt"/>
                <a:cs typeface="+mn-lt"/>
              </a:rPr>
              <a:t>0.8446</a:t>
            </a:r>
          </a:p>
        </p:txBody>
      </p:sp>
      <p:sp>
        <p:nvSpPr>
          <p:cNvPr id="75" name="Text 30">
            <a:extLst>
              <a:ext uri="{FF2B5EF4-FFF2-40B4-BE49-F238E27FC236}">
                <a16:creationId xmlns:a16="http://schemas.microsoft.com/office/drawing/2014/main" id="{CC597384-65D7-3526-7133-8A4417A8602C}"/>
              </a:ext>
            </a:extLst>
          </p:cNvPr>
          <p:cNvSpPr/>
          <p:nvPr/>
        </p:nvSpPr>
        <p:spPr>
          <a:xfrm>
            <a:off x="6157239" y="3252325"/>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rgbClr val="FFFFFF"/>
                </a:solidFill>
                <a:ea typeface="+mn-lt"/>
                <a:cs typeface="+mn-lt"/>
              </a:rPr>
              <a:t>Weighted F1 Score</a:t>
            </a:r>
            <a:endParaRPr lang="en-US" b="1"/>
          </a:p>
        </p:txBody>
      </p:sp>
      <p:sp>
        <p:nvSpPr>
          <p:cNvPr id="76" name="Shape 31">
            <a:extLst>
              <a:ext uri="{FF2B5EF4-FFF2-40B4-BE49-F238E27FC236}">
                <a16:creationId xmlns:a16="http://schemas.microsoft.com/office/drawing/2014/main" id="{66376E96-BB25-37C1-1331-D97EC4A40181}"/>
              </a:ext>
            </a:extLst>
          </p:cNvPr>
          <p:cNvSpPr/>
          <p:nvPr/>
        </p:nvSpPr>
        <p:spPr>
          <a:xfrm>
            <a:off x="8788154" y="2615513"/>
            <a:ext cx="2478237" cy="1301899"/>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US" sz="2400"/>
          </a:p>
        </p:txBody>
      </p:sp>
      <p:sp>
        <p:nvSpPr>
          <p:cNvPr id="77" name="Text 32">
            <a:extLst>
              <a:ext uri="{FF2B5EF4-FFF2-40B4-BE49-F238E27FC236}">
                <a16:creationId xmlns:a16="http://schemas.microsoft.com/office/drawing/2014/main" id="{323DB980-41BC-F3B7-5A4D-15204AFCD136}"/>
              </a:ext>
            </a:extLst>
          </p:cNvPr>
          <p:cNvSpPr/>
          <p:nvPr/>
        </p:nvSpPr>
        <p:spPr>
          <a:xfrm>
            <a:off x="8788154" y="2661234"/>
            <a:ext cx="2478237" cy="650950"/>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a:solidFill>
                  <a:schemeClr val="accent1">
                    <a:lumMod val="50000"/>
                  </a:schemeClr>
                </a:solidFill>
                <a:ea typeface="+mn-lt"/>
                <a:cs typeface="+mn-lt"/>
              </a:rPr>
              <a:t>4 Nutrients</a:t>
            </a:r>
            <a:endParaRPr lang="en-US" b="1">
              <a:solidFill>
                <a:schemeClr val="accent1">
                  <a:lumMod val="50000"/>
                </a:schemeClr>
              </a:solidFill>
            </a:endParaRPr>
          </a:p>
        </p:txBody>
      </p:sp>
      <p:sp>
        <p:nvSpPr>
          <p:cNvPr id="78" name="Text 33">
            <a:extLst>
              <a:ext uri="{FF2B5EF4-FFF2-40B4-BE49-F238E27FC236}">
                <a16:creationId xmlns:a16="http://schemas.microsoft.com/office/drawing/2014/main" id="{597051C1-BAE5-75AC-30F8-84F76F26FBF7}"/>
              </a:ext>
            </a:extLst>
          </p:cNvPr>
          <p:cNvSpPr/>
          <p:nvPr/>
        </p:nvSpPr>
        <p:spPr>
          <a:xfrm>
            <a:off x="8788154" y="3252325"/>
            <a:ext cx="2478237" cy="497089"/>
          </a:xfrm>
          <a:prstGeom prst="rect">
            <a:avLst/>
          </a:prstGeom>
          <a:solidFill>
            <a:schemeClr val="bg2">
              <a:lumMod val="50000"/>
            </a:schemeClr>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a:solidFill>
                  <a:srgbClr val="FFFFFF"/>
                </a:solidFill>
                <a:ea typeface="+mn-lt"/>
                <a:cs typeface="+mn-lt"/>
              </a:rPr>
              <a:t>Nutrient-Level Risk Models</a:t>
            </a:r>
            <a:endParaRPr lang="en-US" b="1">
              <a:ea typeface="Cambria"/>
            </a:endParaRPr>
          </a:p>
        </p:txBody>
      </p:sp>
      <p:sp>
        <p:nvSpPr>
          <p:cNvPr id="40" name="TextBox 39">
            <a:extLst>
              <a:ext uri="{FF2B5EF4-FFF2-40B4-BE49-F238E27FC236}">
                <a16:creationId xmlns:a16="http://schemas.microsoft.com/office/drawing/2014/main" id="{332E04F4-86A8-18A9-5638-8925ED9F97CA}"/>
              </a:ext>
            </a:extLst>
          </p:cNvPr>
          <p:cNvSpPr txBox="1"/>
          <p:nvPr/>
        </p:nvSpPr>
        <p:spPr>
          <a:xfrm>
            <a:off x="928222" y="534574"/>
            <a:ext cx="9244435" cy="769441"/>
          </a:xfrm>
          <a:prstGeom prst="rect">
            <a:avLst/>
          </a:prstGeom>
          <a:noFill/>
        </p:spPr>
        <p:txBody>
          <a:bodyPr wrap="square" lIns="91440" tIns="45720" rIns="91440" bIns="45720" anchor="t">
            <a:spAutoFit/>
          </a:bodyPr>
          <a:lstStyle/>
          <a:p>
            <a:r>
              <a:rPr lang="en-US" sz="4400" b="1">
                <a:solidFill>
                  <a:srgbClr val="42A187"/>
                </a:solidFill>
                <a:latin typeface="Calibri"/>
                <a:ea typeface="Calibri"/>
                <a:cs typeface="Calibri"/>
              </a:rPr>
              <a:t>Nutritional Guidance </a:t>
            </a:r>
            <a:endParaRPr lang="en-US" sz="4400">
              <a:solidFill>
                <a:srgbClr val="42A187"/>
              </a:solidFill>
              <a:ea typeface="Cambria"/>
            </a:endParaRPr>
          </a:p>
        </p:txBody>
      </p:sp>
      <p:pic>
        <p:nvPicPr>
          <p:cNvPr id="2" name="Picture 1" descr="A person in a suit and tie&#10;&#10;AI-generated content may be incorrect.">
            <a:extLst>
              <a:ext uri="{FF2B5EF4-FFF2-40B4-BE49-F238E27FC236}">
                <a16:creationId xmlns:a16="http://schemas.microsoft.com/office/drawing/2014/main" id="{726F7D1D-E8D1-6C5C-4D89-4ABEDC7694D7}"/>
              </a:ext>
            </a:extLst>
          </p:cNvPr>
          <p:cNvPicPr>
            <a:picLocks noChangeAspect="1"/>
          </p:cNvPicPr>
          <p:nvPr/>
        </p:nvPicPr>
        <p:blipFill>
          <a:blip r:embed="rId3"/>
          <a:stretch>
            <a:fillRect/>
          </a:stretch>
        </p:blipFill>
        <p:spPr>
          <a:xfrm>
            <a:off x="10054666" y="111853"/>
            <a:ext cx="2132828" cy="2330021"/>
          </a:xfrm>
          <a:prstGeom prst="rect">
            <a:avLst/>
          </a:prstGeom>
        </p:spPr>
      </p:pic>
      <p:sp>
        <p:nvSpPr>
          <p:cNvPr id="10" name="Shape 40">
            <a:extLst>
              <a:ext uri="{FF2B5EF4-FFF2-40B4-BE49-F238E27FC236}">
                <a16:creationId xmlns:a16="http://schemas.microsoft.com/office/drawing/2014/main" id="{FA2F49F4-E2C5-1846-7718-866F613C25E1}"/>
              </a:ext>
            </a:extLst>
          </p:cNvPr>
          <p:cNvSpPr/>
          <p:nvPr/>
        </p:nvSpPr>
        <p:spPr>
          <a:xfrm>
            <a:off x="345989" y="4092227"/>
            <a:ext cx="11602995" cy="2332543"/>
          </a:xfrm>
          <a:prstGeom prst="rect">
            <a:avLst/>
          </a:prstGeom>
          <a:solidFill>
            <a:srgbClr val="E8F7FF"/>
          </a:solidFill>
          <a:ln w="1905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12" name="Text 41">
            <a:extLst>
              <a:ext uri="{FF2B5EF4-FFF2-40B4-BE49-F238E27FC236}">
                <a16:creationId xmlns:a16="http://schemas.microsoft.com/office/drawing/2014/main" id="{4FA564D2-14D6-886A-7F7E-5090A693775E}"/>
              </a:ext>
            </a:extLst>
          </p:cNvPr>
          <p:cNvSpPr/>
          <p:nvPr/>
        </p:nvSpPr>
        <p:spPr>
          <a:xfrm>
            <a:off x="473594" y="4091404"/>
            <a:ext cx="11288721" cy="38635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005F7A"/>
                </a:solidFill>
              </a:rPr>
              <a:t>Hybrid Intelligence Architecture</a:t>
            </a:r>
            <a:endParaRPr lang="en-US" sz="2000" dirty="0">
              <a:ea typeface="Cambria"/>
            </a:endParaRPr>
          </a:p>
        </p:txBody>
      </p:sp>
      <p:sp>
        <p:nvSpPr>
          <p:cNvPr id="14" name="Text 42">
            <a:extLst>
              <a:ext uri="{FF2B5EF4-FFF2-40B4-BE49-F238E27FC236}">
                <a16:creationId xmlns:a16="http://schemas.microsoft.com/office/drawing/2014/main" id="{BA0B2CA7-C7AC-F4D4-6931-7941F4C551A4}"/>
              </a:ext>
            </a:extLst>
          </p:cNvPr>
          <p:cNvSpPr/>
          <p:nvPr/>
        </p:nvSpPr>
        <p:spPr>
          <a:xfrm>
            <a:off x="360323" y="4401064"/>
            <a:ext cx="5486401" cy="1835389"/>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b="1" dirty="0">
                <a:solidFill>
                  <a:srgbClr val="007B9E"/>
                </a:solidFill>
              </a:rPr>
              <a:t>Requirement</a:t>
            </a:r>
            <a:r>
              <a:rPr lang="en-US" sz="1600" b="1" dirty="0">
                <a:solidFill>
                  <a:srgbClr val="007B9E"/>
                </a:solidFill>
                <a:ea typeface="+mn-lt"/>
                <a:cs typeface="+mn-lt"/>
              </a:rPr>
              <a:t> Engine</a:t>
            </a:r>
            <a:r>
              <a:rPr lang="en-US" sz="1600" b="1" dirty="0">
                <a:solidFill>
                  <a:srgbClr val="007B9E"/>
                </a:solidFill>
              </a:rPr>
              <a:t> </a:t>
            </a:r>
            <a:r>
              <a:rPr lang="en-US" sz="1600" b="1" dirty="0">
                <a:solidFill>
                  <a:srgbClr val="007B9E"/>
                </a:solidFill>
                <a:ea typeface="+mn-lt"/>
                <a:cs typeface="+mn-lt"/>
              </a:rPr>
              <a:t>- </a:t>
            </a:r>
            <a:r>
              <a:rPr lang="en-US" sz="1600" dirty="0">
                <a:solidFill>
                  <a:srgbClr val="000000"/>
                </a:solidFill>
                <a:ea typeface="+mn-lt"/>
                <a:cs typeface="+mn-lt"/>
              </a:rPr>
              <a:t>Age &amp; gender-based nutrient requirements derived from Sri Lankan nutritional standards</a:t>
            </a:r>
            <a:r>
              <a:rPr lang="en-US" sz="1600" dirty="0">
                <a:solidFill>
                  <a:srgbClr val="000000"/>
                </a:solidFill>
              </a:rPr>
              <a:t>
</a:t>
            </a:r>
            <a:r>
              <a:rPr lang="en-US" sz="1600" b="1" dirty="0">
                <a:solidFill>
                  <a:srgbClr val="007B9E"/>
                </a:solidFill>
              </a:rPr>
              <a:t>Feature</a:t>
            </a:r>
            <a:r>
              <a:rPr lang="en-US" sz="1600" b="1">
                <a:solidFill>
                  <a:srgbClr val="007B9E"/>
                </a:solidFill>
              </a:rPr>
              <a:t> Engineering Layer</a:t>
            </a:r>
            <a:r>
              <a:rPr lang="en-US" sz="1600" b="1" dirty="0">
                <a:solidFill>
                  <a:srgbClr val="007B9E"/>
                </a:solidFill>
              </a:rPr>
              <a:t> </a:t>
            </a:r>
            <a:r>
              <a:rPr lang="en-US" sz="1600" b="1">
                <a:solidFill>
                  <a:srgbClr val="007B9E"/>
                </a:solidFill>
                <a:ea typeface="+mn-lt"/>
                <a:cs typeface="+mn-lt"/>
              </a:rPr>
              <a:t>- </a:t>
            </a:r>
            <a:r>
              <a:rPr lang="en-US" sz="1600">
                <a:ea typeface="+mn-lt"/>
                <a:cs typeface="+mn-lt"/>
              </a:rPr>
              <a:t>Transforms user intake into </a:t>
            </a:r>
            <a:r>
              <a:rPr lang="en-US" sz="1600" dirty="0">
                <a:ea typeface="+mn-lt"/>
                <a:cs typeface="+mn-lt"/>
              </a:rPr>
              <a:t>nutrient adequacy ratios (intake ÷ requirement) for model input</a:t>
            </a:r>
          </a:p>
          <a:p>
            <a:r>
              <a:rPr lang="en-US" sz="1600" b="1" dirty="0">
                <a:solidFill>
                  <a:srgbClr val="007B9E"/>
                </a:solidFill>
                <a:ea typeface="Cambria"/>
              </a:rPr>
              <a:t>ML</a:t>
            </a:r>
            <a:r>
              <a:rPr lang="en-US" sz="1600" b="1">
                <a:solidFill>
                  <a:srgbClr val="007B9E"/>
                </a:solidFill>
                <a:ea typeface="+mn-lt"/>
                <a:cs typeface="+mn-lt"/>
              </a:rPr>
              <a:t> Risk Model - </a:t>
            </a:r>
            <a:r>
              <a:rPr lang="en-US" sz="1600">
                <a:ea typeface="+mn-lt"/>
                <a:cs typeface="+mn-lt"/>
              </a:rPr>
              <a:t>Gradient Boosting classifier trained on requirement-based simulated dataset with controlled variability</a:t>
            </a:r>
            <a:br>
              <a:rPr lang="en-US" sz="1600" b="1" dirty="0">
                <a:ea typeface="+mn-lt"/>
                <a:cs typeface="+mn-lt"/>
              </a:rPr>
            </a:br>
            <a:endParaRPr lang="en-US" sz="1600" b="1" dirty="0">
              <a:solidFill>
                <a:srgbClr val="007B9E"/>
              </a:solidFill>
              <a:ea typeface="+mn-lt"/>
              <a:cs typeface="+mn-lt"/>
            </a:endParaRPr>
          </a:p>
        </p:txBody>
      </p:sp>
      <p:sp>
        <p:nvSpPr>
          <p:cNvPr id="16" name="Text 43">
            <a:extLst>
              <a:ext uri="{FF2B5EF4-FFF2-40B4-BE49-F238E27FC236}">
                <a16:creationId xmlns:a16="http://schemas.microsoft.com/office/drawing/2014/main" id="{AF47CC66-3CF1-0E53-64F5-58EF9F91A088}"/>
              </a:ext>
            </a:extLst>
          </p:cNvPr>
          <p:cNvSpPr/>
          <p:nvPr/>
        </p:nvSpPr>
        <p:spPr>
          <a:xfrm>
            <a:off x="6096000" y="4483442"/>
            <a:ext cx="5506994" cy="1464688"/>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b="1" dirty="0">
                <a:solidFill>
                  <a:srgbClr val="007B9E"/>
                </a:solidFill>
              </a:rPr>
              <a:t>Nutrient</a:t>
            </a:r>
            <a:r>
              <a:rPr lang="en-US" sz="1600" b="1" dirty="0">
                <a:solidFill>
                  <a:srgbClr val="007B9E"/>
                </a:solidFill>
                <a:ea typeface="+mn-lt"/>
                <a:cs typeface="+mn-lt"/>
              </a:rPr>
              <a:t> Risk Models</a:t>
            </a:r>
            <a:r>
              <a:rPr lang="en-US" sz="1600" b="1" dirty="0">
                <a:solidFill>
                  <a:srgbClr val="007B9E"/>
                </a:solidFill>
              </a:rPr>
              <a:t> - </a:t>
            </a:r>
            <a:r>
              <a:rPr lang="en-US" sz="1600" dirty="0">
                <a:ea typeface="+mn-lt"/>
                <a:cs typeface="+mn-lt"/>
              </a:rPr>
              <a:t>Separate ML models for Energy, Protein, Calcium, and Iron deficiency prediction</a:t>
            </a:r>
            <a:r>
              <a:rPr lang="en-US" sz="1600" dirty="0">
                <a:solidFill>
                  <a:srgbClr val="000000"/>
                </a:solidFill>
              </a:rPr>
              <a:t>
</a:t>
            </a:r>
            <a:r>
              <a:rPr lang="en-US" sz="1600" b="1" dirty="0">
                <a:solidFill>
                  <a:srgbClr val="007B9E"/>
                </a:solidFill>
              </a:rPr>
              <a:t>Projection</a:t>
            </a:r>
            <a:r>
              <a:rPr lang="en-US" sz="1600" b="1" dirty="0">
                <a:solidFill>
                  <a:srgbClr val="007B9E"/>
                </a:solidFill>
                <a:ea typeface="+mn-lt"/>
                <a:cs typeface="+mn-lt"/>
              </a:rPr>
              <a:t> Engine</a:t>
            </a:r>
            <a:r>
              <a:rPr lang="en-US" sz="1600" b="1" dirty="0">
                <a:solidFill>
                  <a:srgbClr val="007B9E"/>
                </a:solidFill>
              </a:rPr>
              <a:t> - </a:t>
            </a:r>
            <a:r>
              <a:rPr lang="en-US" sz="1600">
                <a:ea typeface="+mn-lt"/>
                <a:cs typeface="+mn-lt"/>
              </a:rPr>
              <a:t>14-day intake projection based on </a:t>
            </a:r>
            <a:r>
              <a:rPr lang="en-US" sz="1600" dirty="0">
                <a:ea typeface="+mn-lt"/>
                <a:cs typeface="+mn-lt"/>
              </a:rPr>
              <a:t>user consumption patterns</a:t>
            </a:r>
          </a:p>
          <a:p>
            <a:r>
              <a:rPr lang="en-US" sz="1600" b="1">
                <a:solidFill>
                  <a:srgbClr val="007B9E"/>
                </a:solidFill>
                <a:ea typeface="Cambria"/>
              </a:rPr>
              <a:t>Data</a:t>
            </a:r>
            <a:r>
              <a:rPr lang="en-US" sz="1600" b="1">
                <a:solidFill>
                  <a:srgbClr val="007B9E"/>
                </a:solidFill>
                <a:ea typeface="+mn-lt"/>
                <a:cs typeface="+mn-lt"/>
              </a:rPr>
              <a:t> Realism Layer - </a:t>
            </a:r>
            <a:r>
              <a:rPr lang="en-US" sz="1600">
                <a:ea typeface="+mn-lt"/>
                <a:cs typeface="+mn-lt"/>
              </a:rPr>
              <a:t>Measurement noise injection to simulate real-world food logging inaccuracie</a:t>
            </a:r>
            <a:r>
              <a:rPr lang="en-US" sz="1600">
                <a:solidFill>
                  <a:srgbClr val="007B9E"/>
                </a:solidFill>
                <a:ea typeface="+mn-lt"/>
                <a:cs typeface="+mn-lt"/>
              </a:rPr>
              <a:t>s</a:t>
            </a:r>
            <a:br>
              <a:rPr lang="en-US" sz="1600" b="1" dirty="0">
                <a:solidFill>
                  <a:srgbClr val="007B9E"/>
                </a:solidFill>
                <a:ea typeface="+mn-lt"/>
                <a:cs typeface="+mn-lt"/>
              </a:rPr>
            </a:br>
            <a:endParaRPr lang="en-US" sz="1600" b="1" dirty="0">
              <a:solidFill>
                <a:srgbClr val="007B9E"/>
              </a:solidFill>
              <a:ea typeface="+mn-lt"/>
              <a:cs typeface="+mn-lt"/>
            </a:endParaRPr>
          </a:p>
        </p:txBody>
      </p:sp>
      <p:sp>
        <p:nvSpPr>
          <p:cNvPr id="18" name="Shape 44">
            <a:extLst>
              <a:ext uri="{FF2B5EF4-FFF2-40B4-BE49-F238E27FC236}">
                <a16:creationId xmlns:a16="http://schemas.microsoft.com/office/drawing/2014/main" id="{6708D4CC-2771-1D54-6CF3-0ABEE9AD75E7}"/>
              </a:ext>
            </a:extLst>
          </p:cNvPr>
          <p:cNvSpPr/>
          <p:nvPr/>
        </p:nvSpPr>
        <p:spPr>
          <a:xfrm>
            <a:off x="5902823" y="4481878"/>
            <a:ext cx="20594" cy="1841567"/>
          </a:xfrm>
          <a:prstGeom prst="line">
            <a:avLst/>
          </a:prstGeom>
          <a:noFill/>
          <a:ln w="12700">
            <a:solidFill>
              <a:srgbClr val="99D5E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Tree>
    <p:extLst>
      <p:ext uri="{BB962C8B-B14F-4D97-AF65-F5344CB8AC3E}">
        <p14:creationId xmlns:p14="http://schemas.microsoft.com/office/powerpoint/2010/main" val="3621142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AEF6-819A-0392-350A-4C2F4CBEFE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D7FBF7-02B6-B891-6508-3B3063393B4D}"/>
              </a:ext>
            </a:extLst>
          </p:cNvPr>
          <p:cNvSpPr>
            <a:spLocks noGrp="1"/>
          </p:cNvSpPr>
          <p:nvPr>
            <p:ph type="title"/>
          </p:nvPr>
        </p:nvSpPr>
        <p:spPr>
          <a:xfrm>
            <a:off x="76200" y="1"/>
            <a:ext cx="7723716" cy="533400"/>
          </a:xfrm>
        </p:spPr>
        <p:txBody>
          <a:bodyPr>
            <a:normAutofit fontScale="90000"/>
          </a:bodyPr>
          <a:lstStyle/>
          <a:p>
            <a:r>
              <a:rPr lang="en-US" sz="3200" dirty="0">
                <a:latin typeface="Adobe Devanagari"/>
              </a:rPr>
              <a:t>IT22339010 |  </a:t>
            </a:r>
            <a:r>
              <a:rPr lang="en-US" sz="3200" dirty="0" err="1">
                <a:latin typeface="Adobe Devanagari"/>
              </a:rPr>
              <a:t>Muraleswaran</a:t>
            </a:r>
            <a:r>
              <a:rPr lang="en-US" sz="3200" dirty="0">
                <a:latin typeface="Adobe Devanagari"/>
              </a:rPr>
              <a:t> D</a:t>
            </a:r>
          </a:p>
        </p:txBody>
      </p:sp>
      <p:sp>
        <p:nvSpPr>
          <p:cNvPr id="4" name="Rectangle 3">
            <a:extLst>
              <a:ext uri="{FF2B5EF4-FFF2-40B4-BE49-F238E27FC236}">
                <a16:creationId xmlns:a16="http://schemas.microsoft.com/office/drawing/2014/main" id="{FAC8A94D-DC58-3071-EC9F-E3E4F932C113}"/>
              </a:ext>
            </a:extLst>
          </p:cNvPr>
          <p:cNvSpPr/>
          <p:nvPr/>
        </p:nvSpPr>
        <p:spPr>
          <a:xfrm>
            <a:off x="256547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solidFill>
                  <a:schemeClr val="tx1"/>
                </a:solidFill>
              </a:rPr>
              <a:t>IT22339010</a:t>
            </a:r>
            <a:r>
              <a:rPr lang="en-US" sz="2000">
                <a:solidFill>
                  <a:schemeClr val="tx1"/>
                </a:solidFill>
              </a:rPr>
              <a:t>| MURALESWARAN D |   </a:t>
            </a:r>
            <a:r>
              <a:rPr lang="en-US" sz="2000" b="0">
                <a:solidFill>
                  <a:schemeClr val="tx1"/>
                </a:solidFill>
              </a:rPr>
              <a:t>25-26J-351</a:t>
            </a:r>
          </a:p>
        </p:txBody>
      </p:sp>
      <p:sp>
        <p:nvSpPr>
          <p:cNvPr id="47" name="Shape 2">
            <a:extLst>
              <a:ext uri="{FF2B5EF4-FFF2-40B4-BE49-F238E27FC236}">
                <a16:creationId xmlns:a16="http://schemas.microsoft.com/office/drawing/2014/main" id="{559A7E66-B60F-E7C9-867D-2F73DAE2AB6A}"/>
              </a:ext>
            </a:extLst>
          </p:cNvPr>
          <p:cNvSpPr/>
          <p:nvPr/>
        </p:nvSpPr>
        <p:spPr>
          <a:xfrm>
            <a:off x="927579" y="1725706"/>
            <a:ext cx="1531170" cy="1037665"/>
          </a:xfrm>
          <a:prstGeom prst="rect">
            <a:avLst/>
          </a:prstGeom>
          <a:solidFill>
            <a:schemeClr val="accent1">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48" name="Text 3">
            <a:extLst>
              <a:ext uri="{FF2B5EF4-FFF2-40B4-BE49-F238E27FC236}">
                <a16:creationId xmlns:a16="http://schemas.microsoft.com/office/drawing/2014/main" id="{A9B65D93-2C20-B533-06DD-63804A7E66C9}"/>
              </a:ext>
            </a:extLst>
          </p:cNvPr>
          <p:cNvSpPr/>
          <p:nvPr/>
        </p:nvSpPr>
        <p:spPr>
          <a:xfrm>
            <a:off x="928346" y="1963922"/>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1</a:t>
            </a:r>
            <a:endParaRPr lang="en-US" sz="3200" b="1"/>
          </a:p>
        </p:txBody>
      </p:sp>
      <p:sp>
        <p:nvSpPr>
          <p:cNvPr id="49" name="Text 4">
            <a:extLst>
              <a:ext uri="{FF2B5EF4-FFF2-40B4-BE49-F238E27FC236}">
                <a16:creationId xmlns:a16="http://schemas.microsoft.com/office/drawing/2014/main" id="{F4F59D17-C00F-57ED-DE6D-908311C509D5}"/>
              </a:ext>
            </a:extLst>
          </p:cNvPr>
          <p:cNvSpPr/>
          <p:nvPr/>
        </p:nvSpPr>
        <p:spPr>
          <a:xfrm>
            <a:off x="938784" y="221655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FFFF"/>
                </a:solidFill>
                <a:latin typeface="Calibri"/>
                <a:ea typeface="Calibri"/>
                <a:cs typeface="Calibri"/>
              </a:rPr>
              <a:t>User Input</a:t>
            </a:r>
            <a:endParaRPr lang="en-US" sz="1400" b="1">
              <a:latin typeface="Calibri"/>
              <a:ea typeface="Calibri"/>
              <a:cs typeface="Calibri"/>
            </a:endParaRPr>
          </a:p>
        </p:txBody>
      </p:sp>
      <p:sp>
        <p:nvSpPr>
          <p:cNvPr id="50" name="Shape 5">
            <a:extLst>
              <a:ext uri="{FF2B5EF4-FFF2-40B4-BE49-F238E27FC236}">
                <a16:creationId xmlns:a16="http://schemas.microsoft.com/office/drawing/2014/main" id="{8DABA6D1-F254-A8B6-1F36-153D7EF3DE3C}"/>
              </a:ext>
            </a:extLst>
          </p:cNvPr>
          <p:cNvSpPr/>
          <p:nvPr/>
        </p:nvSpPr>
        <p:spPr>
          <a:xfrm>
            <a:off x="2447544" y="2184664"/>
            <a:ext cx="201168" cy="146304"/>
          </a:xfrm>
          <a:prstGeom prst="rect">
            <a:avLst/>
          </a:prstGeom>
          <a:solidFill>
            <a:schemeClr val="accent1">
              <a:lumMod val="75000"/>
            </a:schemeClr>
          </a:solidFill>
          <a:ln/>
        </p:spPr>
        <p:txBody>
          <a:bodyPr/>
          <a:lstStyle/>
          <a:p>
            <a:endParaRPr lang="en-US" sz="2800" b="1"/>
          </a:p>
        </p:txBody>
      </p:sp>
      <p:sp>
        <p:nvSpPr>
          <p:cNvPr id="51" name="Shape 6">
            <a:extLst>
              <a:ext uri="{FF2B5EF4-FFF2-40B4-BE49-F238E27FC236}">
                <a16:creationId xmlns:a16="http://schemas.microsoft.com/office/drawing/2014/main" id="{EE6CB325-F18D-433F-1ABE-DC511E716A3D}"/>
              </a:ext>
            </a:extLst>
          </p:cNvPr>
          <p:cNvSpPr/>
          <p:nvPr/>
        </p:nvSpPr>
        <p:spPr>
          <a:xfrm>
            <a:off x="2646651" y="1736912"/>
            <a:ext cx="1519965" cy="1037665"/>
          </a:xfrm>
          <a:prstGeom prst="rect">
            <a:avLst/>
          </a:prstGeom>
          <a:solidFill>
            <a:schemeClr val="accent1">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52" name="Text 7">
            <a:extLst>
              <a:ext uri="{FF2B5EF4-FFF2-40B4-BE49-F238E27FC236}">
                <a16:creationId xmlns:a16="http://schemas.microsoft.com/office/drawing/2014/main" id="{D1527173-71ED-211E-D206-EB63A2AA8304}"/>
              </a:ext>
            </a:extLst>
          </p:cNvPr>
          <p:cNvSpPr/>
          <p:nvPr/>
        </p:nvSpPr>
        <p:spPr>
          <a:xfrm>
            <a:off x="2657856"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2</a:t>
            </a:r>
            <a:endParaRPr lang="en-US" sz="3200" b="1"/>
          </a:p>
        </p:txBody>
      </p:sp>
      <p:sp>
        <p:nvSpPr>
          <p:cNvPr id="53" name="Text 8">
            <a:extLst>
              <a:ext uri="{FF2B5EF4-FFF2-40B4-BE49-F238E27FC236}">
                <a16:creationId xmlns:a16="http://schemas.microsoft.com/office/drawing/2014/main" id="{87230543-1B1D-1706-2414-09DECCDA1DD4}"/>
              </a:ext>
            </a:extLst>
          </p:cNvPr>
          <p:cNvSpPr/>
          <p:nvPr/>
        </p:nvSpPr>
        <p:spPr>
          <a:xfrm>
            <a:off x="2657856" y="2431766"/>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FFFF"/>
                </a:solidFill>
                <a:latin typeface="Calibri"/>
                <a:ea typeface="Calibri"/>
                <a:cs typeface="Calibri"/>
              </a:rPr>
              <a:t>Feature Processing</a:t>
            </a:r>
            <a:br>
              <a:rPr lang="en-US" sz="1400" b="1" dirty="0">
                <a:latin typeface="Calibri"/>
                <a:ea typeface="Calibri"/>
                <a:cs typeface="Calibri"/>
              </a:rPr>
            </a:br>
            <a:endParaRPr lang="en-US" sz="1400" b="1">
              <a:solidFill>
                <a:srgbClr val="FFFFFF"/>
              </a:solidFill>
              <a:latin typeface="Calibri"/>
              <a:ea typeface="Calibri"/>
              <a:cs typeface="Calibri"/>
            </a:endParaRPr>
          </a:p>
          <a:p>
            <a:pPr marL="0" indent="0" algn="ctr">
              <a:buNone/>
            </a:pPr>
            <a:endParaRPr lang="en-US" sz="1400" b="1" dirty="0">
              <a:solidFill>
                <a:srgbClr val="FFFFFF"/>
              </a:solidFill>
              <a:latin typeface="Calibri"/>
              <a:ea typeface="Calibri"/>
              <a:cs typeface="Calibri"/>
            </a:endParaRPr>
          </a:p>
        </p:txBody>
      </p:sp>
      <p:sp>
        <p:nvSpPr>
          <p:cNvPr id="54" name="Shape 9">
            <a:extLst>
              <a:ext uri="{FF2B5EF4-FFF2-40B4-BE49-F238E27FC236}">
                <a16:creationId xmlns:a16="http://schemas.microsoft.com/office/drawing/2014/main" id="{6F2F6E9A-BF06-3EF6-DE1C-B181DBCD716E}"/>
              </a:ext>
            </a:extLst>
          </p:cNvPr>
          <p:cNvSpPr/>
          <p:nvPr/>
        </p:nvSpPr>
        <p:spPr>
          <a:xfrm>
            <a:off x="4166616" y="2184664"/>
            <a:ext cx="201168" cy="146304"/>
          </a:xfrm>
          <a:prstGeom prst="rect">
            <a:avLst/>
          </a:prstGeom>
          <a:solidFill>
            <a:schemeClr val="accent1">
              <a:lumMod val="75000"/>
            </a:schemeClr>
          </a:solidFill>
          <a:ln/>
        </p:spPr>
        <p:txBody>
          <a:bodyPr/>
          <a:lstStyle/>
          <a:p>
            <a:endParaRPr lang="en-US" sz="2800" b="1"/>
          </a:p>
        </p:txBody>
      </p:sp>
      <p:sp>
        <p:nvSpPr>
          <p:cNvPr id="55" name="Shape 10">
            <a:extLst>
              <a:ext uri="{FF2B5EF4-FFF2-40B4-BE49-F238E27FC236}">
                <a16:creationId xmlns:a16="http://schemas.microsoft.com/office/drawing/2014/main" id="{547256B2-7A75-9707-F5FB-F510FB78AD1F}"/>
              </a:ext>
            </a:extLst>
          </p:cNvPr>
          <p:cNvSpPr/>
          <p:nvPr/>
        </p:nvSpPr>
        <p:spPr>
          <a:xfrm>
            <a:off x="4365723" y="1736912"/>
            <a:ext cx="1531170" cy="1048871"/>
          </a:xfrm>
          <a:prstGeom prst="rect">
            <a:avLst/>
          </a:prstGeom>
          <a:solidFill>
            <a:schemeClr val="accent1">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56" name="Text 11">
            <a:extLst>
              <a:ext uri="{FF2B5EF4-FFF2-40B4-BE49-F238E27FC236}">
                <a16:creationId xmlns:a16="http://schemas.microsoft.com/office/drawing/2014/main" id="{67C6A335-B2E3-CCF6-302D-293348DD060E}"/>
              </a:ext>
            </a:extLst>
          </p:cNvPr>
          <p:cNvSpPr/>
          <p:nvPr/>
        </p:nvSpPr>
        <p:spPr>
          <a:xfrm>
            <a:off x="4376928"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3</a:t>
            </a:r>
            <a:endParaRPr lang="en-US" sz="3200" b="1"/>
          </a:p>
        </p:txBody>
      </p:sp>
      <p:sp>
        <p:nvSpPr>
          <p:cNvPr id="57" name="Text 12">
            <a:extLst>
              <a:ext uri="{FF2B5EF4-FFF2-40B4-BE49-F238E27FC236}">
                <a16:creationId xmlns:a16="http://schemas.microsoft.com/office/drawing/2014/main" id="{C86AF452-5004-76BD-2E18-C5174333568C}"/>
              </a:ext>
            </a:extLst>
          </p:cNvPr>
          <p:cNvSpPr/>
          <p:nvPr/>
        </p:nvSpPr>
        <p:spPr>
          <a:xfrm>
            <a:off x="4376928"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FFFF"/>
                </a:solidFill>
                <a:latin typeface="Calibri"/>
                <a:ea typeface="Calibri"/>
                <a:cs typeface="Calibri"/>
              </a:rPr>
              <a:t>ML Prediction</a:t>
            </a:r>
            <a:endParaRPr lang="en-US" sz="1400" b="1">
              <a:latin typeface="Calibri"/>
              <a:ea typeface="Calibri"/>
              <a:cs typeface="Calibri"/>
            </a:endParaRPr>
          </a:p>
        </p:txBody>
      </p:sp>
      <p:sp>
        <p:nvSpPr>
          <p:cNvPr id="58" name="Shape 13">
            <a:extLst>
              <a:ext uri="{FF2B5EF4-FFF2-40B4-BE49-F238E27FC236}">
                <a16:creationId xmlns:a16="http://schemas.microsoft.com/office/drawing/2014/main" id="{42E2FC89-514D-B5B0-372F-DD3303CD73F6}"/>
              </a:ext>
            </a:extLst>
          </p:cNvPr>
          <p:cNvSpPr/>
          <p:nvPr/>
        </p:nvSpPr>
        <p:spPr>
          <a:xfrm>
            <a:off x="5885688" y="2184664"/>
            <a:ext cx="201168" cy="146304"/>
          </a:xfrm>
          <a:prstGeom prst="rect">
            <a:avLst/>
          </a:prstGeom>
          <a:solidFill>
            <a:schemeClr val="accent1">
              <a:lumMod val="75000"/>
            </a:schemeClr>
          </a:solidFill>
          <a:ln/>
        </p:spPr>
        <p:txBody>
          <a:bodyPr/>
          <a:lstStyle/>
          <a:p>
            <a:endParaRPr lang="en-US" sz="2800" b="1"/>
          </a:p>
        </p:txBody>
      </p:sp>
      <p:sp>
        <p:nvSpPr>
          <p:cNvPr id="59" name="Shape 14">
            <a:extLst>
              <a:ext uri="{FF2B5EF4-FFF2-40B4-BE49-F238E27FC236}">
                <a16:creationId xmlns:a16="http://schemas.microsoft.com/office/drawing/2014/main" id="{60AC5778-4A45-6585-7E13-1FB04BB40702}"/>
              </a:ext>
            </a:extLst>
          </p:cNvPr>
          <p:cNvSpPr/>
          <p:nvPr/>
        </p:nvSpPr>
        <p:spPr>
          <a:xfrm>
            <a:off x="6084795" y="1736912"/>
            <a:ext cx="1519965" cy="1060077"/>
          </a:xfrm>
          <a:prstGeom prst="rect">
            <a:avLst/>
          </a:prstGeom>
          <a:solidFill>
            <a:schemeClr val="accent1">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60" name="Text 15">
            <a:extLst>
              <a:ext uri="{FF2B5EF4-FFF2-40B4-BE49-F238E27FC236}">
                <a16:creationId xmlns:a16="http://schemas.microsoft.com/office/drawing/2014/main" id="{D2AA4C68-96D7-5AA4-1590-4B22327DFB1A}"/>
              </a:ext>
            </a:extLst>
          </p:cNvPr>
          <p:cNvSpPr/>
          <p:nvPr/>
        </p:nvSpPr>
        <p:spPr>
          <a:xfrm>
            <a:off x="6096000"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4</a:t>
            </a:r>
            <a:endParaRPr lang="en-US" sz="3200" b="1"/>
          </a:p>
        </p:txBody>
      </p:sp>
      <p:sp>
        <p:nvSpPr>
          <p:cNvPr id="61" name="Text 16">
            <a:extLst>
              <a:ext uri="{FF2B5EF4-FFF2-40B4-BE49-F238E27FC236}">
                <a16:creationId xmlns:a16="http://schemas.microsoft.com/office/drawing/2014/main" id="{EC134DBC-4082-D635-B84F-DFADAB762B52}"/>
              </a:ext>
            </a:extLst>
          </p:cNvPr>
          <p:cNvSpPr/>
          <p:nvPr/>
        </p:nvSpPr>
        <p:spPr>
          <a:xfrm>
            <a:off x="6096000"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rgbClr val="FFFFFF"/>
                </a:solidFill>
                <a:latin typeface="Calibri"/>
                <a:ea typeface="Calibri"/>
                <a:cs typeface="Calibri"/>
              </a:rPr>
              <a:t>AEIF Safety </a:t>
            </a:r>
            <a:r>
              <a:rPr lang="en-US" sz="1400" b="1">
                <a:solidFill>
                  <a:srgbClr val="FFFFFF"/>
                </a:solidFill>
                <a:latin typeface="Calibri"/>
                <a:ea typeface="Calibri"/>
                <a:cs typeface="Calibri"/>
              </a:rPr>
              <a:t>Layer</a:t>
            </a:r>
            <a:endParaRPr lang="en-US" sz="1400" b="1" dirty="0">
              <a:solidFill>
                <a:srgbClr val="FFFFFF"/>
              </a:solidFill>
              <a:latin typeface="Calibri"/>
              <a:ea typeface="Calibri"/>
              <a:cs typeface="Calibri"/>
            </a:endParaRPr>
          </a:p>
        </p:txBody>
      </p:sp>
      <p:sp>
        <p:nvSpPr>
          <p:cNvPr id="62" name="Shape 17">
            <a:extLst>
              <a:ext uri="{FF2B5EF4-FFF2-40B4-BE49-F238E27FC236}">
                <a16:creationId xmlns:a16="http://schemas.microsoft.com/office/drawing/2014/main" id="{29352657-08AE-09AA-3A01-CD5184610158}"/>
              </a:ext>
            </a:extLst>
          </p:cNvPr>
          <p:cNvSpPr/>
          <p:nvPr/>
        </p:nvSpPr>
        <p:spPr>
          <a:xfrm>
            <a:off x="7604760" y="2184664"/>
            <a:ext cx="201168" cy="146304"/>
          </a:xfrm>
          <a:prstGeom prst="rect">
            <a:avLst/>
          </a:prstGeom>
          <a:solidFill>
            <a:schemeClr val="accent1">
              <a:lumMod val="75000"/>
            </a:schemeClr>
          </a:solidFill>
          <a:ln/>
        </p:spPr>
        <p:txBody>
          <a:bodyPr/>
          <a:lstStyle/>
          <a:p>
            <a:endParaRPr lang="en-US" sz="2800" b="1"/>
          </a:p>
        </p:txBody>
      </p:sp>
      <p:sp>
        <p:nvSpPr>
          <p:cNvPr id="63" name="Shape 18">
            <a:extLst>
              <a:ext uri="{FF2B5EF4-FFF2-40B4-BE49-F238E27FC236}">
                <a16:creationId xmlns:a16="http://schemas.microsoft.com/office/drawing/2014/main" id="{7DCA7488-4D13-7841-9048-C138B99703EE}"/>
              </a:ext>
            </a:extLst>
          </p:cNvPr>
          <p:cNvSpPr/>
          <p:nvPr/>
        </p:nvSpPr>
        <p:spPr>
          <a:xfrm>
            <a:off x="7803867" y="1736912"/>
            <a:ext cx="1564788" cy="1060077"/>
          </a:xfrm>
          <a:prstGeom prst="rect">
            <a:avLst/>
          </a:prstGeom>
          <a:solidFill>
            <a:schemeClr val="accent1">
              <a:lumMod val="75000"/>
            </a:schemeClr>
          </a:solidFill>
          <a:ln/>
          <a:effectLst>
            <a:outerShdw blurRad="101600" dist="38100" dir="8100000" algn="bl" rotWithShape="0">
              <a:srgbClr val="000000">
                <a:alpha val="12000"/>
              </a:srgbClr>
            </a:outerShdw>
          </a:effectLst>
        </p:spPr>
        <p:txBody>
          <a:bodyPr/>
          <a:lstStyle/>
          <a:p>
            <a:endParaRPr lang="en-US" sz="2800" b="1"/>
          </a:p>
        </p:txBody>
      </p:sp>
      <p:sp>
        <p:nvSpPr>
          <p:cNvPr id="64" name="Text 19">
            <a:extLst>
              <a:ext uri="{FF2B5EF4-FFF2-40B4-BE49-F238E27FC236}">
                <a16:creationId xmlns:a16="http://schemas.microsoft.com/office/drawing/2014/main" id="{5383412D-139F-D8A6-E311-BD71EC570069}"/>
              </a:ext>
            </a:extLst>
          </p:cNvPr>
          <p:cNvSpPr/>
          <p:nvPr/>
        </p:nvSpPr>
        <p:spPr>
          <a:xfrm>
            <a:off x="7815072" y="1950720"/>
            <a:ext cx="15087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3200" b="1">
                <a:solidFill>
                  <a:srgbClr val="FFFFFF"/>
                </a:solidFill>
                <a:latin typeface="Calibri" pitchFamily="34" charset="0"/>
                <a:ea typeface="Calibri" pitchFamily="34" charset="-122"/>
                <a:cs typeface="Calibri" pitchFamily="34" charset="-120"/>
              </a:rPr>
              <a:t>5</a:t>
            </a:r>
            <a:endParaRPr lang="en-US" sz="3200" b="1"/>
          </a:p>
        </p:txBody>
      </p:sp>
      <p:sp>
        <p:nvSpPr>
          <p:cNvPr id="65" name="Text 20">
            <a:extLst>
              <a:ext uri="{FF2B5EF4-FFF2-40B4-BE49-F238E27FC236}">
                <a16:creationId xmlns:a16="http://schemas.microsoft.com/office/drawing/2014/main" id="{B3A18AAA-3702-615F-A181-125A63EBE690}"/>
              </a:ext>
            </a:extLst>
          </p:cNvPr>
          <p:cNvSpPr/>
          <p:nvPr/>
        </p:nvSpPr>
        <p:spPr>
          <a:xfrm>
            <a:off x="7867264" y="2252472"/>
            <a:ext cx="150876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FFFF"/>
                </a:solidFill>
                <a:latin typeface="Calibri"/>
                <a:ea typeface="Calibri"/>
                <a:cs typeface="Calibri"/>
              </a:rPr>
              <a:t>AED + SCP System</a:t>
            </a:r>
            <a:endParaRPr lang="en-US" sz="1400" b="1">
              <a:latin typeface="Calibri"/>
              <a:ea typeface="Calibri"/>
              <a:cs typeface="Calibri"/>
            </a:endParaRPr>
          </a:p>
        </p:txBody>
      </p:sp>
      <p:sp>
        <p:nvSpPr>
          <p:cNvPr id="40" name="TextBox 39">
            <a:extLst>
              <a:ext uri="{FF2B5EF4-FFF2-40B4-BE49-F238E27FC236}">
                <a16:creationId xmlns:a16="http://schemas.microsoft.com/office/drawing/2014/main" id="{CF99243A-3832-F74D-CF3B-0F5D4FAA5B59}"/>
              </a:ext>
            </a:extLst>
          </p:cNvPr>
          <p:cNvSpPr txBox="1"/>
          <p:nvPr/>
        </p:nvSpPr>
        <p:spPr>
          <a:xfrm>
            <a:off x="907627" y="781709"/>
            <a:ext cx="9244435" cy="769441"/>
          </a:xfrm>
          <a:prstGeom prst="rect">
            <a:avLst/>
          </a:prstGeom>
          <a:noFill/>
        </p:spPr>
        <p:txBody>
          <a:bodyPr wrap="square" lIns="91440" tIns="45720" rIns="91440" bIns="45720" anchor="t">
            <a:spAutoFit/>
          </a:bodyPr>
          <a:lstStyle/>
          <a:p>
            <a:r>
              <a:rPr lang="en-US" sz="4400" b="1">
                <a:solidFill>
                  <a:srgbClr val="42A187"/>
                </a:solidFill>
                <a:latin typeface="Calibri"/>
                <a:ea typeface="Calibri"/>
                <a:cs typeface="Calibri"/>
              </a:rPr>
              <a:t>Food Expiry Prediction</a:t>
            </a:r>
            <a:endParaRPr lang="en-US" sz="4400" b="1" dirty="0">
              <a:solidFill>
                <a:srgbClr val="42A187"/>
              </a:solidFill>
              <a:latin typeface="Calibri"/>
              <a:ea typeface="Calibri"/>
              <a:cs typeface="Calibri"/>
            </a:endParaRPr>
          </a:p>
        </p:txBody>
      </p:sp>
      <p:sp>
        <p:nvSpPr>
          <p:cNvPr id="6" name="Text 21">
            <a:extLst>
              <a:ext uri="{FF2B5EF4-FFF2-40B4-BE49-F238E27FC236}">
                <a16:creationId xmlns:a16="http://schemas.microsoft.com/office/drawing/2014/main" id="{4214D9E1-E86E-5A53-527B-3E59A19DC065}"/>
              </a:ext>
            </a:extLst>
          </p:cNvPr>
          <p:cNvSpPr/>
          <p:nvPr/>
        </p:nvSpPr>
        <p:spPr>
          <a:xfrm>
            <a:off x="437926" y="2799080"/>
            <a:ext cx="11338560" cy="463296"/>
          </a:xfrm>
          <a:prstGeom prst="rect">
            <a:avLst/>
          </a:prstGeom>
          <a:noFill/>
          <a:ln/>
        </p:spPr>
        <p:txBody>
          <a:bodyPr wrap="square" lIns="0" tIns="0" rIns="0" bIns="0" rtlCol="0" anchor="ctr"/>
          <a:lstStyle/>
          <a:p>
            <a:r>
              <a:rPr lang="en-US" sz="1850" b="1">
                <a:solidFill>
                  <a:srgbClr val="0D2B2B"/>
                </a:solidFill>
                <a:latin typeface="Calibri"/>
                <a:ea typeface="Calibri"/>
                <a:cs typeface="Calibri"/>
              </a:rPr>
              <a:t>Food Expiry Architecture</a:t>
            </a:r>
            <a:endParaRPr lang="en-US" sz="1850" b="1" dirty="0">
              <a:solidFill>
                <a:srgbClr val="0D2B2B"/>
              </a:solidFill>
              <a:latin typeface="Calibri"/>
              <a:ea typeface="Calibri"/>
              <a:cs typeface="Calibri"/>
            </a:endParaRPr>
          </a:p>
        </p:txBody>
      </p:sp>
      <p:sp>
        <p:nvSpPr>
          <p:cNvPr id="8" name="Shape 22">
            <a:extLst>
              <a:ext uri="{FF2B5EF4-FFF2-40B4-BE49-F238E27FC236}">
                <a16:creationId xmlns:a16="http://schemas.microsoft.com/office/drawing/2014/main" id="{5A3D5413-0AD6-9F4B-44AF-C5CC9DCFAF7E}"/>
              </a:ext>
            </a:extLst>
          </p:cNvPr>
          <p:cNvSpPr/>
          <p:nvPr/>
        </p:nvSpPr>
        <p:spPr>
          <a:xfrm>
            <a:off x="236219" y="3277527"/>
            <a:ext cx="3820309" cy="2652208"/>
          </a:xfrm>
          <a:prstGeom prst="rect">
            <a:avLst/>
          </a:prstGeom>
          <a:solidFill>
            <a:schemeClr val="accent1">
              <a:lumMod val="20000"/>
              <a:lumOff val="80000"/>
            </a:schemeClr>
          </a:solidFill>
          <a:ln/>
          <a:effectLst>
            <a:outerShdw blurRad="101600" dist="38100" dir="8100000" algn="bl" rotWithShape="0">
              <a:srgbClr val="000000">
                <a:alpha val="12000"/>
              </a:srgbClr>
            </a:outerShdw>
          </a:effectLst>
        </p:spPr>
      </p:sp>
      <p:sp>
        <p:nvSpPr>
          <p:cNvPr id="10" name="Text 23">
            <a:extLst>
              <a:ext uri="{FF2B5EF4-FFF2-40B4-BE49-F238E27FC236}">
                <a16:creationId xmlns:a16="http://schemas.microsoft.com/office/drawing/2014/main" id="{EE903B53-E88B-5F5A-42D2-0B86375399C8}"/>
              </a:ext>
            </a:extLst>
          </p:cNvPr>
          <p:cNvSpPr/>
          <p:nvPr/>
        </p:nvSpPr>
        <p:spPr>
          <a:xfrm>
            <a:off x="852544" y="3331579"/>
            <a:ext cx="2621280" cy="670560"/>
          </a:xfrm>
          <a:prstGeom prst="rect">
            <a:avLst/>
          </a:prstGeom>
          <a:noFill/>
          <a:ln/>
        </p:spPr>
        <p:txBody>
          <a:bodyPr wrap="square" lIns="0" tIns="0" rIns="0" bIns="0" rtlCol="0" anchor="ctr"/>
          <a:lstStyle/>
          <a:p>
            <a:pPr algn="ctr"/>
            <a:r>
              <a:rPr lang="en-US" sz="2400" b="1" dirty="0">
                <a:solidFill>
                  <a:srgbClr val="004E6C"/>
                </a:solidFill>
                <a:latin typeface="Calibri"/>
                <a:ea typeface="Calibri"/>
                <a:cs typeface="Calibri"/>
              </a:rPr>
              <a:t>AEIF Safety </a:t>
            </a:r>
            <a:r>
              <a:rPr lang="en-US" sz="2400" b="1">
                <a:solidFill>
                  <a:srgbClr val="004E6C"/>
                </a:solidFill>
                <a:latin typeface="Calibri"/>
                <a:ea typeface="Calibri"/>
                <a:cs typeface="Calibri"/>
              </a:rPr>
              <a:t>Layer</a:t>
            </a:r>
            <a:endParaRPr lang="en-US" sz="2400" b="1">
              <a:solidFill>
                <a:srgbClr val="004E6C"/>
              </a:solidFill>
            </a:endParaRPr>
          </a:p>
        </p:txBody>
      </p:sp>
      <p:sp>
        <p:nvSpPr>
          <p:cNvPr id="12" name="Text 24">
            <a:extLst>
              <a:ext uri="{FF2B5EF4-FFF2-40B4-BE49-F238E27FC236}">
                <a16:creationId xmlns:a16="http://schemas.microsoft.com/office/drawing/2014/main" id="{55D60E75-75E4-85BC-6CA2-18B8F4F1522D}"/>
              </a:ext>
            </a:extLst>
          </p:cNvPr>
          <p:cNvSpPr/>
          <p:nvPr/>
        </p:nvSpPr>
        <p:spPr>
          <a:xfrm>
            <a:off x="493955" y="4028500"/>
            <a:ext cx="3562574" cy="1677475"/>
          </a:xfrm>
          <a:prstGeom prst="rect">
            <a:avLst/>
          </a:prstGeom>
          <a:noFill/>
          <a:ln>
            <a:noFill/>
          </a:ln>
        </p:spPr>
        <p:txBody>
          <a:bodyPr wrap="square" lIns="0" tIns="0" rIns="0" bIns="0" rtlCol="0" anchor="ctr"/>
          <a:lstStyle/>
          <a:p>
            <a:r>
              <a:rPr lang="en-US" sz="1600" dirty="0">
                <a:solidFill>
                  <a:srgbClr val="0B5394"/>
                </a:solidFill>
                <a:latin typeface="Calibri"/>
                <a:ea typeface="Calibri"/>
                <a:cs typeface="Calibri"/>
              </a:rPr>
              <a:t>Ensures </a:t>
            </a:r>
            <a:r>
              <a:rPr lang="en-US" sz="1600" b="1">
                <a:solidFill>
                  <a:srgbClr val="0B5394"/>
                </a:solidFill>
                <a:latin typeface="Calibri"/>
                <a:ea typeface="Calibri"/>
                <a:cs typeface="Calibri"/>
              </a:rPr>
              <a:t>biologically safe predictions</a:t>
            </a:r>
            <a:endParaRPr lang="en-US" sz="1600">
              <a:solidFill>
                <a:srgbClr val="0B5394"/>
              </a:solidFill>
              <a:latin typeface="Calibri"/>
              <a:ea typeface="Calibri"/>
              <a:cs typeface="Calibri"/>
            </a:endParaRPr>
          </a:p>
          <a:p>
            <a:br>
              <a:rPr lang="en-US" sz="1600" b="1" dirty="0">
                <a:solidFill>
                  <a:srgbClr val="0B5394"/>
                </a:solidFill>
                <a:latin typeface="Calibri"/>
                <a:ea typeface="Calibri"/>
                <a:cs typeface="Calibri"/>
              </a:rPr>
            </a:br>
            <a:r>
              <a:rPr lang="en-US" sz="1600" b="1" dirty="0">
                <a:solidFill>
                  <a:srgbClr val="0B5394"/>
                </a:solidFill>
                <a:latin typeface="Calibri"/>
                <a:ea typeface="Calibri"/>
                <a:cs typeface="Calibri"/>
              </a:rPr>
              <a:t>Minimum threshold: ≥ 60% base expiry</a:t>
            </a:r>
            <a:br>
              <a:rPr lang="en-US" sz="1600" b="1" dirty="0">
                <a:solidFill>
                  <a:srgbClr val="0B5394"/>
                </a:solidFill>
                <a:latin typeface="Calibri"/>
                <a:ea typeface="Calibri"/>
                <a:cs typeface="Calibri"/>
              </a:rPr>
            </a:br>
            <a:endParaRPr lang="en-US" sz="1600" b="1" dirty="0">
              <a:solidFill>
                <a:srgbClr val="0B5394"/>
              </a:solidFill>
              <a:latin typeface="Calibri"/>
              <a:ea typeface="Calibri"/>
              <a:cs typeface="Calibri"/>
            </a:endParaRPr>
          </a:p>
          <a:p>
            <a:r>
              <a:rPr lang="en-US" sz="1600" b="1">
                <a:solidFill>
                  <a:srgbClr val="0B5394"/>
                </a:solidFill>
                <a:latin typeface="Calibri"/>
                <a:ea typeface="Calibri"/>
                <a:cs typeface="Calibri"/>
              </a:rPr>
              <a:t>Range control: 0.5× – 1.5× base</a:t>
            </a:r>
            <a:br>
              <a:rPr lang="en-US" sz="1600" b="1" dirty="0">
                <a:solidFill>
                  <a:srgbClr val="0B5394"/>
                </a:solidFill>
                <a:latin typeface="Calibri"/>
                <a:ea typeface="Calibri"/>
                <a:cs typeface="Calibri"/>
              </a:rPr>
            </a:br>
            <a:endParaRPr lang="en-US" sz="1600" b="1">
              <a:solidFill>
                <a:srgbClr val="0B5394"/>
              </a:solidFill>
              <a:latin typeface="Calibri"/>
              <a:ea typeface="Calibri"/>
              <a:cs typeface="Calibri"/>
            </a:endParaRPr>
          </a:p>
          <a:p>
            <a:r>
              <a:rPr lang="en-US" sz="1600" b="1">
                <a:solidFill>
                  <a:srgbClr val="0B5394"/>
                </a:solidFill>
                <a:latin typeface="Calibri"/>
                <a:ea typeface="Calibri"/>
                <a:cs typeface="Calibri"/>
              </a:rPr>
              <a:t>Prevents unsafe underestimation</a:t>
            </a:r>
            <a:endParaRPr lang="en-US" sz="1600">
              <a:solidFill>
                <a:srgbClr val="0B5394"/>
              </a:solidFill>
              <a:latin typeface="Calibri"/>
              <a:ea typeface="Calibri"/>
              <a:cs typeface="Calibri"/>
            </a:endParaRPr>
          </a:p>
        </p:txBody>
      </p:sp>
      <p:sp>
        <p:nvSpPr>
          <p:cNvPr id="14" name="Shape 22">
            <a:extLst>
              <a:ext uri="{FF2B5EF4-FFF2-40B4-BE49-F238E27FC236}">
                <a16:creationId xmlns:a16="http://schemas.microsoft.com/office/drawing/2014/main" id="{5ACF1DFC-798E-239A-8B5D-CE465228C086}"/>
              </a:ext>
            </a:extLst>
          </p:cNvPr>
          <p:cNvSpPr/>
          <p:nvPr/>
        </p:nvSpPr>
        <p:spPr>
          <a:xfrm>
            <a:off x="8169983" y="3277527"/>
            <a:ext cx="3820309" cy="2708237"/>
          </a:xfrm>
          <a:prstGeom prst="rect">
            <a:avLst/>
          </a:prstGeom>
          <a:solidFill>
            <a:schemeClr val="accent1">
              <a:lumMod val="20000"/>
              <a:lumOff val="80000"/>
            </a:schemeClr>
          </a:solidFill>
          <a:ln/>
          <a:effectLst>
            <a:outerShdw blurRad="101600" dist="38100" dir="8100000" algn="bl" rotWithShape="0">
              <a:srgbClr val="000000">
                <a:alpha val="12000"/>
              </a:srgbClr>
            </a:outerShdw>
          </a:effectLst>
        </p:spPr>
      </p:sp>
      <p:sp>
        <p:nvSpPr>
          <p:cNvPr id="16" name="Shape 22">
            <a:extLst>
              <a:ext uri="{FF2B5EF4-FFF2-40B4-BE49-F238E27FC236}">
                <a16:creationId xmlns:a16="http://schemas.microsoft.com/office/drawing/2014/main" id="{B3FE8B97-0A53-8798-1B16-9F5ECD2F06C2}"/>
              </a:ext>
            </a:extLst>
          </p:cNvPr>
          <p:cNvSpPr/>
          <p:nvPr/>
        </p:nvSpPr>
        <p:spPr>
          <a:xfrm>
            <a:off x="4214306" y="3277527"/>
            <a:ext cx="3797898" cy="2663414"/>
          </a:xfrm>
          <a:prstGeom prst="rect">
            <a:avLst/>
          </a:prstGeom>
          <a:solidFill>
            <a:schemeClr val="accent1">
              <a:lumMod val="20000"/>
              <a:lumOff val="80000"/>
            </a:schemeClr>
          </a:solidFill>
          <a:ln/>
          <a:effectLst>
            <a:outerShdw blurRad="101600" dist="38100" dir="8100000" algn="bl" rotWithShape="0">
              <a:srgbClr val="000000">
                <a:alpha val="12000"/>
              </a:srgbClr>
            </a:outerShdw>
          </a:effectLst>
        </p:spPr>
      </p:sp>
      <p:sp>
        <p:nvSpPr>
          <p:cNvPr id="18" name="Text 23">
            <a:extLst>
              <a:ext uri="{FF2B5EF4-FFF2-40B4-BE49-F238E27FC236}">
                <a16:creationId xmlns:a16="http://schemas.microsoft.com/office/drawing/2014/main" id="{57093D5C-5B70-55AF-9F26-F558034B867C}"/>
              </a:ext>
            </a:extLst>
          </p:cNvPr>
          <p:cNvSpPr/>
          <p:nvPr/>
        </p:nvSpPr>
        <p:spPr>
          <a:xfrm>
            <a:off x="4875455" y="3271251"/>
            <a:ext cx="2621280" cy="670560"/>
          </a:xfrm>
          <a:prstGeom prst="rect">
            <a:avLst/>
          </a:prstGeom>
          <a:noFill/>
          <a:ln/>
        </p:spPr>
        <p:txBody>
          <a:bodyPr wrap="square" lIns="0" tIns="0" rIns="0" bIns="0" rtlCol="0" anchor="ctr"/>
          <a:lstStyle/>
          <a:p>
            <a:pPr algn="ctr"/>
            <a:r>
              <a:rPr lang="en-US" sz="2400" b="1">
                <a:solidFill>
                  <a:srgbClr val="02C39A"/>
                </a:solidFill>
                <a:latin typeface="Calibri"/>
                <a:ea typeface="Calibri"/>
                <a:cs typeface="Calibri"/>
              </a:rPr>
              <a:t>AED Layer</a:t>
            </a:r>
            <a:endParaRPr lang="en-US"/>
          </a:p>
        </p:txBody>
      </p:sp>
      <p:sp>
        <p:nvSpPr>
          <p:cNvPr id="20" name="Text 24">
            <a:extLst>
              <a:ext uri="{FF2B5EF4-FFF2-40B4-BE49-F238E27FC236}">
                <a16:creationId xmlns:a16="http://schemas.microsoft.com/office/drawing/2014/main" id="{B32FDCA3-76FA-EC3D-D6D5-65180C8CCE70}"/>
              </a:ext>
            </a:extLst>
          </p:cNvPr>
          <p:cNvSpPr/>
          <p:nvPr/>
        </p:nvSpPr>
        <p:spPr>
          <a:xfrm>
            <a:off x="4449631" y="4073324"/>
            <a:ext cx="3562574" cy="1677475"/>
          </a:xfrm>
          <a:prstGeom prst="rect">
            <a:avLst/>
          </a:prstGeom>
          <a:noFill/>
          <a:ln/>
        </p:spPr>
        <p:txBody>
          <a:bodyPr wrap="square" lIns="0" tIns="0" rIns="0" bIns="0" rtlCol="0" anchor="ctr"/>
          <a:lstStyle/>
          <a:p>
            <a:r>
              <a:rPr lang="en-US" sz="1600" b="1" dirty="0">
                <a:solidFill>
                  <a:srgbClr val="0B5394"/>
                </a:solidFill>
                <a:latin typeface="Calibri"/>
                <a:ea typeface="Calibri"/>
                <a:cs typeface="Calibri"/>
              </a:rPr>
              <a:t>Learns from </a:t>
            </a:r>
            <a:r>
              <a:rPr lang="en-US" sz="1600" b="1">
                <a:solidFill>
                  <a:srgbClr val="0B5394"/>
                </a:solidFill>
                <a:latin typeface="Calibri"/>
                <a:ea typeface="Calibri"/>
                <a:cs typeface="Calibri"/>
              </a:rPr>
              <a:t>user feedback patterns</a:t>
            </a:r>
            <a:endParaRPr lang="en-US">
              <a:solidFill>
                <a:srgbClr val="0B5394"/>
              </a:solidFill>
              <a:latin typeface="Calibri"/>
              <a:ea typeface="Calibri"/>
              <a:cs typeface="Calibri"/>
            </a:endParaRPr>
          </a:p>
          <a:p>
            <a:br>
              <a:rPr lang="en-US" sz="1600" b="1" dirty="0">
                <a:solidFill>
                  <a:srgbClr val="0B5394"/>
                </a:solidFill>
                <a:latin typeface="Calibri"/>
                <a:ea typeface="Calibri"/>
                <a:cs typeface="Calibri"/>
              </a:rPr>
            </a:br>
            <a:r>
              <a:rPr lang="en-US" sz="1600" b="1">
                <a:solidFill>
                  <a:srgbClr val="0B5394"/>
                </a:solidFill>
                <a:latin typeface="Calibri"/>
                <a:ea typeface="Calibri"/>
                <a:cs typeface="Calibri"/>
              </a:rPr>
              <a:t>Adjusts predictions dynamically</a:t>
            </a:r>
            <a:br>
              <a:rPr lang="en-US" sz="1600" b="1" dirty="0">
                <a:solidFill>
                  <a:srgbClr val="0B5394"/>
                </a:solidFill>
                <a:latin typeface="Calibri"/>
                <a:ea typeface="Calibri"/>
                <a:cs typeface="Calibri"/>
              </a:rPr>
            </a:br>
            <a:endParaRPr lang="en-US" sz="1600" b="1">
              <a:solidFill>
                <a:srgbClr val="0B5394"/>
              </a:solidFill>
              <a:latin typeface="Calibri"/>
              <a:ea typeface="Calibri"/>
              <a:cs typeface="Calibri"/>
            </a:endParaRPr>
          </a:p>
          <a:p>
            <a:r>
              <a:rPr lang="en-US" sz="1600" b="1">
                <a:solidFill>
                  <a:srgbClr val="0B5394"/>
                </a:solidFill>
                <a:latin typeface="Calibri"/>
                <a:ea typeface="Calibri"/>
                <a:cs typeface="Calibri"/>
              </a:rPr>
              <a:t>Uses decay-based learning formula</a:t>
            </a:r>
            <a:br>
              <a:rPr lang="en-US" sz="1600" b="1" dirty="0">
                <a:solidFill>
                  <a:srgbClr val="0B5394"/>
                </a:solidFill>
                <a:latin typeface="Calibri"/>
                <a:ea typeface="Calibri"/>
                <a:cs typeface="Calibri"/>
              </a:rPr>
            </a:br>
            <a:endParaRPr lang="en-US" sz="1600" b="1" dirty="0">
              <a:solidFill>
                <a:srgbClr val="0B5394"/>
              </a:solidFill>
              <a:latin typeface="Calibri"/>
              <a:ea typeface="Calibri"/>
              <a:cs typeface="Calibri"/>
            </a:endParaRPr>
          </a:p>
          <a:p>
            <a:r>
              <a:rPr lang="en-US" sz="1600" b="1">
                <a:solidFill>
                  <a:srgbClr val="0B5394"/>
                </a:solidFill>
                <a:latin typeface="Calibri"/>
                <a:ea typeface="Calibri"/>
                <a:cs typeface="Calibri"/>
              </a:rPr>
              <a:t>Activates after 5+ feedback </a:t>
            </a:r>
            <a:r>
              <a:rPr lang="en-US" sz="1600" b="1" dirty="0">
                <a:solidFill>
                  <a:srgbClr val="0B5394"/>
                </a:solidFill>
                <a:latin typeface="Calibri"/>
                <a:ea typeface="Calibri"/>
                <a:cs typeface="Calibri"/>
              </a:rPr>
              <a:t>records</a:t>
            </a:r>
            <a:endParaRPr lang="en-US">
              <a:solidFill>
                <a:srgbClr val="0B5394"/>
              </a:solidFill>
              <a:latin typeface="Calibri"/>
              <a:ea typeface="Calibri"/>
              <a:cs typeface="Calibri"/>
            </a:endParaRPr>
          </a:p>
        </p:txBody>
      </p:sp>
      <p:sp>
        <p:nvSpPr>
          <p:cNvPr id="22" name="Text 23">
            <a:extLst>
              <a:ext uri="{FF2B5EF4-FFF2-40B4-BE49-F238E27FC236}">
                <a16:creationId xmlns:a16="http://schemas.microsoft.com/office/drawing/2014/main" id="{E22F7CBE-992F-243B-0A6E-C9A2FF28A6C5}"/>
              </a:ext>
            </a:extLst>
          </p:cNvPr>
          <p:cNvSpPr/>
          <p:nvPr/>
        </p:nvSpPr>
        <p:spPr>
          <a:xfrm>
            <a:off x="8920778" y="3260045"/>
            <a:ext cx="2621280" cy="670560"/>
          </a:xfrm>
          <a:prstGeom prst="rect">
            <a:avLst/>
          </a:prstGeom>
          <a:noFill/>
          <a:ln/>
        </p:spPr>
        <p:txBody>
          <a:bodyPr wrap="square" lIns="0" tIns="0" rIns="0" bIns="0" rtlCol="0" anchor="ctr"/>
          <a:lstStyle/>
          <a:p>
            <a:pPr algn="ctr"/>
            <a:r>
              <a:rPr lang="en-US" sz="2400" b="1">
                <a:solidFill>
                  <a:srgbClr val="02C39A"/>
                </a:solidFill>
                <a:latin typeface="Calibri"/>
                <a:ea typeface="Calibri"/>
                <a:cs typeface="Calibri"/>
              </a:rPr>
              <a:t>SCP Layer</a:t>
            </a:r>
            <a:endParaRPr lang="en-US" sz="2400" b="1"/>
          </a:p>
        </p:txBody>
      </p:sp>
      <p:sp>
        <p:nvSpPr>
          <p:cNvPr id="24" name="Text 24">
            <a:extLst>
              <a:ext uri="{FF2B5EF4-FFF2-40B4-BE49-F238E27FC236}">
                <a16:creationId xmlns:a16="http://schemas.microsoft.com/office/drawing/2014/main" id="{F3E14D4D-9F8C-6CA7-12FF-D290A1AABF7E}"/>
              </a:ext>
            </a:extLst>
          </p:cNvPr>
          <p:cNvSpPr/>
          <p:nvPr/>
        </p:nvSpPr>
        <p:spPr>
          <a:xfrm>
            <a:off x="8562189" y="4050911"/>
            <a:ext cx="3562574" cy="1677475"/>
          </a:xfrm>
          <a:prstGeom prst="rect">
            <a:avLst/>
          </a:prstGeom>
          <a:noFill/>
          <a:ln/>
        </p:spPr>
        <p:txBody>
          <a:bodyPr wrap="square" lIns="0" tIns="0" rIns="0" bIns="0" rtlCol="0" anchor="ctr"/>
          <a:lstStyle/>
          <a:p>
            <a:r>
              <a:rPr lang="en-US" sz="1600" b="1" dirty="0">
                <a:solidFill>
                  <a:srgbClr val="0B5394"/>
                </a:solidFill>
                <a:latin typeface="Calibri"/>
                <a:ea typeface="Calibri"/>
                <a:cs typeface="Calibri"/>
              </a:rPr>
              <a:t> ≤ 2 days → High Priority</a:t>
            </a:r>
            <a:br>
              <a:rPr lang="en-US" sz="1600" b="1" dirty="0">
                <a:solidFill>
                  <a:srgbClr val="0B5394"/>
                </a:solidFill>
                <a:latin typeface="Calibri"/>
                <a:ea typeface="Calibri"/>
                <a:cs typeface="Calibri"/>
              </a:rPr>
            </a:br>
            <a:r>
              <a:rPr lang="en-US" sz="1600" b="1" dirty="0">
                <a:solidFill>
                  <a:srgbClr val="0B5394"/>
                </a:solidFill>
                <a:latin typeface="Calibri"/>
                <a:ea typeface="Calibri"/>
                <a:cs typeface="Calibri"/>
              </a:rPr>
              <a:t> </a:t>
            </a:r>
            <a:endParaRPr lang="en-US" b="1">
              <a:solidFill>
                <a:srgbClr val="0B5394"/>
              </a:solidFill>
              <a:latin typeface="Calibri"/>
              <a:ea typeface="Calibri"/>
              <a:cs typeface="Calibri"/>
            </a:endParaRPr>
          </a:p>
          <a:p>
            <a:r>
              <a:rPr lang="en-US" sz="1600" b="1">
                <a:solidFill>
                  <a:srgbClr val="0B5394"/>
                </a:solidFill>
                <a:latin typeface="Calibri"/>
                <a:ea typeface="Calibri"/>
                <a:cs typeface="Calibri"/>
              </a:rPr>
              <a:t>2–5 days → Medium Priority</a:t>
            </a:r>
            <a:br>
              <a:rPr lang="en-US" sz="1600" b="1" dirty="0">
                <a:solidFill>
                  <a:srgbClr val="0B5394"/>
                </a:solidFill>
                <a:latin typeface="Calibri"/>
                <a:ea typeface="Calibri"/>
                <a:cs typeface="Calibri"/>
              </a:rPr>
            </a:br>
            <a:endParaRPr lang="en-US" sz="1600" b="1" dirty="0">
              <a:solidFill>
                <a:srgbClr val="0B5394"/>
              </a:solidFill>
              <a:latin typeface="Calibri"/>
              <a:ea typeface="Calibri"/>
              <a:cs typeface="Calibri"/>
            </a:endParaRPr>
          </a:p>
          <a:p>
            <a:r>
              <a:rPr lang="en-US" sz="1600" b="1">
                <a:solidFill>
                  <a:srgbClr val="0B5394"/>
                </a:solidFill>
                <a:latin typeface="Calibri"/>
                <a:ea typeface="Calibri"/>
                <a:cs typeface="Calibri"/>
              </a:rPr>
              <a:t> &gt; 5 days → Low Priority</a:t>
            </a:r>
            <a:br>
              <a:rPr lang="en-US" sz="1600" b="1" dirty="0">
                <a:solidFill>
                  <a:srgbClr val="0B5394"/>
                </a:solidFill>
                <a:latin typeface="Calibri"/>
                <a:ea typeface="Calibri"/>
                <a:cs typeface="Calibri"/>
              </a:rPr>
            </a:br>
            <a:endParaRPr lang="en-US" sz="1600" b="1">
              <a:solidFill>
                <a:srgbClr val="0B5394"/>
              </a:solidFill>
              <a:latin typeface="Calibri"/>
              <a:ea typeface="Calibri"/>
              <a:cs typeface="Calibri"/>
            </a:endParaRPr>
          </a:p>
          <a:p>
            <a:r>
              <a:rPr lang="en-US" sz="1600" b="1">
                <a:solidFill>
                  <a:srgbClr val="0B5394"/>
                </a:solidFill>
                <a:latin typeface="Calibri"/>
                <a:ea typeface="Calibri"/>
                <a:cs typeface="Calibri"/>
              </a:rPr>
              <a:t> Helps reduce food waste efficiently</a:t>
            </a:r>
            <a:endParaRPr lang="en-US">
              <a:solidFill>
                <a:srgbClr val="0B5394"/>
              </a:solidFill>
              <a:latin typeface="Calibri"/>
              <a:ea typeface="Calibri"/>
              <a:cs typeface="Calibri"/>
            </a:endParaRPr>
          </a:p>
        </p:txBody>
      </p:sp>
      <p:pic>
        <p:nvPicPr>
          <p:cNvPr id="25" name="Picture 24" descr="A person in a blue shirt&#10;&#10;AI-generated content may be incorrect.">
            <a:extLst>
              <a:ext uri="{FF2B5EF4-FFF2-40B4-BE49-F238E27FC236}">
                <a16:creationId xmlns:a16="http://schemas.microsoft.com/office/drawing/2014/main" id="{24A82D5F-EA40-892C-7BB4-8C7A4D74BF59}"/>
              </a:ext>
            </a:extLst>
          </p:cNvPr>
          <p:cNvPicPr>
            <a:picLocks noChangeAspect="1"/>
          </p:cNvPicPr>
          <p:nvPr/>
        </p:nvPicPr>
        <p:blipFill>
          <a:blip r:embed="rId3"/>
          <a:stretch>
            <a:fillRect/>
          </a:stretch>
        </p:blipFill>
        <p:spPr>
          <a:xfrm>
            <a:off x="10089388" y="117236"/>
            <a:ext cx="2044483" cy="2552569"/>
          </a:xfrm>
          <a:prstGeom prst="rect">
            <a:avLst/>
          </a:prstGeom>
        </p:spPr>
      </p:pic>
    </p:spTree>
    <p:extLst>
      <p:ext uri="{BB962C8B-B14F-4D97-AF65-F5344CB8AC3E}">
        <p14:creationId xmlns:p14="http://schemas.microsoft.com/office/powerpoint/2010/main" val="1494999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C2F6-E99E-F0DE-24B2-BAB43CE789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98071A8-40DC-6088-5638-1E04D5CDCA6F}"/>
              </a:ext>
            </a:extLst>
          </p:cNvPr>
          <p:cNvSpPr>
            <a:spLocks noGrp="1"/>
          </p:cNvSpPr>
          <p:nvPr>
            <p:ph type="title"/>
          </p:nvPr>
        </p:nvSpPr>
        <p:spPr>
          <a:xfrm>
            <a:off x="76200" y="1"/>
            <a:ext cx="7723716" cy="533400"/>
          </a:xfrm>
        </p:spPr>
        <p:txBody>
          <a:bodyPr>
            <a:normAutofit fontScale="90000"/>
          </a:bodyPr>
          <a:lstStyle/>
          <a:p>
            <a:r>
              <a:rPr lang="en-US" sz="3200">
                <a:latin typeface="Adobe Devanagari"/>
              </a:rPr>
              <a:t>IT22117946 | JAYASUNDARA D.H</a:t>
            </a:r>
          </a:p>
        </p:txBody>
      </p:sp>
      <p:sp>
        <p:nvSpPr>
          <p:cNvPr id="4" name="Rectangle 3">
            <a:extLst>
              <a:ext uri="{FF2B5EF4-FFF2-40B4-BE49-F238E27FC236}">
                <a16:creationId xmlns:a16="http://schemas.microsoft.com/office/drawing/2014/main" id="{3973D423-A250-2FAC-AAA4-A44330E9464F}"/>
              </a:ext>
            </a:extLst>
          </p:cNvPr>
          <p:cNvSpPr/>
          <p:nvPr/>
        </p:nvSpPr>
        <p:spPr>
          <a:xfrm>
            <a:off x="256547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dirty="0">
                <a:solidFill>
                  <a:schemeClr val="tx1"/>
                </a:solidFill>
              </a:rPr>
              <a:t>IT22117946</a:t>
            </a:r>
            <a:r>
              <a:rPr lang="en-US" sz="2000">
                <a:solidFill>
                  <a:schemeClr val="tx1"/>
                </a:solidFill>
              </a:rPr>
              <a:t>| JAYASUNDARA D.H|   </a:t>
            </a:r>
            <a:r>
              <a:rPr lang="en-US" sz="2000" b="0">
                <a:solidFill>
                  <a:schemeClr val="tx1"/>
                </a:solidFill>
              </a:rPr>
              <a:t>25-26J-351</a:t>
            </a:r>
          </a:p>
        </p:txBody>
      </p:sp>
      <p:sp>
        <p:nvSpPr>
          <p:cNvPr id="3" name="Text 3">
            <a:extLst>
              <a:ext uri="{FF2B5EF4-FFF2-40B4-BE49-F238E27FC236}">
                <a16:creationId xmlns:a16="http://schemas.microsoft.com/office/drawing/2014/main" id="{B24C9B24-0B4A-5F16-4FC8-B93F6FC1436D}"/>
              </a:ext>
            </a:extLst>
          </p:cNvPr>
          <p:cNvSpPr/>
          <p:nvPr/>
        </p:nvSpPr>
        <p:spPr>
          <a:xfrm>
            <a:off x="365760" y="631923"/>
            <a:ext cx="9144000" cy="79248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000" b="1" dirty="0">
                <a:solidFill>
                  <a:srgbClr val="007B9E"/>
                </a:solidFill>
              </a:rPr>
              <a:t>Smart Shopping &amp; Kitchen Assistant</a:t>
            </a:r>
            <a:endParaRPr lang="en-US" sz="4000" dirty="0"/>
          </a:p>
        </p:txBody>
      </p:sp>
      <p:sp>
        <p:nvSpPr>
          <p:cNvPr id="7" name="Shape 4">
            <a:extLst>
              <a:ext uri="{FF2B5EF4-FFF2-40B4-BE49-F238E27FC236}">
                <a16:creationId xmlns:a16="http://schemas.microsoft.com/office/drawing/2014/main" id="{90661DF2-1FAF-0BE2-EC34-B9C59FC21DB1}"/>
              </a:ext>
            </a:extLst>
          </p:cNvPr>
          <p:cNvSpPr/>
          <p:nvPr/>
        </p:nvSpPr>
        <p:spPr>
          <a:xfrm>
            <a:off x="304799" y="1665786"/>
            <a:ext cx="1856551" cy="1246041"/>
          </a:xfrm>
          <a:prstGeom prst="rect">
            <a:avLst/>
          </a:prstGeom>
          <a:solidFill>
            <a:srgbClr val="1B4332"/>
          </a:solidFill>
          <a:ln w="12700">
            <a:solidFill>
              <a:srgbClr val="FFFFF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9" name="Text 5">
            <a:extLst>
              <a:ext uri="{FF2B5EF4-FFF2-40B4-BE49-F238E27FC236}">
                <a16:creationId xmlns:a16="http://schemas.microsoft.com/office/drawing/2014/main" id="{580C3A48-2EE7-B357-0BAE-9375B13696A2}"/>
              </a:ext>
            </a:extLst>
          </p:cNvPr>
          <p:cNvSpPr/>
          <p:nvPr/>
        </p:nvSpPr>
        <p:spPr>
          <a:xfrm>
            <a:off x="259307" y="1680435"/>
            <a:ext cx="207264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000" b="1" dirty="0">
                <a:solidFill>
                  <a:srgbClr val="00D4FF"/>
                </a:solidFill>
              </a:rPr>
              <a:t>1</a:t>
            </a:r>
            <a:endParaRPr lang="en-US" sz="4000" dirty="0"/>
          </a:p>
        </p:txBody>
      </p:sp>
      <p:sp>
        <p:nvSpPr>
          <p:cNvPr id="11" name="Text 6">
            <a:extLst>
              <a:ext uri="{FF2B5EF4-FFF2-40B4-BE49-F238E27FC236}">
                <a16:creationId xmlns:a16="http://schemas.microsoft.com/office/drawing/2014/main" id="{8F5837B3-04D6-9FA3-27D5-5E7B276995C7}"/>
              </a:ext>
            </a:extLst>
          </p:cNvPr>
          <p:cNvSpPr/>
          <p:nvPr/>
        </p:nvSpPr>
        <p:spPr>
          <a:xfrm>
            <a:off x="191068" y="2155104"/>
            <a:ext cx="20726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dirty="0">
                <a:solidFill>
                  <a:srgbClr val="FFFFFF"/>
                </a:solidFill>
              </a:rPr>
              <a:t>Natural Language</a:t>
            </a:r>
            <a:endParaRPr lang="en-US" sz="1600" dirty="0"/>
          </a:p>
        </p:txBody>
      </p:sp>
      <p:sp>
        <p:nvSpPr>
          <p:cNvPr id="13" name="Text 7">
            <a:extLst>
              <a:ext uri="{FF2B5EF4-FFF2-40B4-BE49-F238E27FC236}">
                <a16:creationId xmlns:a16="http://schemas.microsoft.com/office/drawing/2014/main" id="{1A9D04DE-8E40-1CF0-A813-392BC83D8CCA}"/>
              </a:ext>
            </a:extLst>
          </p:cNvPr>
          <p:cNvSpPr/>
          <p:nvPr/>
        </p:nvSpPr>
        <p:spPr>
          <a:xfrm>
            <a:off x="259307" y="2460723"/>
            <a:ext cx="2072640"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dirty="0">
                <a:solidFill>
                  <a:srgbClr val="FFFFFF"/>
                </a:solidFill>
              </a:rPr>
              <a:t>Processing (NLP)</a:t>
            </a:r>
            <a:endParaRPr lang="en-US" sz="1600" dirty="0"/>
          </a:p>
        </p:txBody>
      </p:sp>
      <p:sp>
        <p:nvSpPr>
          <p:cNvPr id="15" name="Shape 8">
            <a:extLst>
              <a:ext uri="{FF2B5EF4-FFF2-40B4-BE49-F238E27FC236}">
                <a16:creationId xmlns:a16="http://schemas.microsoft.com/office/drawing/2014/main" id="{D0126871-4E79-F8EC-C1B2-3A246D8F6693}"/>
              </a:ext>
            </a:extLst>
          </p:cNvPr>
          <p:cNvSpPr/>
          <p:nvPr/>
        </p:nvSpPr>
        <p:spPr>
          <a:xfrm>
            <a:off x="2196288" y="2271747"/>
            <a:ext cx="158496" cy="0"/>
          </a:xfrm>
          <a:prstGeom prst="line">
            <a:avLst/>
          </a:prstGeom>
          <a:noFill/>
          <a:ln w="19050">
            <a:solidFill>
              <a:srgbClr val="88888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17" name="Shape 9">
            <a:extLst>
              <a:ext uri="{FF2B5EF4-FFF2-40B4-BE49-F238E27FC236}">
                <a16:creationId xmlns:a16="http://schemas.microsoft.com/office/drawing/2014/main" id="{BAB29A20-1366-3330-A1FD-4ABE965A7BD5}"/>
              </a:ext>
            </a:extLst>
          </p:cNvPr>
          <p:cNvSpPr/>
          <p:nvPr/>
        </p:nvSpPr>
        <p:spPr>
          <a:xfrm>
            <a:off x="2410012" y="1665786"/>
            <a:ext cx="1788312" cy="1246041"/>
          </a:xfrm>
          <a:prstGeom prst="rect">
            <a:avLst/>
          </a:prstGeom>
          <a:solidFill>
            <a:srgbClr val="155C45"/>
          </a:solidFill>
          <a:ln w="12700">
            <a:solidFill>
              <a:srgbClr val="FFFFF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19" name="Text 10">
            <a:extLst>
              <a:ext uri="{FF2B5EF4-FFF2-40B4-BE49-F238E27FC236}">
                <a16:creationId xmlns:a16="http://schemas.microsoft.com/office/drawing/2014/main" id="{A64D80E2-6802-5A8D-51D9-E7591FAC57F3}"/>
              </a:ext>
            </a:extLst>
          </p:cNvPr>
          <p:cNvSpPr/>
          <p:nvPr/>
        </p:nvSpPr>
        <p:spPr>
          <a:xfrm>
            <a:off x="2410012" y="1691808"/>
            <a:ext cx="1788312" cy="45192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000" b="1" dirty="0">
                <a:solidFill>
                  <a:srgbClr val="00D4FF"/>
                </a:solidFill>
              </a:rPr>
              <a:t>2</a:t>
            </a:r>
            <a:endParaRPr lang="en-US" sz="4000" dirty="0"/>
          </a:p>
        </p:txBody>
      </p:sp>
      <p:sp>
        <p:nvSpPr>
          <p:cNvPr id="21" name="Text 11">
            <a:extLst>
              <a:ext uri="{FF2B5EF4-FFF2-40B4-BE49-F238E27FC236}">
                <a16:creationId xmlns:a16="http://schemas.microsoft.com/office/drawing/2014/main" id="{1A771273-E35B-8E60-32A5-5A26E628CD5A}"/>
              </a:ext>
            </a:extLst>
          </p:cNvPr>
          <p:cNvSpPr/>
          <p:nvPr/>
        </p:nvSpPr>
        <p:spPr>
          <a:xfrm>
            <a:off x="2410012" y="2155104"/>
            <a:ext cx="1788312" cy="33000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dirty="0">
                <a:solidFill>
                  <a:srgbClr val="FFFFFF"/>
                </a:solidFill>
              </a:rPr>
              <a:t>SERPAPI</a:t>
            </a:r>
            <a:endParaRPr lang="en-US" sz="1600" dirty="0"/>
          </a:p>
        </p:txBody>
      </p:sp>
      <p:sp>
        <p:nvSpPr>
          <p:cNvPr id="23" name="Text 12">
            <a:extLst>
              <a:ext uri="{FF2B5EF4-FFF2-40B4-BE49-F238E27FC236}">
                <a16:creationId xmlns:a16="http://schemas.microsoft.com/office/drawing/2014/main" id="{D33DD132-963D-EAA7-D801-9480597588D5}"/>
              </a:ext>
            </a:extLst>
          </p:cNvPr>
          <p:cNvSpPr/>
          <p:nvPr/>
        </p:nvSpPr>
        <p:spPr>
          <a:xfrm>
            <a:off x="2410012" y="2472096"/>
            <a:ext cx="1788312" cy="33000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dirty="0">
                <a:solidFill>
                  <a:srgbClr val="FFFFFF"/>
                </a:solidFill>
              </a:rPr>
              <a:t>Product Search</a:t>
            </a:r>
            <a:endParaRPr lang="en-US" sz="1600" dirty="0"/>
          </a:p>
        </p:txBody>
      </p:sp>
      <p:sp>
        <p:nvSpPr>
          <p:cNvPr id="25" name="Shape 13">
            <a:extLst>
              <a:ext uri="{FF2B5EF4-FFF2-40B4-BE49-F238E27FC236}">
                <a16:creationId xmlns:a16="http://schemas.microsoft.com/office/drawing/2014/main" id="{E1998F5B-0077-EB98-0A25-570E532ECDC4}"/>
              </a:ext>
            </a:extLst>
          </p:cNvPr>
          <p:cNvSpPr/>
          <p:nvPr/>
        </p:nvSpPr>
        <p:spPr>
          <a:xfrm>
            <a:off x="4221889" y="2271747"/>
            <a:ext cx="158496" cy="0"/>
          </a:xfrm>
          <a:prstGeom prst="line">
            <a:avLst/>
          </a:prstGeom>
          <a:noFill/>
          <a:ln w="19050">
            <a:solidFill>
              <a:srgbClr val="88888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27" name="Shape 14">
            <a:extLst>
              <a:ext uri="{FF2B5EF4-FFF2-40B4-BE49-F238E27FC236}">
                <a16:creationId xmlns:a16="http://schemas.microsoft.com/office/drawing/2014/main" id="{9E4876FD-0FB0-3E08-5FE3-2F40E88DDE3A}"/>
              </a:ext>
            </a:extLst>
          </p:cNvPr>
          <p:cNvSpPr/>
          <p:nvPr/>
        </p:nvSpPr>
        <p:spPr>
          <a:xfrm>
            <a:off x="4469732" y="1631667"/>
            <a:ext cx="1720073" cy="1280160"/>
          </a:xfrm>
          <a:prstGeom prst="rect">
            <a:avLst/>
          </a:prstGeom>
          <a:solidFill>
            <a:srgbClr val="0B7C6B"/>
          </a:solidFill>
          <a:ln w="12700">
            <a:solidFill>
              <a:srgbClr val="FFFFF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29" name="Text 15">
            <a:extLst>
              <a:ext uri="{FF2B5EF4-FFF2-40B4-BE49-F238E27FC236}">
                <a16:creationId xmlns:a16="http://schemas.microsoft.com/office/drawing/2014/main" id="{7CB72AB8-FBDF-2F13-6AB3-C4599EA30BBE}"/>
              </a:ext>
            </a:extLst>
          </p:cNvPr>
          <p:cNvSpPr/>
          <p:nvPr/>
        </p:nvSpPr>
        <p:spPr>
          <a:xfrm>
            <a:off x="4469732" y="1680435"/>
            <a:ext cx="1720073"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000" b="1" dirty="0">
                <a:solidFill>
                  <a:srgbClr val="00D4FF"/>
                </a:solidFill>
              </a:rPr>
              <a:t>3</a:t>
            </a:r>
            <a:endParaRPr lang="en-US" sz="4000" dirty="0"/>
          </a:p>
        </p:txBody>
      </p:sp>
      <p:sp>
        <p:nvSpPr>
          <p:cNvPr id="31" name="Text 16">
            <a:extLst>
              <a:ext uri="{FF2B5EF4-FFF2-40B4-BE49-F238E27FC236}">
                <a16:creationId xmlns:a16="http://schemas.microsoft.com/office/drawing/2014/main" id="{C7914BF7-517C-A4D7-499F-66247EDA1958}"/>
              </a:ext>
            </a:extLst>
          </p:cNvPr>
          <p:cNvSpPr/>
          <p:nvPr/>
        </p:nvSpPr>
        <p:spPr>
          <a:xfrm>
            <a:off x="4469732" y="2143731"/>
            <a:ext cx="172007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dirty="0">
                <a:solidFill>
                  <a:srgbClr val="FFFFFF"/>
                </a:solidFill>
              </a:rPr>
              <a:t>Hybrid</a:t>
            </a:r>
            <a:endParaRPr lang="en-US" sz="1600" dirty="0"/>
          </a:p>
        </p:txBody>
      </p:sp>
      <p:sp>
        <p:nvSpPr>
          <p:cNvPr id="33" name="Text 17">
            <a:extLst>
              <a:ext uri="{FF2B5EF4-FFF2-40B4-BE49-F238E27FC236}">
                <a16:creationId xmlns:a16="http://schemas.microsoft.com/office/drawing/2014/main" id="{6B52084E-0323-EE49-E1F1-277702E70722}"/>
              </a:ext>
            </a:extLst>
          </p:cNvPr>
          <p:cNvSpPr/>
          <p:nvPr/>
        </p:nvSpPr>
        <p:spPr>
          <a:xfrm>
            <a:off x="4469732" y="2460723"/>
            <a:ext cx="1720073"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dirty="0">
                <a:solidFill>
                  <a:srgbClr val="FFFFFF"/>
                </a:solidFill>
              </a:rPr>
              <a:t>Recommendation</a:t>
            </a:r>
            <a:endParaRPr lang="en-US" sz="1600" dirty="0"/>
          </a:p>
        </p:txBody>
      </p:sp>
      <p:sp>
        <p:nvSpPr>
          <p:cNvPr id="35" name="Shape 18">
            <a:extLst>
              <a:ext uri="{FF2B5EF4-FFF2-40B4-BE49-F238E27FC236}">
                <a16:creationId xmlns:a16="http://schemas.microsoft.com/office/drawing/2014/main" id="{1494EDE8-24DE-C793-F214-E0433A724A33}"/>
              </a:ext>
            </a:extLst>
          </p:cNvPr>
          <p:cNvSpPr/>
          <p:nvPr/>
        </p:nvSpPr>
        <p:spPr>
          <a:xfrm>
            <a:off x="6247490" y="2271747"/>
            <a:ext cx="158496" cy="0"/>
          </a:xfrm>
          <a:prstGeom prst="line">
            <a:avLst/>
          </a:prstGeom>
          <a:noFill/>
          <a:ln w="19050">
            <a:solidFill>
              <a:srgbClr val="88888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37" name="Shape 19">
            <a:extLst>
              <a:ext uri="{FF2B5EF4-FFF2-40B4-BE49-F238E27FC236}">
                <a16:creationId xmlns:a16="http://schemas.microsoft.com/office/drawing/2014/main" id="{D77B831A-3A1B-3CC5-2E7F-B56BC48D31CB}"/>
              </a:ext>
            </a:extLst>
          </p:cNvPr>
          <p:cNvSpPr/>
          <p:nvPr/>
        </p:nvSpPr>
        <p:spPr>
          <a:xfrm>
            <a:off x="6461214" y="1643040"/>
            <a:ext cx="1776939" cy="1268787"/>
          </a:xfrm>
          <a:prstGeom prst="rect">
            <a:avLst/>
          </a:prstGeom>
          <a:solidFill>
            <a:srgbClr val="028090"/>
          </a:solidFill>
          <a:ln w="12700">
            <a:solidFill>
              <a:srgbClr val="FFFFFF"/>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39" name="Text 20">
            <a:extLst>
              <a:ext uri="{FF2B5EF4-FFF2-40B4-BE49-F238E27FC236}">
                <a16:creationId xmlns:a16="http://schemas.microsoft.com/office/drawing/2014/main" id="{19F73E19-8D81-5855-DAF1-49244DBA3971}"/>
              </a:ext>
            </a:extLst>
          </p:cNvPr>
          <p:cNvSpPr/>
          <p:nvPr/>
        </p:nvSpPr>
        <p:spPr>
          <a:xfrm>
            <a:off x="6461214" y="1680435"/>
            <a:ext cx="1776939"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000" b="1" dirty="0">
                <a:solidFill>
                  <a:srgbClr val="00D4FF"/>
                </a:solidFill>
              </a:rPr>
              <a:t>4</a:t>
            </a:r>
            <a:endParaRPr lang="en-US" sz="4000" dirty="0"/>
          </a:p>
        </p:txBody>
      </p:sp>
      <p:sp>
        <p:nvSpPr>
          <p:cNvPr id="42" name="Text 21">
            <a:extLst>
              <a:ext uri="{FF2B5EF4-FFF2-40B4-BE49-F238E27FC236}">
                <a16:creationId xmlns:a16="http://schemas.microsoft.com/office/drawing/2014/main" id="{DFA29854-5AE5-6CEF-7B84-372F0D17B77D}"/>
              </a:ext>
            </a:extLst>
          </p:cNvPr>
          <p:cNvSpPr/>
          <p:nvPr/>
        </p:nvSpPr>
        <p:spPr>
          <a:xfrm>
            <a:off x="6461214" y="2143731"/>
            <a:ext cx="1776939"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dirty="0">
                <a:solidFill>
                  <a:srgbClr val="FFFFFF"/>
                </a:solidFill>
              </a:rPr>
              <a:t>Meal Planning</a:t>
            </a:r>
            <a:endParaRPr lang="en-US" sz="1600" dirty="0"/>
          </a:p>
        </p:txBody>
      </p:sp>
      <p:sp>
        <p:nvSpPr>
          <p:cNvPr id="44" name="Text 22">
            <a:extLst>
              <a:ext uri="{FF2B5EF4-FFF2-40B4-BE49-F238E27FC236}">
                <a16:creationId xmlns:a16="http://schemas.microsoft.com/office/drawing/2014/main" id="{A1FA0F40-EA10-7085-C4DA-96123DD7B8B4}"/>
              </a:ext>
            </a:extLst>
          </p:cNvPr>
          <p:cNvSpPr/>
          <p:nvPr/>
        </p:nvSpPr>
        <p:spPr>
          <a:xfrm>
            <a:off x="6461214" y="2460723"/>
            <a:ext cx="1776939" cy="341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dirty="0">
                <a:solidFill>
                  <a:srgbClr val="FFFFFF"/>
                </a:solidFill>
              </a:rPr>
              <a:t>&amp; Scheduling</a:t>
            </a:r>
            <a:endParaRPr lang="en-US" sz="1600" dirty="0"/>
          </a:p>
        </p:txBody>
      </p:sp>
      <p:sp>
        <p:nvSpPr>
          <p:cNvPr id="46" name="Shape 23">
            <a:extLst>
              <a:ext uri="{FF2B5EF4-FFF2-40B4-BE49-F238E27FC236}">
                <a16:creationId xmlns:a16="http://schemas.microsoft.com/office/drawing/2014/main" id="{5C2F887C-4304-E16A-FFD4-5C8C5F1AAFD4}"/>
              </a:ext>
            </a:extLst>
          </p:cNvPr>
          <p:cNvSpPr/>
          <p:nvPr/>
        </p:nvSpPr>
        <p:spPr>
          <a:xfrm>
            <a:off x="8261718" y="2271747"/>
            <a:ext cx="158496" cy="0"/>
          </a:xfrm>
          <a:prstGeom prst="line">
            <a:avLst/>
          </a:prstGeom>
          <a:noFill/>
          <a:ln w="19050">
            <a:solidFill>
              <a:srgbClr val="88888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83" name="Shape 24">
            <a:extLst>
              <a:ext uri="{FF2B5EF4-FFF2-40B4-BE49-F238E27FC236}">
                <a16:creationId xmlns:a16="http://schemas.microsoft.com/office/drawing/2014/main" id="{AFDECA8A-8DA5-D6C1-7569-B07E69ED7652}"/>
              </a:ext>
            </a:extLst>
          </p:cNvPr>
          <p:cNvSpPr/>
          <p:nvPr/>
        </p:nvSpPr>
        <p:spPr>
          <a:xfrm>
            <a:off x="8486814" y="1665786"/>
            <a:ext cx="1594969" cy="1246041"/>
          </a:xfrm>
          <a:prstGeom prst="rect">
            <a:avLst/>
          </a:prstGeom>
          <a:solidFill>
            <a:srgbClr val="ADE8F4"/>
          </a:solidFill>
          <a:ln w="254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85" name="Text 25">
            <a:extLst>
              <a:ext uri="{FF2B5EF4-FFF2-40B4-BE49-F238E27FC236}">
                <a16:creationId xmlns:a16="http://schemas.microsoft.com/office/drawing/2014/main" id="{747DD24C-1048-5931-59AC-4F7A2F956857}"/>
              </a:ext>
            </a:extLst>
          </p:cNvPr>
          <p:cNvSpPr/>
          <p:nvPr/>
        </p:nvSpPr>
        <p:spPr>
          <a:xfrm>
            <a:off x="8486814" y="1691808"/>
            <a:ext cx="1594969" cy="45192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4000" b="1" dirty="0">
                <a:solidFill>
                  <a:srgbClr val="007B9E"/>
                </a:solidFill>
              </a:rPr>
              <a:t>5</a:t>
            </a:r>
            <a:endParaRPr lang="en-US" sz="4000" dirty="0"/>
          </a:p>
        </p:txBody>
      </p:sp>
      <p:sp>
        <p:nvSpPr>
          <p:cNvPr id="87" name="Text 26">
            <a:extLst>
              <a:ext uri="{FF2B5EF4-FFF2-40B4-BE49-F238E27FC236}">
                <a16:creationId xmlns:a16="http://schemas.microsoft.com/office/drawing/2014/main" id="{76786FA1-7C7D-9418-1EB1-566C1A476A9A}"/>
              </a:ext>
            </a:extLst>
          </p:cNvPr>
          <p:cNvSpPr/>
          <p:nvPr/>
        </p:nvSpPr>
        <p:spPr>
          <a:xfrm>
            <a:off x="8486814" y="2155104"/>
            <a:ext cx="1594969" cy="33000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b="1" dirty="0">
                <a:solidFill>
                  <a:srgbClr val="005F7A"/>
                </a:solidFill>
              </a:rPr>
              <a:t>Waste Reduction</a:t>
            </a:r>
            <a:endParaRPr lang="en-US" sz="1600" dirty="0"/>
          </a:p>
        </p:txBody>
      </p:sp>
      <p:sp>
        <p:nvSpPr>
          <p:cNvPr id="89" name="Text 27">
            <a:extLst>
              <a:ext uri="{FF2B5EF4-FFF2-40B4-BE49-F238E27FC236}">
                <a16:creationId xmlns:a16="http://schemas.microsoft.com/office/drawing/2014/main" id="{37B40E44-D47D-EFD0-5472-04A370985806}"/>
              </a:ext>
            </a:extLst>
          </p:cNvPr>
          <p:cNvSpPr/>
          <p:nvPr/>
        </p:nvSpPr>
        <p:spPr>
          <a:xfrm>
            <a:off x="8486814" y="2472096"/>
            <a:ext cx="1594969" cy="33000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600" dirty="0">
                <a:solidFill>
                  <a:srgbClr val="005F7A"/>
                </a:solidFill>
              </a:rPr>
              <a:t>Analytics</a:t>
            </a:r>
            <a:endParaRPr lang="en-US" sz="1600" dirty="0"/>
          </a:p>
        </p:txBody>
      </p:sp>
      <p:sp>
        <p:nvSpPr>
          <p:cNvPr id="91" name="Shape 28">
            <a:extLst>
              <a:ext uri="{FF2B5EF4-FFF2-40B4-BE49-F238E27FC236}">
                <a16:creationId xmlns:a16="http://schemas.microsoft.com/office/drawing/2014/main" id="{648BCAA8-86BD-5F71-3BDE-35AE80C87639}"/>
              </a:ext>
            </a:extLst>
          </p:cNvPr>
          <p:cNvSpPr/>
          <p:nvPr/>
        </p:nvSpPr>
        <p:spPr>
          <a:xfrm>
            <a:off x="304800" y="3167859"/>
            <a:ext cx="2560320" cy="1072896"/>
          </a:xfrm>
          <a:prstGeom prst="rect">
            <a:avLst/>
          </a:prstGeom>
          <a:solidFill>
            <a:srgbClr val="0B6E8C"/>
          </a:solidFill>
          <a:ln w="12700">
            <a:solidFill>
              <a:srgbClr val="0B6E8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3" name="Text 29">
            <a:extLst>
              <a:ext uri="{FF2B5EF4-FFF2-40B4-BE49-F238E27FC236}">
                <a16:creationId xmlns:a16="http://schemas.microsoft.com/office/drawing/2014/main" id="{9B04EA71-0CBD-17D0-687F-61E5EE26CAB0}"/>
              </a:ext>
            </a:extLst>
          </p:cNvPr>
          <p:cNvSpPr/>
          <p:nvPr/>
        </p:nvSpPr>
        <p:spPr>
          <a:xfrm>
            <a:off x="304800" y="3192243"/>
            <a:ext cx="256032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dirty="0">
                <a:solidFill>
                  <a:srgbClr val="ADE8F4"/>
                </a:solidFill>
              </a:rPr>
              <a:t>11</a:t>
            </a:r>
            <a:endParaRPr lang="en-US" sz="3600" dirty="0"/>
          </a:p>
        </p:txBody>
      </p:sp>
      <p:sp>
        <p:nvSpPr>
          <p:cNvPr id="95" name="Text 30">
            <a:extLst>
              <a:ext uri="{FF2B5EF4-FFF2-40B4-BE49-F238E27FC236}">
                <a16:creationId xmlns:a16="http://schemas.microsoft.com/office/drawing/2014/main" id="{A18E66D9-BBA8-76E6-DDA7-1109202B24B3}"/>
              </a:ext>
            </a:extLst>
          </p:cNvPr>
          <p:cNvSpPr/>
          <p:nvPr/>
        </p:nvSpPr>
        <p:spPr>
          <a:xfrm>
            <a:off x="304800" y="3753075"/>
            <a:ext cx="256032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dirty="0">
                <a:solidFill>
                  <a:srgbClr val="CADCFC"/>
                </a:solidFill>
              </a:rPr>
              <a:t>Integrated</a:t>
            </a:r>
            <a:endParaRPr lang="en-US" sz="1800" dirty="0"/>
          </a:p>
          <a:p>
            <a:pPr marL="0" indent="0" algn="ctr">
              <a:buNone/>
            </a:pPr>
            <a:r>
              <a:rPr lang="en-US" sz="1800" dirty="0">
                <a:solidFill>
                  <a:srgbClr val="CADCFC"/>
                </a:solidFill>
              </a:rPr>
              <a:t>AI Features</a:t>
            </a:r>
            <a:endParaRPr lang="en-US" sz="1800" dirty="0"/>
          </a:p>
        </p:txBody>
      </p:sp>
      <p:sp>
        <p:nvSpPr>
          <p:cNvPr id="97" name="Shape 31">
            <a:extLst>
              <a:ext uri="{FF2B5EF4-FFF2-40B4-BE49-F238E27FC236}">
                <a16:creationId xmlns:a16="http://schemas.microsoft.com/office/drawing/2014/main" id="{1969EA37-2C9D-9BED-EA97-820891D9DDD0}"/>
              </a:ext>
            </a:extLst>
          </p:cNvPr>
          <p:cNvSpPr/>
          <p:nvPr/>
        </p:nvSpPr>
        <p:spPr>
          <a:xfrm>
            <a:off x="3023616" y="3167859"/>
            <a:ext cx="2560320" cy="1072896"/>
          </a:xfrm>
          <a:prstGeom prst="rect">
            <a:avLst/>
          </a:prstGeom>
          <a:solidFill>
            <a:srgbClr val="0B6E8C"/>
          </a:solidFill>
          <a:ln w="12700">
            <a:solidFill>
              <a:srgbClr val="0B6E8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9" name="Text 32">
            <a:extLst>
              <a:ext uri="{FF2B5EF4-FFF2-40B4-BE49-F238E27FC236}">
                <a16:creationId xmlns:a16="http://schemas.microsoft.com/office/drawing/2014/main" id="{31E84E90-1404-F0F0-DADC-BD5769BD36DB}"/>
              </a:ext>
            </a:extLst>
          </p:cNvPr>
          <p:cNvSpPr/>
          <p:nvPr/>
        </p:nvSpPr>
        <p:spPr>
          <a:xfrm>
            <a:off x="3023616" y="3192243"/>
            <a:ext cx="256032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dirty="0">
                <a:solidFill>
                  <a:srgbClr val="ADE8F4"/>
                </a:solidFill>
              </a:rPr>
              <a:t>94.2%</a:t>
            </a:r>
            <a:endParaRPr lang="en-US" sz="3600" dirty="0"/>
          </a:p>
        </p:txBody>
      </p:sp>
      <p:sp>
        <p:nvSpPr>
          <p:cNvPr id="101" name="Text 33">
            <a:extLst>
              <a:ext uri="{FF2B5EF4-FFF2-40B4-BE49-F238E27FC236}">
                <a16:creationId xmlns:a16="http://schemas.microsoft.com/office/drawing/2014/main" id="{1689B03C-232F-9AA7-F589-51C5973B6D5F}"/>
              </a:ext>
            </a:extLst>
          </p:cNvPr>
          <p:cNvSpPr/>
          <p:nvPr/>
        </p:nvSpPr>
        <p:spPr>
          <a:xfrm>
            <a:off x="3023616" y="3753075"/>
            <a:ext cx="256032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dirty="0">
                <a:solidFill>
                  <a:srgbClr val="CADCFC"/>
                </a:solidFill>
              </a:rPr>
              <a:t>NLP Query</a:t>
            </a:r>
            <a:endParaRPr lang="en-US" sz="1800" dirty="0"/>
          </a:p>
          <a:p>
            <a:pPr marL="0" indent="0" algn="ctr">
              <a:buNone/>
            </a:pPr>
            <a:r>
              <a:rPr lang="en-US" sz="1800" dirty="0">
                <a:solidFill>
                  <a:srgbClr val="CADCFC"/>
                </a:solidFill>
              </a:rPr>
              <a:t>Accuracy</a:t>
            </a:r>
            <a:endParaRPr lang="en-US" sz="1800" dirty="0"/>
          </a:p>
        </p:txBody>
      </p:sp>
      <p:sp>
        <p:nvSpPr>
          <p:cNvPr id="103" name="Shape 34">
            <a:extLst>
              <a:ext uri="{FF2B5EF4-FFF2-40B4-BE49-F238E27FC236}">
                <a16:creationId xmlns:a16="http://schemas.microsoft.com/office/drawing/2014/main" id="{34B48A87-B6FD-AE46-B5A7-78F887D7B238}"/>
              </a:ext>
            </a:extLst>
          </p:cNvPr>
          <p:cNvSpPr/>
          <p:nvPr/>
        </p:nvSpPr>
        <p:spPr>
          <a:xfrm>
            <a:off x="5742432" y="3167859"/>
            <a:ext cx="2560320" cy="1072896"/>
          </a:xfrm>
          <a:prstGeom prst="rect">
            <a:avLst/>
          </a:prstGeom>
          <a:solidFill>
            <a:srgbClr val="0B6E8C"/>
          </a:solidFill>
          <a:ln w="12700">
            <a:solidFill>
              <a:srgbClr val="0B6E8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05" name="Text 35">
            <a:extLst>
              <a:ext uri="{FF2B5EF4-FFF2-40B4-BE49-F238E27FC236}">
                <a16:creationId xmlns:a16="http://schemas.microsoft.com/office/drawing/2014/main" id="{A20310F3-5133-7EEB-5D19-943ECAEB0318}"/>
              </a:ext>
            </a:extLst>
          </p:cNvPr>
          <p:cNvSpPr/>
          <p:nvPr/>
        </p:nvSpPr>
        <p:spPr>
          <a:xfrm>
            <a:off x="5742432" y="3192243"/>
            <a:ext cx="256032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dirty="0">
                <a:solidFill>
                  <a:srgbClr val="ADE8F4"/>
                </a:solidFill>
              </a:rPr>
              <a:t>87.2%</a:t>
            </a:r>
            <a:endParaRPr lang="en-US" sz="3600" dirty="0"/>
          </a:p>
        </p:txBody>
      </p:sp>
      <p:sp>
        <p:nvSpPr>
          <p:cNvPr id="107" name="Text 36">
            <a:extLst>
              <a:ext uri="{FF2B5EF4-FFF2-40B4-BE49-F238E27FC236}">
                <a16:creationId xmlns:a16="http://schemas.microsoft.com/office/drawing/2014/main" id="{CD63C7B4-F047-2DB2-74C0-F252E7A9C81B}"/>
              </a:ext>
            </a:extLst>
          </p:cNvPr>
          <p:cNvSpPr/>
          <p:nvPr/>
        </p:nvSpPr>
        <p:spPr>
          <a:xfrm>
            <a:off x="5742432" y="3753075"/>
            <a:ext cx="256032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dirty="0">
                <a:solidFill>
                  <a:srgbClr val="CADCFC"/>
                </a:solidFill>
              </a:rPr>
              <a:t>Recommendation</a:t>
            </a:r>
            <a:endParaRPr lang="en-US" sz="1800" dirty="0"/>
          </a:p>
          <a:p>
            <a:pPr marL="0" indent="0" algn="ctr">
              <a:buNone/>
            </a:pPr>
            <a:r>
              <a:rPr lang="en-US" sz="1800" dirty="0">
                <a:solidFill>
                  <a:srgbClr val="CADCFC"/>
                </a:solidFill>
              </a:rPr>
              <a:t>Precision</a:t>
            </a:r>
            <a:endParaRPr lang="en-US" sz="1800" dirty="0"/>
          </a:p>
        </p:txBody>
      </p:sp>
      <p:sp>
        <p:nvSpPr>
          <p:cNvPr id="109" name="Shape 37">
            <a:extLst>
              <a:ext uri="{FF2B5EF4-FFF2-40B4-BE49-F238E27FC236}">
                <a16:creationId xmlns:a16="http://schemas.microsoft.com/office/drawing/2014/main" id="{01754D9F-CD9C-24CF-C07E-FF5F57E4E0FC}"/>
              </a:ext>
            </a:extLst>
          </p:cNvPr>
          <p:cNvSpPr/>
          <p:nvPr/>
        </p:nvSpPr>
        <p:spPr>
          <a:xfrm>
            <a:off x="8461248" y="3167859"/>
            <a:ext cx="2560320" cy="1072896"/>
          </a:xfrm>
          <a:prstGeom prst="rect">
            <a:avLst/>
          </a:prstGeom>
          <a:solidFill>
            <a:srgbClr val="0B6E8C"/>
          </a:solidFill>
          <a:ln w="12700">
            <a:solidFill>
              <a:srgbClr val="0B6E8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11" name="Text 38">
            <a:extLst>
              <a:ext uri="{FF2B5EF4-FFF2-40B4-BE49-F238E27FC236}">
                <a16:creationId xmlns:a16="http://schemas.microsoft.com/office/drawing/2014/main" id="{80AB80AB-EF9F-F26D-3BDC-BBEADB3CEFB7}"/>
              </a:ext>
            </a:extLst>
          </p:cNvPr>
          <p:cNvSpPr/>
          <p:nvPr/>
        </p:nvSpPr>
        <p:spPr>
          <a:xfrm>
            <a:off x="8461248" y="3192243"/>
            <a:ext cx="2560320" cy="58521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3600" b="1" dirty="0">
                <a:solidFill>
                  <a:srgbClr val="ADE8F4"/>
                </a:solidFill>
              </a:rPr>
              <a:t>35%</a:t>
            </a:r>
            <a:endParaRPr lang="en-US" sz="3600" dirty="0"/>
          </a:p>
        </p:txBody>
      </p:sp>
      <p:sp>
        <p:nvSpPr>
          <p:cNvPr id="113" name="Text 39">
            <a:extLst>
              <a:ext uri="{FF2B5EF4-FFF2-40B4-BE49-F238E27FC236}">
                <a16:creationId xmlns:a16="http://schemas.microsoft.com/office/drawing/2014/main" id="{9548E419-C0F6-2C27-A369-1EA4641E2BA1}"/>
              </a:ext>
            </a:extLst>
          </p:cNvPr>
          <p:cNvSpPr/>
          <p:nvPr/>
        </p:nvSpPr>
        <p:spPr>
          <a:xfrm>
            <a:off x="8461248" y="3753075"/>
            <a:ext cx="256032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00" dirty="0">
                <a:solidFill>
                  <a:srgbClr val="CADCFC"/>
                </a:solidFill>
              </a:rPr>
              <a:t>Food Waste</a:t>
            </a:r>
            <a:endParaRPr lang="en-US" sz="1800" dirty="0"/>
          </a:p>
          <a:p>
            <a:pPr marL="0" indent="0" algn="ctr">
              <a:buNone/>
            </a:pPr>
            <a:r>
              <a:rPr lang="en-US" sz="1800" dirty="0">
                <a:solidFill>
                  <a:srgbClr val="CADCFC"/>
                </a:solidFill>
              </a:rPr>
              <a:t>Reduction</a:t>
            </a:r>
            <a:endParaRPr lang="en-US" sz="1800" dirty="0"/>
          </a:p>
        </p:txBody>
      </p:sp>
      <p:sp>
        <p:nvSpPr>
          <p:cNvPr id="115" name="Shape 40">
            <a:extLst>
              <a:ext uri="{FF2B5EF4-FFF2-40B4-BE49-F238E27FC236}">
                <a16:creationId xmlns:a16="http://schemas.microsoft.com/office/drawing/2014/main" id="{5CF0FD8A-B756-569D-0C1C-86E4CDE04B8E}"/>
              </a:ext>
            </a:extLst>
          </p:cNvPr>
          <p:cNvSpPr/>
          <p:nvPr/>
        </p:nvSpPr>
        <p:spPr>
          <a:xfrm>
            <a:off x="304800" y="4411443"/>
            <a:ext cx="11582400" cy="1889760"/>
          </a:xfrm>
          <a:prstGeom prst="rect">
            <a:avLst/>
          </a:prstGeom>
          <a:solidFill>
            <a:srgbClr val="E8F7FF"/>
          </a:solidFill>
          <a:ln w="1905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sp>
        <p:nvSpPr>
          <p:cNvPr id="117" name="Text 41">
            <a:extLst>
              <a:ext uri="{FF2B5EF4-FFF2-40B4-BE49-F238E27FC236}">
                <a16:creationId xmlns:a16="http://schemas.microsoft.com/office/drawing/2014/main" id="{3485C013-8C5A-D2A3-2301-6DFB592D9E19}"/>
              </a:ext>
            </a:extLst>
          </p:cNvPr>
          <p:cNvSpPr/>
          <p:nvPr/>
        </p:nvSpPr>
        <p:spPr>
          <a:xfrm>
            <a:off x="463296" y="4472403"/>
            <a:ext cx="1121664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2000" b="1" dirty="0">
                <a:solidFill>
                  <a:srgbClr val="005F7A"/>
                </a:solidFill>
              </a:rPr>
              <a:t>Hybrid Intelligence Architecture</a:t>
            </a:r>
            <a:endParaRPr lang="en-US" sz="2000" dirty="0"/>
          </a:p>
        </p:txBody>
      </p:sp>
      <p:sp>
        <p:nvSpPr>
          <p:cNvPr id="119" name="Text 42">
            <a:extLst>
              <a:ext uri="{FF2B5EF4-FFF2-40B4-BE49-F238E27FC236}">
                <a16:creationId xmlns:a16="http://schemas.microsoft.com/office/drawing/2014/main" id="{6BAC1888-443A-F46E-F6DA-1B1D064C12A3}"/>
              </a:ext>
            </a:extLst>
          </p:cNvPr>
          <p:cNvSpPr/>
          <p:nvPr/>
        </p:nvSpPr>
        <p:spPr>
          <a:xfrm>
            <a:off x="463296" y="4874739"/>
            <a:ext cx="5486400" cy="13411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007B9E"/>
                </a:solidFill>
              </a:rPr>
              <a:t>NLP Layer — </a:t>
            </a:r>
            <a:r>
              <a:rPr lang="en-US" sz="1600" dirty="0">
                <a:solidFill>
                  <a:srgbClr val="1A1A2E"/>
                </a:solidFill>
              </a:rPr>
              <a:t>SpaCy pipeline with entity extraction, 50+ language support, 94.2% intent accuracy</a:t>
            </a:r>
            <a:r>
              <a:rPr lang="en-US" sz="1600" dirty="0">
                <a:solidFill>
                  <a:srgbClr val="000000"/>
                </a:solidFill>
              </a:rPr>
              <a:t>
</a:t>
            </a:r>
            <a:r>
              <a:rPr lang="en-US" sz="1600" b="1" dirty="0">
                <a:solidFill>
                  <a:srgbClr val="007B9E"/>
                </a:solidFill>
              </a:rPr>
              <a:t>Recommendation Engine — </a:t>
            </a:r>
            <a:r>
              <a:rPr lang="en-US" sz="1600" dirty="0">
                <a:solidFill>
                  <a:srgbClr val="1A1A2E"/>
                </a:solidFill>
              </a:rPr>
              <a:t>5-algorithm ensemble: collaborative + content-based + knowledge-based + popularity + waste-conscious</a:t>
            </a:r>
            <a:endParaRPr lang="en-US" sz="1600" dirty="0"/>
          </a:p>
        </p:txBody>
      </p:sp>
      <p:sp>
        <p:nvSpPr>
          <p:cNvPr id="121" name="Text 43">
            <a:extLst>
              <a:ext uri="{FF2B5EF4-FFF2-40B4-BE49-F238E27FC236}">
                <a16:creationId xmlns:a16="http://schemas.microsoft.com/office/drawing/2014/main" id="{1C07A266-8BE1-931F-1AEA-1C514FDBC027}"/>
              </a:ext>
            </a:extLst>
          </p:cNvPr>
          <p:cNvSpPr/>
          <p:nvPr/>
        </p:nvSpPr>
        <p:spPr>
          <a:xfrm>
            <a:off x="6096000" y="4874739"/>
            <a:ext cx="5486400" cy="1341120"/>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dirty="0">
                <a:solidFill>
                  <a:srgbClr val="007B9E"/>
                </a:solidFill>
              </a:rPr>
              <a:t>Waste Reduction — </a:t>
            </a:r>
            <a:r>
              <a:rPr lang="en-US" sz="1600" dirty="0">
                <a:solidFill>
                  <a:srgbClr val="1A1A2E"/>
                </a:solidFill>
              </a:rPr>
              <a:t>Predictive ML model (78% accuracy), avg $360/year household savings, 35% waste cut</a:t>
            </a:r>
            <a:r>
              <a:rPr lang="en-US" sz="1600" dirty="0">
                <a:solidFill>
                  <a:srgbClr val="000000"/>
                </a:solidFill>
              </a:rPr>
              <a:t>
</a:t>
            </a:r>
            <a:r>
              <a:rPr lang="en-US" sz="1600" b="1" dirty="0">
                <a:solidFill>
                  <a:srgbClr val="007B9E"/>
                </a:solidFill>
              </a:rPr>
              <a:t>Chat Assistant — </a:t>
            </a:r>
            <a:r>
              <a:rPr lang="en-US" sz="1600" dirty="0">
                <a:solidFill>
                  <a:srgbClr val="1A1A2E"/>
                </a:solidFill>
              </a:rPr>
              <a:t>Gemini primary + Groq fallback + rule-based tier. 98.2% uptime, 4.2/5 satisfaction</a:t>
            </a:r>
            <a:endParaRPr lang="en-US" sz="1600" dirty="0"/>
          </a:p>
        </p:txBody>
      </p:sp>
      <p:sp>
        <p:nvSpPr>
          <p:cNvPr id="123" name="Shape 44">
            <a:extLst>
              <a:ext uri="{FF2B5EF4-FFF2-40B4-BE49-F238E27FC236}">
                <a16:creationId xmlns:a16="http://schemas.microsoft.com/office/drawing/2014/main" id="{BF920929-99A6-A2F8-3B2B-5F5677DCF671}"/>
              </a:ext>
            </a:extLst>
          </p:cNvPr>
          <p:cNvSpPr/>
          <p:nvPr/>
        </p:nvSpPr>
        <p:spPr>
          <a:xfrm>
            <a:off x="5913120" y="4533363"/>
            <a:ext cx="0" cy="1645920"/>
          </a:xfrm>
          <a:prstGeom prst="line">
            <a:avLst/>
          </a:prstGeom>
          <a:noFill/>
          <a:ln w="12700">
            <a:solidFill>
              <a:srgbClr val="99D5E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4400"/>
          </a:p>
        </p:txBody>
      </p:sp>
      <p:pic>
        <p:nvPicPr>
          <p:cNvPr id="2" name="Picture 1">
            <a:extLst>
              <a:ext uri="{FF2B5EF4-FFF2-40B4-BE49-F238E27FC236}">
                <a16:creationId xmlns:a16="http://schemas.microsoft.com/office/drawing/2014/main" id="{8629E48B-E9EC-EBB5-A6C4-702C4E42B412}"/>
              </a:ext>
            </a:extLst>
          </p:cNvPr>
          <p:cNvPicPr>
            <a:picLocks noChangeAspect="1"/>
          </p:cNvPicPr>
          <p:nvPr/>
        </p:nvPicPr>
        <p:blipFill>
          <a:blip r:embed="rId3"/>
          <a:stretch>
            <a:fillRect/>
          </a:stretch>
        </p:blipFill>
        <p:spPr>
          <a:xfrm>
            <a:off x="10129569" y="132345"/>
            <a:ext cx="2139368" cy="2311086"/>
          </a:xfrm>
          <a:prstGeom prst="rect">
            <a:avLst/>
          </a:prstGeom>
        </p:spPr>
      </p:pic>
    </p:spTree>
    <p:extLst>
      <p:ext uri="{BB962C8B-B14F-4D97-AF65-F5344CB8AC3E}">
        <p14:creationId xmlns:p14="http://schemas.microsoft.com/office/powerpoint/2010/main" val="370180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44047"/>
          </a:xfrm>
          <a:prstGeom prst="rect">
            <a:avLst/>
          </a:prstGeom>
          <a:solidFill>
            <a:srgbClr val="0D2B2B"/>
          </a:solidFill>
          <a:ln/>
        </p:spPr>
      </p:sp>
      <p:sp>
        <p:nvSpPr>
          <p:cNvPr id="3" name="Text 1"/>
          <p:cNvSpPr/>
          <p:nvPr/>
        </p:nvSpPr>
        <p:spPr>
          <a:xfrm>
            <a:off x="487680" y="-146137"/>
            <a:ext cx="11216640" cy="1036320"/>
          </a:xfrm>
          <a:prstGeom prst="rect">
            <a:avLst/>
          </a:prstGeom>
          <a:noFill/>
          <a:ln/>
        </p:spPr>
        <p:txBody>
          <a:bodyPr wrap="square" lIns="0" tIns="0" rIns="0" bIns="0" rtlCol="0" anchor="ctr"/>
          <a:lstStyle/>
          <a:p>
            <a:r>
              <a:rPr lang="en-US" sz="3467" b="1">
                <a:solidFill>
                  <a:srgbClr val="FFFFFF"/>
                </a:solidFill>
                <a:latin typeface="Calibri" pitchFamily="34" charset="0"/>
                <a:ea typeface="Calibri" pitchFamily="34" charset="-122"/>
                <a:cs typeface="Calibri" pitchFamily="34" charset="-120"/>
              </a:rPr>
              <a:t>Results &amp; Evaluation</a:t>
            </a:r>
            <a:endParaRPr lang="en-US" sz="3467"/>
          </a:p>
        </p:txBody>
      </p:sp>
      <p:sp>
        <p:nvSpPr>
          <p:cNvPr id="7" name="Text 5"/>
          <p:cNvSpPr/>
          <p:nvPr/>
        </p:nvSpPr>
        <p:spPr>
          <a:xfrm>
            <a:off x="-387472" y="1836065"/>
            <a:ext cx="2657856" cy="548640"/>
          </a:xfrm>
          <a:prstGeom prst="rect">
            <a:avLst/>
          </a:prstGeom>
          <a:noFill/>
          <a:ln/>
        </p:spPr>
        <p:txBody>
          <a:bodyPr wrap="square" lIns="0" tIns="0" rIns="0" bIns="0" rtlCol="0" anchor="ctr"/>
          <a:lstStyle/>
          <a:p>
            <a:pPr algn="ctr"/>
            <a:r>
              <a:rPr lang="en-US" sz="1250">
                <a:solidFill>
                  <a:srgbClr val="FFFFFF"/>
                </a:solidFill>
                <a:latin typeface="Calibri"/>
                <a:ea typeface="Calibri"/>
                <a:cs typeface="Calibri"/>
              </a:rPr>
              <a:t>Random Fores</a:t>
            </a:r>
            <a:endParaRPr lang="en-US" sz="1267"/>
          </a:p>
          <a:p>
            <a:pPr algn="ctr"/>
            <a:r>
              <a:rPr lang="en-US" sz="1267">
                <a:solidFill>
                  <a:srgbClr val="FFFFFF"/>
                </a:solidFill>
                <a:latin typeface="Calibri" pitchFamily="34" charset="0"/>
                <a:ea typeface="Calibri" pitchFamily="34" charset="-122"/>
                <a:cs typeface="Calibri" pitchFamily="34" charset="-120"/>
              </a:rPr>
              <a:t>Test Accuracy</a:t>
            </a:r>
            <a:endParaRPr lang="en-US" sz="1267"/>
          </a:p>
        </p:txBody>
      </p:sp>
      <p:sp>
        <p:nvSpPr>
          <p:cNvPr id="17" name="Text 15"/>
          <p:cNvSpPr/>
          <p:nvPr/>
        </p:nvSpPr>
        <p:spPr>
          <a:xfrm>
            <a:off x="6230112" y="2097024"/>
            <a:ext cx="2657856" cy="548640"/>
          </a:xfrm>
          <a:prstGeom prst="rect">
            <a:avLst/>
          </a:prstGeom>
          <a:noFill/>
          <a:ln/>
        </p:spPr>
        <p:txBody>
          <a:bodyPr wrap="square" lIns="0" tIns="0" rIns="0" bIns="0" rtlCol="0" anchor="ctr"/>
          <a:lstStyle/>
          <a:p>
            <a:pPr algn="ctr"/>
            <a:r>
              <a:rPr lang="en-US" sz="1250">
                <a:solidFill>
                  <a:srgbClr val="FFFFFF"/>
                </a:solidFill>
                <a:latin typeface="Calibri"/>
                <a:ea typeface="Calibri"/>
                <a:cs typeface="Calibri"/>
              </a:rPr>
              <a:t>Food Waste</a:t>
            </a:r>
            <a:endParaRPr lang="en-US" sz="1267"/>
          </a:p>
          <a:p>
            <a:pPr algn="ctr"/>
            <a:r>
              <a:rPr lang="en-US" sz="1267">
                <a:solidFill>
                  <a:srgbClr val="FFFFFF"/>
                </a:solidFill>
                <a:latin typeface="Calibri" pitchFamily="34" charset="0"/>
                <a:ea typeface="Calibri" pitchFamily="34" charset="-122"/>
                <a:cs typeface="Calibri" pitchFamily="34" charset="-120"/>
              </a:rPr>
              <a:t>Reduction</a:t>
            </a:r>
            <a:endParaRPr lang="en-US" sz="1267"/>
          </a:p>
        </p:txBody>
      </p:sp>
      <p:graphicFrame>
        <p:nvGraphicFramePr>
          <p:cNvPr id="43" name="Table 42">
            <a:extLst>
              <a:ext uri="{FF2B5EF4-FFF2-40B4-BE49-F238E27FC236}">
                <a16:creationId xmlns:a16="http://schemas.microsoft.com/office/drawing/2014/main" id="{E18162E8-653D-E71E-A431-F83EF475A98F}"/>
              </a:ext>
            </a:extLst>
          </p:cNvPr>
          <p:cNvGraphicFramePr>
            <a:graphicFrameLocks noGrp="1"/>
          </p:cNvGraphicFramePr>
          <p:nvPr>
            <p:extLst>
              <p:ext uri="{D42A27DB-BD31-4B8C-83A1-F6EECF244321}">
                <p14:modId xmlns:p14="http://schemas.microsoft.com/office/powerpoint/2010/main" val="2813409680"/>
              </p:ext>
            </p:extLst>
          </p:nvPr>
        </p:nvGraphicFramePr>
        <p:xfrm>
          <a:off x="229643" y="793315"/>
          <a:ext cx="5731700" cy="5471017"/>
        </p:xfrm>
        <a:graphic>
          <a:graphicData uri="http://schemas.openxmlformats.org/drawingml/2006/table">
            <a:tbl>
              <a:tblPr firstRow="1" bandRow="1">
                <a:tableStyleId>{5C22544A-7EE6-4342-B048-85BDC9FD1C3A}</a:tableStyleId>
              </a:tblPr>
              <a:tblGrid>
                <a:gridCol w="1432925">
                  <a:extLst>
                    <a:ext uri="{9D8B030D-6E8A-4147-A177-3AD203B41FA5}">
                      <a16:colId xmlns:a16="http://schemas.microsoft.com/office/drawing/2014/main" val="1847848637"/>
                    </a:ext>
                  </a:extLst>
                </a:gridCol>
                <a:gridCol w="1432925">
                  <a:extLst>
                    <a:ext uri="{9D8B030D-6E8A-4147-A177-3AD203B41FA5}">
                      <a16:colId xmlns:a16="http://schemas.microsoft.com/office/drawing/2014/main" val="1950035190"/>
                    </a:ext>
                  </a:extLst>
                </a:gridCol>
                <a:gridCol w="1432925">
                  <a:extLst>
                    <a:ext uri="{9D8B030D-6E8A-4147-A177-3AD203B41FA5}">
                      <a16:colId xmlns:a16="http://schemas.microsoft.com/office/drawing/2014/main" val="2133288297"/>
                    </a:ext>
                  </a:extLst>
                </a:gridCol>
                <a:gridCol w="1432925">
                  <a:extLst>
                    <a:ext uri="{9D8B030D-6E8A-4147-A177-3AD203B41FA5}">
                      <a16:colId xmlns:a16="http://schemas.microsoft.com/office/drawing/2014/main" val="2932899910"/>
                    </a:ext>
                  </a:extLst>
                </a:gridCol>
              </a:tblGrid>
              <a:tr h="441817">
                <a:tc>
                  <a:txBody>
                    <a:bodyPr/>
                    <a:lstStyle/>
                    <a:p>
                      <a:pPr>
                        <a:buNone/>
                      </a:pPr>
                      <a:r>
                        <a:rPr lang="en-US"/>
                        <a:t>Module</a:t>
                      </a:r>
                    </a:p>
                  </a:txBody>
                  <a:tcPr anchor="ctr">
                    <a:solidFill>
                      <a:schemeClr val="accent3">
                        <a:lumMod val="75000"/>
                      </a:schemeClr>
                    </a:solidFill>
                  </a:tcPr>
                </a:tc>
                <a:tc>
                  <a:txBody>
                    <a:bodyPr/>
                    <a:lstStyle/>
                    <a:p>
                      <a:pPr>
                        <a:buNone/>
                      </a:pPr>
                      <a:r>
                        <a:rPr lang="en-US"/>
                        <a:t>Approach</a:t>
                      </a:r>
                    </a:p>
                  </a:txBody>
                  <a:tcPr anchor="ctr">
                    <a:solidFill>
                      <a:schemeClr val="accent3">
                        <a:lumMod val="75000"/>
                      </a:schemeClr>
                    </a:solidFill>
                  </a:tcPr>
                </a:tc>
                <a:tc>
                  <a:txBody>
                    <a:bodyPr/>
                    <a:lstStyle/>
                    <a:p>
                      <a:pPr>
                        <a:buNone/>
                      </a:pPr>
                      <a:r>
                        <a:rPr lang="en-US"/>
                        <a:t>Key Result</a:t>
                      </a:r>
                    </a:p>
                  </a:txBody>
                  <a:tcPr anchor="ctr">
                    <a:solidFill>
                      <a:schemeClr val="accent3">
                        <a:lumMod val="75000"/>
                      </a:schemeClr>
                    </a:solidFill>
                  </a:tcPr>
                </a:tc>
                <a:tc>
                  <a:txBody>
                    <a:bodyPr/>
                    <a:lstStyle/>
                    <a:p>
                      <a:pPr>
                        <a:buNone/>
                      </a:pPr>
                      <a:r>
                        <a:rPr lang="en-US"/>
                        <a:t>Impact</a:t>
                      </a:r>
                    </a:p>
                  </a:txBody>
                  <a:tcPr anchor="ctr">
                    <a:solidFill>
                      <a:schemeClr val="accent3">
                        <a:lumMod val="75000"/>
                      </a:schemeClr>
                    </a:solidFill>
                  </a:tcPr>
                </a:tc>
                <a:extLst>
                  <a:ext uri="{0D108BD9-81ED-4DB2-BD59-A6C34878D82A}">
                    <a16:rowId xmlns:a16="http://schemas.microsoft.com/office/drawing/2014/main" val="1151976707"/>
                  </a:ext>
                </a:extLst>
              </a:tr>
              <a:tr h="960953">
                <a:tc>
                  <a:txBody>
                    <a:bodyPr/>
                    <a:lstStyle/>
                    <a:p>
                      <a:pPr>
                        <a:buNone/>
                      </a:pPr>
                      <a:r>
                        <a:rPr lang="en-US"/>
                        <a:t>Spontaneous Cooking Assistant</a:t>
                      </a:r>
                    </a:p>
                  </a:txBody>
                  <a:tcPr anchor="ctr">
                    <a:solidFill>
                      <a:schemeClr val="bg2">
                        <a:lumMod val="90000"/>
                      </a:schemeClr>
                    </a:solidFill>
                  </a:tcPr>
                </a:tc>
                <a:tc>
                  <a:txBody>
                    <a:bodyPr/>
                    <a:lstStyle/>
                    <a:p>
                      <a:pPr>
                        <a:buNone/>
                      </a:pPr>
                      <a:r>
                        <a:rPr lang="en-US"/>
                        <a:t>SBERT + FAISS + Fuzzy Matching</a:t>
                      </a:r>
                    </a:p>
                  </a:txBody>
                  <a:tcPr anchor="ctr">
                    <a:solidFill>
                      <a:schemeClr val="bg2">
                        <a:lumMod val="90000"/>
                      </a:schemeClr>
                    </a:solidFill>
                  </a:tcPr>
                </a:tc>
                <a:tc>
                  <a:txBody>
                    <a:bodyPr/>
                    <a:lstStyle/>
                    <a:p>
                      <a:pPr>
                        <a:buNone/>
                      </a:pPr>
                      <a:r>
                        <a:rPr lang="en-US"/>
                        <a:t>High semantic matching accuracy</a:t>
                      </a:r>
                    </a:p>
                  </a:txBody>
                  <a:tcPr anchor="ctr">
                    <a:solidFill>
                      <a:schemeClr val="bg2">
                        <a:lumMod val="90000"/>
                      </a:schemeClr>
                    </a:solidFill>
                  </a:tcPr>
                </a:tc>
                <a:tc>
                  <a:txBody>
                    <a:bodyPr/>
                    <a:lstStyle/>
                    <a:p>
                      <a:pPr>
                        <a:buNone/>
                      </a:pPr>
                      <a:r>
                        <a:rPr lang="en-US"/>
                        <a:t>Improved recipe relevance</a:t>
                      </a:r>
                    </a:p>
                  </a:txBody>
                  <a:tcPr anchor="ctr">
                    <a:solidFill>
                      <a:schemeClr val="bg2">
                        <a:lumMod val="90000"/>
                      </a:schemeClr>
                    </a:solidFill>
                  </a:tcPr>
                </a:tc>
                <a:extLst>
                  <a:ext uri="{0D108BD9-81ED-4DB2-BD59-A6C34878D82A}">
                    <a16:rowId xmlns:a16="http://schemas.microsoft.com/office/drawing/2014/main" val="3364801767"/>
                  </a:ext>
                </a:extLst>
              </a:tr>
              <a:tr h="1181862">
                <a:tc>
                  <a:txBody>
                    <a:bodyPr/>
                    <a:lstStyle/>
                    <a:p>
                      <a:pPr>
                        <a:buNone/>
                      </a:pPr>
                      <a:r>
                        <a:rPr lang="en-US"/>
                        <a:t>Nutritional Guidance</a:t>
                      </a:r>
                    </a:p>
                  </a:txBody>
                  <a:tcPr anchor="ctr">
                    <a:solidFill>
                      <a:schemeClr val="bg2">
                        <a:lumMod val="90000"/>
                      </a:schemeClr>
                    </a:solidFill>
                  </a:tcPr>
                </a:tc>
                <a:tc>
                  <a:txBody>
                    <a:bodyPr/>
                    <a:lstStyle/>
                    <a:p>
                      <a:pPr>
                        <a:buNone/>
                      </a:pPr>
                      <a:r>
                        <a:rPr lang="en-US" dirty="0"/>
                        <a:t>ML Classification (</a:t>
                      </a:r>
                      <a:r>
                        <a:rPr lang="en-US" dirty="0" err="1"/>
                        <a:t>LogReg</a:t>
                      </a:r>
                      <a:r>
                        <a:rPr lang="en-US" dirty="0"/>
                        <a:t>/RF)</a:t>
                      </a:r>
                    </a:p>
                  </a:txBody>
                  <a:tcPr anchor="ctr">
                    <a:solidFill>
                      <a:schemeClr val="bg2">
                        <a:lumMod val="90000"/>
                      </a:schemeClr>
                    </a:solidFill>
                  </a:tcPr>
                </a:tc>
                <a:tc>
                  <a:txBody>
                    <a:bodyPr/>
                    <a:lstStyle/>
                    <a:p>
                      <a:pPr>
                        <a:buNone/>
                      </a:pPr>
                      <a:r>
                        <a:rPr lang="en-US" dirty="0"/>
                        <a:t>~84% Accuracy, F1 </a:t>
                      </a:r>
                      <a:r>
                        <a:rPr lang="en-US"/>
                        <a:t>≈ 0.84</a:t>
                      </a:r>
                      <a:endParaRPr lang="en-US" dirty="0"/>
                    </a:p>
                  </a:txBody>
                  <a:tcPr anchor="ctr">
                    <a:solidFill>
                      <a:schemeClr val="bg2">
                        <a:lumMod val="90000"/>
                      </a:schemeClr>
                    </a:solidFill>
                  </a:tcPr>
                </a:tc>
                <a:tc>
                  <a:txBody>
                    <a:bodyPr/>
                    <a:lstStyle/>
                    <a:p>
                      <a:pPr>
                        <a:buNone/>
                      </a:pPr>
                      <a:r>
                        <a:rPr lang="en-US"/>
                        <a:t>Accurate deficiency risk prediction</a:t>
                      </a:r>
                    </a:p>
                  </a:txBody>
                  <a:tcPr anchor="ctr">
                    <a:solidFill>
                      <a:schemeClr val="bg2">
                        <a:lumMod val="90000"/>
                      </a:schemeClr>
                    </a:solidFill>
                  </a:tcPr>
                </a:tc>
                <a:extLst>
                  <a:ext uri="{0D108BD9-81ED-4DB2-BD59-A6C34878D82A}">
                    <a16:rowId xmlns:a16="http://schemas.microsoft.com/office/drawing/2014/main" val="371091799"/>
                  </a:ext>
                </a:extLst>
              </a:tr>
              <a:tr h="960953">
                <a:tc>
                  <a:txBody>
                    <a:bodyPr/>
                    <a:lstStyle/>
                    <a:p>
                      <a:pPr>
                        <a:buNone/>
                      </a:pPr>
                      <a:r>
                        <a:rPr lang="en-US"/>
                        <a:t>Food Expiry Prediction</a:t>
                      </a:r>
                    </a:p>
                  </a:txBody>
                  <a:tcPr anchor="ctr">
                    <a:solidFill>
                      <a:schemeClr val="bg2">
                        <a:lumMod val="90000"/>
                      </a:schemeClr>
                    </a:solidFill>
                  </a:tcPr>
                </a:tc>
                <a:tc>
                  <a:txBody>
                    <a:bodyPr/>
                    <a:lstStyle/>
                    <a:p>
                      <a:pPr>
                        <a:buNone/>
                      </a:pPr>
                      <a:r>
                        <a:rPr lang="en-US" dirty="0" err="1"/>
                        <a:t>CatBoost</a:t>
                      </a:r>
                      <a:r>
                        <a:rPr lang="en-US" dirty="0"/>
                        <a:t> + AEIF + AED + SCP</a:t>
                      </a:r>
                    </a:p>
                  </a:txBody>
                  <a:tcPr anchor="ctr">
                    <a:solidFill>
                      <a:schemeClr val="bg2">
                        <a:lumMod val="90000"/>
                      </a:schemeClr>
                    </a:solidFill>
                  </a:tcPr>
                </a:tc>
                <a:tc>
                  <a:txBody>
                    <a:bodyPr/>
                    <a:lstStyle/>
                    <a:p>
                      <a:pPr>
                        <a:buNone/>
                      </a:pPr>
                      <a:r>
                        <a:rPr lang="en-US"/>
                        <a:t>R²: 0.7443, MAE: 0.096 days</a:t>
                      </a:r>
                    </a:p>
                  </a:txBody>
                  <a:tcPr anchor="ctr">
                    <a:solidFill>
                      <a:schemeClr val="bg2">
                        <a:lumMod val="90000"/>
                      </a:schemeClr>
                    </a:solidFill>
                  </a:tcPr>
                </a:tc>
                <a:tc>
                  <a:txBody>
                    <a:bodyPr/>
                    <a:lstStyle/>
                    <a:p>
                      <a:pPr>
                        <a:buNone/>
                      </a:pPr>
                      <a:r>
                        <a:rPr lang="en-US"/>
                        <a:t>Safe &amp; personalized expiry prediction</a:t>
                      </a:r>
                    </a:p>
                  </a:txBody>
                  <a:tcPr anchor="ctr">
                    <a:solidFill>
                      <a:schemeClr val="bg2">
                        <a:lumMod val="90000"/>
                      </a:schemeClr>
                    </a:solidFill>
                  </a:tcPr>
                </a:tc>
                <a:extLst>
                  <a:ext uri="{0D108BD9-81ED-4DB2-BD59-A6C34878D82A}">
                    <a16:rowId xmlns:a16="http://schemas.microsoft.com/office/drawing/2014/main" val="1775323618"/>
                  </a:ext>
                </a:extLst>
              </a:tr>
              <a:tr h="960953">
                <a:tc>
                  <a:txBody>
                    <a:bodyPr/>
                    <a:lstStyle/>
                    <a:p>
                      <a:pPr>
                        <a:buNone/>
                      </a:pPr>
                      <a:r>
                        <a:rPr lang="en-US"/>
                        <a:t>Smart Shopping Assistant</a:t>
                      </a:r>
                    </a:p>
                  </a:txBody>
                  <a:tcPr anchor="ctr">
                    <a:solidFill>
                      <a:schemeClr val="bg2">
                        <a:lumMod val="90000"/>
                      </a:schemeClr>
                    </a:solidFill>
                  </a:tcPr>
                </a:tc>
                <a:tc>
                  <a:txBody>
                    <a:bodyPr/>
                    <a:lstStyle/>
                    <a:p>
                      <a:pPr>
                        <a:buNone/>
                      </a:pPr>
                      <a:r>
                        <a:rPr lang="en-US"/>
                        <a:t>NLP + Recommendation Logic</a:t>
                      </a:r>
                    </a:p>
                  </a:txBody>
                  <a:tcPr anchor="ctr">
                    <a:solidFill>
                      <a:schemeClr val="bg2">
                        <a:lumMod val="90000"/>
                      </a:schemeClr>
                    </a:solidFill>
                  </a:tcPr>
                </a:tc>
                <a:tc>
                  <a:txBody>
                    <a:bodyPr/>
                    <a:lstStyle/>
                    <a:p>
                      <a:pPr>
                        <a:buNone/>
                      </a:pPr>
                      <a:r>
                        <a:rPr lang="en-US"/>
                        <a:t>High recommendation precision</a:t>
                      </a:r>
                    </a:p>
                  </a:txBody>
                  <a:tcPr anchor="ctr">
                    <a:solidFill>
                      <a:schemeClr val="bg2">
                        <a:lumMod val="90000"/>
                      </a:schemeClr>
                    </a:solidFill>
                  </a:tcPr>
                </a:tc>
                <a:tc>
                  <a:txBody>
                    <a:bodyPr/>
                    <a:lstStyle/>
                    <a:p>
                      <a:pPr>
                        <a:buNone/>
                      </a:pPr>
                      <a:r>
                        <a:rPr lang="en-US"/>
                        <a:t>Optimized shopping decisions</a:t>
                      </a:r>
                    </a:p>
                  </a:txBody>
                  <a:tcPr anchor="ctr">
                    <a:solidFill>
                      <a:schemeClr val="bg2">
                        <a:lumMod val="90000"/>
                      </a:schemeClr>
                    </a:solidFill>
                  </a:tcPr>
                </a:tc>
                <a:extLst>
                  <a:ext uri="{0D108BD9-81ED-4DB2-BD59-A6C34878D82A}">
                    <a16:rowId xmlns:a16="http://schemas.microsoft.com/office/drawing/2014/main" val="2757370597"/>
                  </a:ext>
                </a:extLst>
              </a:tr>
            </a:tbl>
          </a:graphicData>
        </a:graphic>
      </p:graphicFrame>
      <p:sp>
        <p:nvSpPr>
          <p:cNvPr id="46" name="Shape 34">
            <a:extLst>
              <a:ext uri="{FF2B5EF4-FFF2-40B4-BE49-F238E27FC236}">
                <a16:creationId xmlns:a16="http://schemas.microsoft.com/office/drawing/2014/main" id="{86F502CC-03A6-5518-3AED-808B64392F04}"/>
              </a:ext>
            </a:extLst>
          </p:cNvPr>
          <p:cNvSpPr/>
          <p:nvPr/>
        </p:nvSpPr>
        <p:spPr>
          <a:xfrm>
            <a:off x="6230445" y="883920"/>
            <a:ext cx="5733165" cy="4908113"/>
          </a:xfrm>
          <a:prstGeom prst="rect">
            <a:avLst/>
          </a:prstGeom>
          <a:solidFill>
            <a:srgbClr val="E8F7F5"/>
          </a:solidFill>
          <a:ln/>
          <a:effectLst>
            <a:outerShdw blurRad="101600" dist="38100" dir="8100000" algn="bl" rotWithShape="0">
              <a:srgbClr val="000000">
                <a:alpha val="12000"/>
              </a:srgbClr>
            </a:outerShdw>
          </a:effectLst>
        </p:spPr>
      </p:sp>
      <p:sp>
        <p:nvSpPr>
          <p:cNvPr id="44" name="TextBox 43">
            <a:extLst>
              <a:ext uri="{FF2B5EF4-FFF2-40B4-BE49-F238E27FC236}">
                <a16:creationId xmlns:a16="http://schemas.microsoft.com/office/drawing/2014/main" id="{3A4762B5-2A18-BD0E-FD8A-9CE8FB7069E8}"/>
              </a:ext>
            </a:extLst>
          </p:cNvPr>
          <p:cNvSpPr txBox="1"/>
          <p:nvPr/>
        </p:nvSpPr>
        <p:spPr>
          <a:xfrm>
            <a:off x="6461343" y="1069932"/>
            <a:ext cx="525049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accent4">
                    <a:lumMod val="76000"/>
                  </a:schemeClr>
                </a:solidFill>
              </a:rPr>
              <a:t>User Evaluation </a:t>
            </a:r>
            <a:endParaRPr lang="en-US" sz="2000" b="1">
              <a:solidFill>
                <a:schemeClr val="accent4">
                  <a:lumMod val="76000"/>
                </a:schemeClr>
              </a:solidFill>
              <a:ea typeface="Cambria"/>
            </a:endParaRPr>
          </a:p>
          <a:p>
            <a:endParaRPr lang="en-US" b="1" dirty="0">
              <a:solidFill>
                <a:schemeClr val="accent4">
                  <a:lumMod val="76000"/>
                </a:schemeClr>
              </a:solidFill>
              <a:latin typeface="Cambria"/>
              <a:ea typeface="Cambria"/>
              <a:cs typeface="Calibri"/>
            </a:endParaRPr>
          </a:p>
          <a:p>
            <a:pPr>
              <a:buFont typeface="Arial"/>
              <a:buChar char="•"/>
            </a:pPr>
            <a:r>
              <a:rPr lang="en-US">
                <a:solidFill>
                  <a:schemeClr val="accent4">
                    <a:lumMod val="76000"/>
                  </a:schemeClr>
                </a:solidFill>
                <a:latin typeface="Calibri"/>
                <a:ea typeface="Calibri"/>
                <a:cs typeface="Calibri"/>
              </a:rPr>
              <a:t>Users reported </a:t>
            </a:r>
            <a:r>
              <a:rPr lang="en-US" b="1">
                <a:solidFill>
                  <a:schemeClr val="accent4">
                    <a:lumMod val="76000"/>
                  </a:schemeClr>
                </a:solidFill>
                <a:latin typeface="Calibri"/>
                <a:ea typeface="Calibri"/>
                <a:cs typeface="Calibri"/>
              </a:rPr>
              <a:t>improved meal planning using available ingredients</a:t>
            </a:r>
            <a:r>
              <a:rPr lang="en-US" dirty="0">
                <a:solidFill>
                  <a:schemeClr val="accent4">
                    <a:lumMod val="76000"/>
                  </a:schemeClr>
                </a:solidFill>
                <a:latin typeface="Calibri"/>
                <a:ea typeface="Calibri"/>
                <a:cs typeface="Calibri"/>
              </a:rPr>
              <a:t> </a:t>
            </a:r>
          </a:p>
          <a:p>
            <a:pPr>
              <a:buFont typeface="Arial"/>
              <a:buChar char="•"/>
            </a:pPr>
            <a:endParaRPr lang="en-US" dirty="0">
              <a:solidFill>
                <a:schemeClr val="accent4">
                  <a:lumMod val="76000"/>
                </a:schemeClr>
              </a:solidFill>
              <a:latin typeface="Calibri"/>
              <a:ea typeface="Calibri"/>
              <a:cs typeface="Calibri"/>
            </a:endParaRPr>
          </a:p>
          <a:p>
            <a:pPr>
              <a:buFont typeface="Arial"/>
              <a:buChar char="•"/>
            </a:pPr>
            <a:r>
              <a:rPr lang="en-US" dirty="0">
                <a:solidFill>
                  <a:schemeClr val="accent4">
                    <a:lumMod val="76000"/>
                  </a:schemeClr>
                </a:solidFill>
                <a:latin typeface="Calibri"/>
                <a:ea typeface="Calibri"/>
                <a:cs typeface="Calibri"/>
              </a:rPr>
              <a:t>Expiry predictions contributed to </a:t>
            </a:r>
            <a:r>
              <a:rPr lang="en-US" b="1" dirty="0">
                <a:solidFill>
                  <a:schemeClr val="accent4">
                    <a:lumMod val="76000"/>
                  </a:schemeClr>
                </a:solidFill>
                <a:latin typeface="Calibri"/>
                <a:ea typeface="Calibri"/>
                <a:cs typeface="Calibri"/>
              </a:rPr>
              <a:t>better food utilization and reduced waste</a:t>
            </a:r>
            <a:r>
              <a:rPr lang="en-US" dirty="0">
                <a:solidFill>
                  <a:schemeClr val="accent4">
                    <a:lumMod val="76000"/>
                  </a:schemeClr>
                </a:solidFill>
                <a:latin typeface="Calibri"/>
                <a:ea typeface="Calibri"/>
                <a:cs typeface="Calibri"/>
              </a:rPr>
              <a:t> </a:t>
            </a:r>
          </a:p>
          <a:p>
            <a:pPr>
              <a:buFont typeface="Arial"/>
              <a:buChar char="•"/>
            </a:pPr>
            <a:endParaRPr lang="en-US" dirty="0">
              <a:solidFill>
                <a:schemeClr val="accent4">
                  <a:lumMod val="76000"/>
                </a:schemeClr>
              </a:solidFill>
              <a:latin typeface="Calibri"/>
              <a:ea typeface="Calibri"/>
              <a:cs typeface="Calibri"/>
            </a:endParaRPr>
          </a:p>
          <a:p>
            <a:pPr>
              <a:buFont typeface="Arial"/>
              <a:buChar char="•"/>
            </a:pPr>
            <a:r>
              <a:rPr lang="en-US">
                <a:solidFill>
                  <a:schemeClr val="accent4">
                    <a:lumMod val="76000"/>
                  </a:schemeClr>
                </a:solidFill>
                <a:latin typeface="Calibri"/>
                <a:ea typeface="Calibri"/>
                <a:cs typeface="Calibri"/>
              </a:rPr>
              <a:t>Nutritional guidance supported </a:t>
            </a:r>
            <a:r>
              <a:rPr lang="en-US" b="1">
                <a:solidFill>
                  <a:schemeClr val="accent4">
                    <a:lumMod val="76000"/>
                  </a:schemeClr>
                </a:solidFill>
                <a:latin typeface="Calibri"/>
                <a:ea typeface="Calibri"/>
                <a:cs typeface="Calibri"/>
              </a:rPr>
              <a:t>healthier dietary decisions</a:t>
            </a:r>
            <a:r>
              <a:rPr lang="en-US" dirty="0">
                <a:solidFill>
                  <a:schemeClr val="accent4">
                    <a:lumMod val="76000"/>
                  </a:schemeClr>
                </a:solidFill>
                <a:latin typeface="Calibri"/>
                <a:ea typeface="Calibri"/>
                <a:cs typeface="Calibri"/>
              </a:rPr>
              <a:t> </a:t>
            </a:r>
          </a:p>
          <a:p>
            <a:pPr>
              <a:buFont typeface="Arial"/>
              <a:buChar char="•"/>
            </a:pPr>
            <a:endParaRPr lang="en-US" dirty="0">
              <a:solidFill>
                <a:schemeClr val="accent4">
                  <a:lumMod val="76000"/>
                </a:schemeClr>
              </a:solidFill>
              <a:latin typeface="Calibri"/>
              <a:ea typeface="Calibri"/>
              <a:cs typeface="Calibri"/>
            </a:endParaRPr>
          </a:p>
          <a:p>
            <a:pPr>
              <a:buFont typeface="Arial"/>
              <a:buChar char="•"/>
            </a:pPr>
            <a:r>
              <a:rPr lang="en-US">
                <a:solidFill>
                  <a:schemeClr val="accent4">
                    <a:lumMod val="76000"/>
                  </a:schemeClr>
                </a:solidFill>
                <a:latin typeface="Calibri"/>
                <a:ea typeface="Calibri"/>
                <a:cs typeface="Calibri"/>
              </a:rPr>
              <a:t>Shopping recommendations enhanced </a:t>
            </a:r>
            <a:r>
              <a:rPr lang="en-US" b="1">
                <a:solidFill>
                  <a:schemeClr val="accent4">
                    <a:lumMod val="76000"/>
                  </a:schemeClr>
                </a:solidFill>
                <a:latin typeface="Calibri"/>
                <a:ea typeface="Calibri"/>
                <a:cs typeface="Calibri"/>
              </a:rPr>
              <a:t>efficient purchasing behavior</a:t>
            </a:r>
            <a:r>
              <a:rPr lang="en-US" dirty="0">
                <a:solidFill>
                  <a:schemeClr val="accent4">
                    <a:lumMod val="76000"/>
                  </a:schemeClr>
                </a:solidFill>
                <a:latin typeface="Calibri"/>
                <a:ea typeface="Calibri"/>
                <a:cs typeface="Calibri"/>
              </a:rPr>
              <a:t> </a:t>
            </a:r>
          </a:p>
          <a:p>
            <a:pPr>
              <a:buFont typeface="Arial"/>
              <a:buChar char="•"/>
            </a:pPr>
            <a:endParaRPr lang="en-US" dirty="0">
              <a:solidFill>
                <a:schemeClr val="accent4">
                  <a:lumMod val="76000"/>
                </a:schemeClr>
              </a:solidFill>
              <a:latin typeface="Calibri"/>
              <a:ea typeface="Calibri"/>
              <a:cs typeface="Calibri"/>
            </a:endParaRPr>
          </a:p>
          <a:p>
            <a:pPr>
              <a:buFont typeface="Arial"/>
              <a:buChar char="•"/>
            </a:pPr>
            <a:r>
              <a:rPr lang="en-US">
                <a:solidFill>
                  <a:schemeClr val="accent4">
                    <a:lumMod val="76000"/>
                  </a:schemeClr>
                </a:solidFill>
                <a:latin typeface="Calibri"/>
                <a:ea typeface="Calibri"/>
                <a:cs typeface="Calibri"/>
              </a:rPr>
              <a:t>Overall system showed </a:t>
            </a:r>
            <a:r>
              <a:rPr lang="en-US" b="1">
                <a:solidFill>
                  <a:schemeClr val="accent4">
                    <a:lumMod val="76000"/>
                  </a:schemeClr>
                </a:solidFill>
                <a:latin typeface="Calibri"/>
                <a:ea typeface="Calibri"/>
                <a:cs typeface="Calibri"/>
              </a:rPr>
              <a:t>high usability and user satisfaction</a:t>
            </a:r>
            <a:endParaRPr lang="en-US" dirty="0">
              <a:solidFill>
                <a:schemeClr val="accent4">
                  <a:lumMod val="76000"/>
                </a:schemeClr>
              </a:solidFill>
              <a:latin typeface="Calibri"/>
              <a:ea typeface="Calibri"/>
              <a:cs typeface="Calibri"/>
            </a:endParaRPr>
          </a:p>
          <a:p>
            <a:pPr>
              <a:buFont typeface=""/>
              <a:buChar char="•"/>
            </a:pPr>
            <a:endParaRPr lang="en-US" dirty="0">
              <a:ea typeface="Cambria"/>
            </a:endParaRPr>
          </a:p>
          <a:p>
            <a:pPr algn="ctr"/>
            <a:endParaRPr lang="en-US"/>
          </a:p>
        </p:txBody>
      </p:sp>
      <p:sp>
        <p:nvSpPr>
          <p:cNvPr id="9" name="Text 6">
            <a:extLst>
              <a:ext uri="{FF2B5EF4-FFF2-40B4-BE49-F238E27FC236}">
                <a16:creationId xmlns:a16="http://schemas.microsoft.com/office/drawing/2014/main" id="{DEBFF577-93C9-40CD-8461-02B496AEE7CF}"/>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44000" y="-975360"/>
            <a:ext cx="4876800" cy="4876800"/>
          </a:xfrm>
          <a:prstGeom prst="ellipse">
            <a:avLst/>
          </a:prstGeom>
          <a:solidFill>
            <a:srgbClr val="028090">
              <a:alpha val="20000"/>
            </a:srgbClr>
          </a:solidFill>
          <a:ln/>
        </p:spPr>
      </p:sp>
      <p:sp>
        <p:nvSpPr>
          <p:cNvPr id="3" name="Shape 1"/>
          <p:cNvSpPr/>
          <p:nvPr/>
        </p:nvSpPr>
        <p:spPr>
          <a:xfrm>
            <a:off x="-1219200" y="4267200"/>
            <a:ext cx="4267200" cy="4267200"/>
          </a:xfrm>
          <a:prstGeom prst="ellipse">
            <a:avLst/>
          </a:prstGeom>
          <a:solidFill>
            <a:srgbClr val="02C39A">
              <a:alpha val="20000"/>
            </a:srgbClr>
          </a:solidFill>
          <a:ln/>
        </p:spPr>
      </p:sp>
      <p:sp>
        <p:nvSpPr>
          <p:cNvPr id="4" name="Text 2"/>
          <p:cNvSpPr/>
          <p:nvPr/>
        </p:nvSpPr>
        <p:spPr>
          <a:xfrm>
            <a:off x="609600" y="487680"/>
            <a:ext cx="10972800" cy="853440"/>
          </a:xfrm>
          <a:prstGeom prst="rect">
            <a:avLst/>
          </a:prstGeom>
          <a:noFill/>
          <a:ln/>
        </p:spPr>
        <p:txBody>
          <a:bodyPr wrap="square" lIns="0" tIns="0" rIns="0" bIns="0" rtlCol="0" anchor="ctr"/>
          <a:lstStyle/>
          <a:p>
            <a:r>
              <a:rPr lang="en-US" sz="4000" b="1">
                <a:latin typeface="Calibri"/>
                <a:ea typeface="Calibri"/>
                <a:cs typeface="Calibri"/>
              </a:rPr>
              <a:t>Limitations &amp; Future Work</a:t>
            </a:r>
            <a:endParaRPr lang="en-US" sz="4000">
              <a:latin typeface="Calibri"/>
              <a:ea typeface="Calibri"/>
              <a:cs typeface="Calibri"/>
            </a:endParaRPr>
          </a:p>
        </p:txBody>
      </p:sp>
      <p:sp>
        <p:nvSpPr>
          <p:cNvPr id="5" name="Shape 3"/>
          <p:cNvSpPr/>
          <p:nvPr/>
        </p:nvSpPr>
        <p:spPr>
          <a:xfrm>
            <a:off x="609600" y="1438656"/>
            <a:ext cx="6705600" cy="48768"/>
          </a:xfrm>
          <a:prstGeom prst="rect">
            <a:avLst/>
          </a:prstGeom>
          <a:solidFill>
            <a:srgbClr val="02C39A"/>
          </a:solidFill>
          <a:ln/>
        </p:spPr>
      </p:sp>
      <p:sp>
        <p:nvSpPr>
          <p:cNvPr id="6" name="Text 4"/>
          <p:cNvSpPr/>
          <p:nvPr/>
        </p:nvSpPr>
        <p:spPr>
          <a:xfrm>
            <a:off x="724422" y="1953810"/>
            <a:ext cx="6705600" cy="463296"/>
          </a:xfrm>
          <a:prstGeom prst="rect">
            <a:avLst/>
          </a:prstGeom>
          <a:noFill/>
          <a:ln/>
        </p:spPr>
        <p:txBody>
          <a:bodyPr wrap="square" lIns="0" tIns="0" rIns="0" bIns="0" rtlCol="0" anchor="ctr"/>
          <a:lstStyle/>
          <a:p>
            <a:r>
              <a:rPr lang="en-US" b="1" dirty="0">
                <a:latin typeface="Calibri"/>
                <a:ea typeface="Calibri"/>
                <a:cs typeface="Calibri"/>
              </a:rPr>
              <a:t>Identified Limitations </a:t>
            </a:r>
            <a:endParaRPr lang="en-US">
              <a:ea typeface="Cambria"/>
            </a:endParaRPr>
          </a:p>
        </p:txBody>
      </p:sp>
      <p:sp>
        <p:nvSpPr>
          <p:cNvPr id="7" name="Text 5"/>
          <p:cNvSpPr/>
          <p:nvPr/>
        </p:nvSpPr>
        <p:spPr>
          <a:xfrm>
            <a:off x="609600" y="2859023"/>
            <a:ext cx="6705600" cy="2804160"/>
          </a:xfrm>
          <a:prstGeom prst="rect">
            <a:avLst/>
          </a:prstGeom>
          <a:noFill/>
          <a:ln/>
        </p:spPr>
        <p:txBody>
          <a:bodyPr wrap="square" lIns="91440" tIns="45720" rIns="91440" bIns="45720" rtlCol="0" anchor="ctr"/>
          <a:lstStyle/>
          <a:p>
            <a:pPr>
              <a:buSzPct val="100000"/>
              <a:buFont typeface="Arial"/>
              <a:buChar char="•"/>
            </a:pPr>
            <a:r>
              <a:rPr lang="en-US">
                <a:latin typeface="Calibri"/>
                <a:ea typeface="Calibri"/>
                <a:cs typeface="Calibri"/>
              </a:rPr>
              <a:t>Limited real-world user data (short-term evaluation) </a:t>
            </a:r>
            <a:endParaRPr lang="en-US" dirty="0">
              <a:latin typeface="Calibri"/>
              <a:ea typeface="Calibri"/>
              <a:cs typeface="Calibri"/>
            </a:endParaRPr>
          </a:p>
          <a:p>
            <a:pPr>
              <a:buSzPct val="100000"/>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Some datasets are limited scale</a:t>
            </a:r>
            <a:r>
              <a:rPr lang="en-US" dirty="0">
                <a:latin typeface="Calibri"/>
                <a:ea typeface="Calibri"/>
                <a:cs typeface="Calibri"/>
              </a:rPr>
              <a:t> </a:t>
            </a: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Environmental factors are static (no real-time IoT integration)</a:t>
            </a:r>
            <a:r>
              <a:rPr lang="en-US" dirty="0">
                <a:latin typeface="Calibri"/>
                <a:ea typeface="Calibri"/>
                <a:cs typeface="Calibri"/>
              </a:rPr>
              <a:t> </a:t>
            </a: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Cooking dataset limited to Sri Lankan recipes (low scalability)</a:t>
            </a:r>
            <a:r>
              <a:rPr lang="en-US" dirty="0">
                <a:latin typeface="Calibri"/>
                <a:ea typeface="Calibri"/>
                <a:cs typeface="Calibri"/>
              </a:rPr>
              <a:t> </a:t>
            </a: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Shopping module lacks collaborative filtering (cross-user learning)</a:t>
            </a:r>
          </a:p>
          <a:p>
            <a:pPr marL="456565" indent="-456565">
              <a:buSzPct val="100000"/>
              <a:buChar char="•"/>
            </a:pPr>
            <a:endParaRPr lang="en-US" sz="1450" dirty="0">
              <a:latin typeface="Calibri"/>
              <a:ea typeface="Calibri"/>
              <a:cs typeface="Calibri"/>
            </a:endParaRPr>
          </a:p>
        </p:txBody>
      </p:sp>
      <p:sp>
        <p:nvSpPr>
          <p:cNvPr id="8" name="Shape 6"/>
          <p:cNvSpPr/>
          <p:nvPr/>
        </p:nvSpPr>
        <p:spPr>
          <a:xfrm>
            <a:off x="7680960" y="1330682"/>
            <a:ext cx="4084320" cy="4627113"/>
          </a:xfrm>
          <a:prstGeom prst="rect">
            <a:avLst/>
          </a:prstGeom>
          <a:solidFill>
            <a:srgbClr val="028090">
              <a:alpha val="15000"/>
            </a:srgbClr>
          </a:solidFill>
          <a:ln/>
        </p:spPr>
      </p:sp>
      <p:sp>
        <p:nvSpPr>
          <p:cNvPr id="9" name="Text 7"/>
          <p:cNvSpPr/>
          <p:nvPr/>
        </p:nvSpPr>
        <p:spPr>
          <a:xfrm>
            <a:off x="7863840" y="1438656"/>
            <a:ext cx="3657600" cy="463296"/>
          </a:xfrm>
          <a:prstGeom prst="rect">
            <a:avLst/>
          </a:prstGeom>
          <a:noFill/>
          <a:ln/>
        </p:spPr>
        <p:txBody>
          <a:bodyPr wrap="square" lIns="0" tIns="0" rIns="0" bIns="0" rtlCol="0" anchor="ctr"/>
          <a:lstStyle/>
          <a:p>
            <a:r>
              <a:rPr lang="en-US" sz="1600" b="1">
                <a:latin typeface="Calibri" pitchFamily="34" charset="0"/>
                <a:ea typeface="Calibri" pitchFamily="34" charset="-122"/>
                <a:cs typeface="Calibri" pitchFamily="34" charset="-120"/>
              </a:rPr>
              <a:t>Future Directions</a:t>
            </a:r>
            <a:endParaRPr lang="en-US" sz="1600"/>
          </a:p>
        </p:txBody>
      </p:sp>
      <p:sp>
        <p:nvSpPr>
          <p:cNvPr id="10" name="Text 8"/>
          <p:cNvSpPr/>
          <p:nvPr/>
        </p:nvSpPr>
        <p:spPr>
          <a:xfrm>
            <a:off x="7863840" y="2420446"/>
            <a:ext cx="3657600" cy="3169920"/>
          </a:xfrm>
          <a:prstGeom prst="rect">
            <a:avLst/>
          </a:prstGeom>
          <a:noFill/>
          <a:ln/>
        </p:spPr>
        <p:txBody>
          <a:bodyPr wrap="square" lIns="91440" tIns="45720" rIns="91440" bIns="45720" rtlCol="0" anchor="ctr"/>
          <a:lstStyle/>
          <a:p>
            <a:pPr>
              <a:buSzPct val="100000"/>
              <a:buFont typeface="Arial"/>
              <a:buChar char="•"/>
            </a:pPr>
            <a:r>
              <a:rPr lang="en-US">
                <a:latin typeface="Calibri"/>
                <a:ea typeface="Calibri"/>
                <a:cs typeface="Calibri"/>
              </a:rPr>
              <a:t>Integrate</a:t>
            </a:r>
            <a:r>
              <a:rPr lang="en-US" dirty="0">
                <a:latin typeface="Calibri"/>
                <a:ea typeface="Calibri"/>
                <a:cs typeface="Calibri"/>
              </a:rPr>
              <a:t> IoT sensors for real-time temperature &amp; humidity </a:t>
            </a:r>
          </a:p>
          <a:p>
            <a:pPr>
              <a:buSzPct val="100000"/>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Expand datasets across regions and food categories</a:t>
            </a:r>
            <a:r>
              <a:rPr lang="en-US" dirty="0">
                <a:latin typeface="Calibri"/>
                <a:ea typeface="Calibri"/>
                <a:cs typeface="Calibri"/>
              </a:rPr>
              <a:t> </a:t>
            </a: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Apply deep learning models for improved accuracy </a:t>
            </a:r>
            <a:endParaRPr lang="en-US" dirty="0">
              <a:latin typeface="Calibri"/>
              <a:ea typeface="Calibri"/>
              <a:cs typeface="Calibri"/>
            </a:endParaRP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Introduce collaborative recommendation systems</a:t>
            </a:r>
            <a:r>
              <a:rPr lang="en-US" dirty="0">
                <a:latin typeface="Calibri"/>
                <a:ea typeface="Calibri"/>
                <a:cs typeface="Calibri"/>
              </a:rPr>
              <a:t> </a:t>
            </a:r>
          </a:p>
          <a:p>
            <a:pPr>
              <a:buFont typeface="Arial"/>
              <a:buChar char="•"/>
            </a:pPr>
            <a:endParaRPr lang="en-US" dirty="0">
              <a:latin typeface="Calibri"/>
              <a:ea typeface="Calibri"/>
              <a:cs typeface="Calibri"/>
            </a:endParaRPr>
          </a:p>
          <a:p>
            <a:pPr>
              <a:buFont typeface="Arial"/>
              <a:buChar char="•"/>
            </a:pPr>
            <a:r>
              <a:rPr lang="en-US">
                <a:latin typeface="Calibri"/>
                <a:ea typeface="Calibri"/>
                <a:cs typeface="Calibri"/>
              </a:rPr>
              <a:t>Conduct large-scale long-term user studies</a:t>
            </a:r>
            <a:endParaRPr lang="en-US" dirty="0">
              <a:latin typeface="Calibri"/>
              <a:ea typeface="Calibri"/>
              <a:cs typeface="Calibri"/>
            </a:endParaRPr>
          </a:p>
          <a:p>
            <a:pPr marL="456565" indent="-456565">
              <a:buSzPct val="100000"/>
              <a:buChar char="•"/>
            </a:pPr>
            <a:endParaRPr lang="en-US" sz="1400" dirty="0">
              <a:latin typeface="Calibri"/>
              <a:ea typeface="Calibri"/>
              <a:cs typeface="Calibri"/>
            </a:endParaRPr>
          </a:p>
        </p:txBody>
      </p:sp>
      <p:sp>
        <p:nvSpPr>
          <p:cNvPr id="12" name="Shape 6">
            <a:extLst>
              <a:ext uri="{FF2B5EF4-FFF2-40B4-BE49-F238E27FC236}">
                <a16:creationId xmlns:a16="http://schemas.microsoft.com/office/drawing/2014/main" id="{F273CE4F-BDC5-8CE8-6F7F-9BC25D8A7F23}"/>
              </a:ext>
            </a:extLst>
          </p:cNvPr>
          <p:cNvSpPr/>
          <p:nvPr/>
        </p:nvSpPr>
        <p:spPr>
          <a:xfrm>
            <a:off x="353233" y="1727339"/>
            <a:ext cx="6589525" cy="3927745"/>
          </a:xfrm>
          <a:prstGeom prst="rect">
            <a:avLst/>
          </a:prstGeom>
          <a:solidFill>
            <a:srgbClr val="028090">
              <a:alpha val="15000"/>
            </a:srgbClr>
          </a:solidFill>
          <a:ln/>
        </p:spPr>
      </p:sp>
      <p:sp>
        <p:nvSpPr>
          <p:cNvPr id="13" name="Text 6">
            <a:extLst>
              <a:ext uri="{FF2B5EF4-FFF2-40B4-BE49-F238E27FC236}">
                <a16:creationId xmlns:a16="http://schemas.microsoft.com/office/drawing/2014/main" id="{7AF3F42E-6CF8-411C-8493-6A7E1899D9E6}"/>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dirty="0">
                <a:solidFill>
                  <a:srgbClr val="4A6670"/>
                </a:solidFill>
                <a:latin typeface="Calibri" pitchFamily="34" charset="0"/>
                <a:ea typeface="Calibri" pitchFamily="34" charset="-122"/>
                <a:cs typeface="Calibri" pitchFamily="34" charset="-120"/>
              </a:rPr>
              <a:t>Project ID: 25-26J-351  |  Specialization: IT  |  Panel: IT-P10</a:t>
            </a:r>
            <a:endParaRPr lang="en-US"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D7557AE-8427-47CD-B943-460604B69965}"/>
              </a:ext>
            </a:extLst>
          </p:cNvPr>
          <p:cNvSpPr/>
          <p:nvPr/>
        </p:nvSpPr>
        <p:spPr>
          <a:xfrm>
            <a:off x="288217" y="180098"/>
            <a:ext cx="9030517" cy="586978"/>
          </a:xfrm>
          <a:prstGeom prst="rect">
            <a:avLst/>
          </a:prstGeom>
          <a:noFill/>
          <a:ln/>
        </p:spPr>
        <p:txBody>
          <a:bodyPr wrap="none" lIns="0" tIns="0" rIns="0" bIns="0" rtlCol="0" anchor="t"/>
          <a:lstStyle/>
          <a:p>
            <a:pPr marL="0" indent="0" algn="l">
              <a:lnSpc>
                <a:spcPts val="4600"/>
              </a:lnSpc>
              <a:buNone/>
            </a:pPr>
            <a:r>
              <a:rPr lang="en-US" sz="3650" b="1" dirty="0">
                <a:solidFill>
                  <a:srgbClr val="333F70"/>
                </a:solidFill>
                <a:latin typeface="Unbounded Bold" pitchFamily="34" charset="0"/>
                <a:ea typeface="Unbounded Bold" pitchFamily="34" charset="-122"/>
                <a:cs typeface="Unbounded Bold" pitchFamily="34" charset="-120"/>
              </a:rPr>
              <a:t>Commercialization &amp; Future Work</a:t>
            </a:r>
            <a:endParaRPr lang="en-US" sz="3650" dirty="0"/>
          </a:p>
        </p:txBody>
      </p:sp>
      <p:sp>
        <p:nvSpPr>
          <p:cNvPr id="3" name="Text 1">
            <a:extLst>
              <a:ext uri="{FF2B5EF4-FFF2-40B4-BE49-F238E27FC236}">
                <a16:creationId xmlns:a16="http://schemas.microsoft.com/office/drawing/2014/main" id="{CA5BE307-23EB-4363-8C38-CB4E33FC5466}"/>
              </a:ext>
            </a:extLst>
          </p:cNvPr>
          <p:cNvSpPr/>
          <p:nvPr/>
        </p:nvSpPr>
        <p:spPr>
          <a:xfrm>
            <a:off x="288218" y="1155815"/>
            <a:ext cx="4588232" cy="352187"/>
          </a:xfrm>
          <a:prstGeom prst="rect">
            <a:avLst/>
          </a:prstGeom>
          <a:noFill/>
          <a:ln/>
        </p:spPr>
        <p:txBody>
          <a:bodyPr wrap="none" lIns="0" tIns="0" rIns="0" bIns="0" rtlCol="0" anchor="t"/>
          <a:lstStyle/>
          <a:p>
            <a:pPr marL="0" indent="0" algn="l">
              <a:lnSpc>
                <a:spcPts val="2750"/>
              </a:lnSpc>
              <a:buNone/>
            </a:pPr>
            <a:r>
              <a:rPr lang="en-US" sz="2200" b="1" dirty="0">
                <a:solidFill>
                  <a:srgbClr val="26A688"/>
                </a:solidFill>
                <a:latin typeface="Unbounded Bold" pitchFamily="34" charset="0"/>
                <a:ea typeface="Unbounded Bold" pitchFamily="34" charset="-122"/>
                <a:cs typeface="Unbounded Bold" pitchFamily="34" charset="-120"/>
              </a:rPr>
              <a:t>Commercialization Strategy</a:t>
            </a:r>
            <a:endParaRPr lang="en-US" sz="2200" dirty="0"/>
          </a:p>
        </p:txBody>
      </p:sp>
      <p:sp>
        <p:nvSpPr>
          <p:cNvPr id="4" name="Text 2">
            <a:extLst>
              <a:ext uri="{FF2B5EF4-FFF2-40B4-BE49-F238E27FC236}">
                <a16:creationId xmlns:a16="http://schemas.microsoft.com/office/drawing/2014/main" id="{22C01978-CE57-4E57-836C-F120AE588D89}"/>
              </a:ext>
            </a:extLst>
          </p:cNvPr>
          <p:cNvSpPr/>
          <p:nvPr/>
        </p:nvSpPr>
        <p:spPr>
          <a:xfrm>
            <a:off x="288218" y="1663498"/>
            <a:ext cx="5688835" cy="4337804"/>
          </a:xfrm>
          <a:prstGeom prst="rect">
            <a:avLst/>
          </a:prstGeom>
          <a:noFill/>
          <a:ln/>
        </p:spPr>
        <p:txBody>
          <a:bodyPr wrap="square" lIns="0" tIns="0" rIns="0" bIns="0" rtlCol="0" anchor="t"/>
          <a:lstStyle/>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Business Model:</a:t>
            </a:r>
            <a:r>
              <a:rPr lang="en-US" sz="1450" dirty="0">
                <a:solidFill>
                  <a:srgbClr val="333F70"/>
                </a:solidFill>
                <a:latin typeface="Open Sans" pitchFamily="34" charset="0"/>
                <a:ea typeface="Open Sans" pitchFamily="34" charset="-122"/>
                <a:cs typeface="Open Sans" pitchFamily="34" charset="-120"/>
              </a:rPr>
              <a:t> Freemium SaaS platform with free tier for basic features and premium subscription ($4.99/month) for advanced analytics and personalization</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Target Markets:</a:t>
            </a:r>
            <a:r>
              <a:rPr lang="en-US" sz="1450" dirty="0">
                <a:solidFill>
                  <a:srgbClr val="333F70"/>
                </a:solidFill>
                <a:latin typeface="Open Sans" pitchFamily="34" charset="0"/>
                <a:ea typeface="Open Sans" pitchFamily="34" charset="-122"/>
                <a:cs typeface="Open Sans" pitchFamily="34" charset="-120"/>
              </a:rPr>
              <a:t> Households seeking better nutrition management, professional nutritionists and dietitians, grocery retailers for inventory optimization, and healthcare applications for patient care</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Revenue Streams:</a:t>
            </a:r>
            <a:r>
              <a:rPr lang="en-US" sz="1450" dirty="0">
                <a:solidFill>
                  <a:srgbClr val="333F70"/>
                </a:solidFill>
                <a:latin typeface="Open Sans" pitchFamily="34" charset="0"/>
                <a:ea typeface="Open Sans" pitchFamily="34" charset="-122"/>
                <a:cs typeface="Open Sans" pitchFamily="34" charset="-120"/>
              </a:rPr>
              <a:t> B2C monthly subscriptions, B2B API licensing for supermarkets and health platforms, and white-label solutions for healthcare institutions</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Strategic Partnerships:</a:t>
            </a:r>
            <a:r>
              <a:rPr lang="en-US" sz="1450" dirty="0">
                <a:solidFill>
                  <a:srgbClr val="333F70"/>
                </a:solidFill>
                <a:latin typeface="Open Sans" pitchFamily="34" charset="0"/>
                <a:ea typeface="Open Sans" pitchFamily="34" charset="-122"/>
                <a:cs typeface="Open Sans" pitchFamily="34" charset="-120"/>
              </a:rPr>
              <a:t> Collaborations with Sri Lankan grocery chains for data integration and hospital nutrition departments for clinical validation</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Market Penetration:</a:t>
            </a:r>
            <a:r>
              <a:rPr lang="en-US" sz="1450" dirty="0">
                <a:solidFill>
                  <a:srgbClr val="333F70"/>
                </a:solidFill>
                <a:latin typeface="Open Sans" pitchFamily="34" charset="0"/>
                <a:ea typeface="Open Sans" pitchFamily="34" charset="-122"/>
                <a:cs typeface="Open Sans" pitchFamily="34" charset="-120"/>
              </a:rPr>
              <a:t> Target 10,000 users in Year 1, expand to Southeast Asian markets by Year 3 through localized partnerships and multilingual support</a:t>
            </a:r>
            <a:endParaRPr lang="en-US" sz="1450" dirty="0"/>
          </a:p>
        </p:txBody>
      </p:sp>
      <p:sp>
        <p:nvSpPr>
          <p:cNvPr id="5" name="Text 3">
            <a:extLst>
              <a:ext uri="{FF2B5EF4-FFF2-40B4-BE49-F238E27FC236}">
                <a16:creationId xmlns:a16="http://schemas.microsoft.com/office/drawing/2014/main" id="{382DA454-E3B9-42C4-8017-12CB02023F45}"/>
              </a:ext>
            </a:extLst>
          </p:cNvPr>
          <p:cNvSpPr/>
          <p:nvPr/>
        </p:nvSpPr>
        <p:spPr>
          <a:xfrm>
            <a:off x="6214949" y="1155815"/>
            <a:ext cx="4904067" cy="352187"/>
          </a:xfrm>
          <a:prstGeom prst="rect">
            <a:avLst/>
          </a:prstGeom>
          <a:noFill/>
          <a:ln/>
        </p:spPr>
        <p:txBody>
          <a:bodyPr wrap="none" lIns="0" tIns="0" rIns="0" bIns="0" rtlCol="0" anchor="t"/>
          <a:lstStyle/>
          <a:p>
            <a:pPr marL="0" indent="0" algn="l">
              <a:lnSpc>
                <a:spcPts val="2750"/>
              </a:lnSpc>
              <a:buNone/>
            </a:pPr>
            <a:r>
              <a:rPr lang="en-US" sz="2200" b="1" dirty="0">
                <a:solidFill>
                  <a:srgbClr val="26A688"/>
                </a:solidFill>
                <a:latin typeface="Unbounded Bold" pitchFamily="34" charset="0"/>
                <a:ea typeface="Unbounded Bold" pitchFamily="34" charset="-122"/>
                <a:cs typeface="Unbounded Bold" pitchFamily="34" charset="-120"/>
              </a:rPr>
              <a:t>Future Development Roadmap</a:t>
            </a:r>
            <a:endParaRPr lang="en-US" sz="2200" dirty="0"/>
          </a:p>
        </p:txBody>
      </p:sp>
      <p:sp>
        <p:nvSpPr>
          <p:cNvPr id="6" name="Text 4">
            <a:extLst>
              <a:ext uri="{FF2B5EF4-FFF2-40B4-BE49-F238E27FC236}">
                <a16:creationId xmlns:a16="http://schemas.microsoft.com/office/drawing/2014/main" id="{3B5CBD05-3092-4B12-8943-AA9AC1175DD3}"/>
              </a:ext>
            </a:extLst>
          </p:cNvPr>
          <p:cNvSpPr/>
          <p:nvPr/>
        </p:nvSpPr>
        <p:spPr>
          <a:xfrm>
            <a:off x="6214949" y="1663498"/>
            <a:ext cx="5688835" cy="3788450"/>
          </a:xfrm>
          <a:prstGeom prst="rect">
            <a:avLst/>
          </a:prstGeom>
          <a:noFill/>
          <a:ln/>
        </p:spPr>
        <p:txBody>
          <a:bodyPr wrap="square" lIns="0" tIns="0" rIns="0" bIns="0" rtlCol="0" anchor="t"/>
          <a:lstStyle/>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IoT Integration:</a:t>
            </a:r>
            <a:r>
              <a:rPr lang="en-US" sz="1450" dirty="0">
                <a:solidFill>
                  <a:srgbClr val="333F70"/>
                </a:solidFill>
                <a:latin typeface="Open Sans" pitchFamily="34" charset="0"/>
                <a:ea typeface="Open Sans" pitchFamily="34" charset="-122"/>
                <a:cs typeface="Open Sans" pitchFamily="34" charset="-120"/>
              </a:rPr>
              <a:t> Incorporate IoT sensors for real-time temperature and humidity monitoring to enhance spoilage prediction accuracy</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Global Recipe Database:</a:t>
            </a:r>
            <a:r>
              <a:rPr lang="en-US" sz="1450" dirty="0">
                <a:solidFill>
                  <a:srgbClr val="333F70"/>
                </a:solidFill>
                <a:latin typeface="Open Sans" pitchFamily="34" charset="0"/>
                <a:ea typeface="Open Sans" pitchFamily="34" charset="-122"/>
                <a:cs typeface="Open Sans" pitchFamily="34" charset="-120"/>
              </a:rPr>
              <a:t> Expand beyond Sri Lankan cuisine to include Asian, Mediterranean, and Western recipes for international appeal</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Deep Learning Models:</a:t>
            </a:r>
            <a:r>
              <a:rPr lang="en-US" sz="1450" dirty="0">
                <a:solidFill>
                  <a:srgbClr val="333F70"/>
                </a:solidFill>
                <a:latin typeface="Open Sans" pitchFamily="34" charset="0"/>
                <a:ea typeface="Open Sans" pitchFamily="34" charset="-122"/>
                <a:cs typeface="Open Sans" pitchFamily="34" charset="-120"/>
              </a:rPr>
              <a:t> Implement advanced neural networks to achieve higher prediction accuracy and personalized recommendations</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Collaborative Filtering:</a:t>
            </a:r>
            <a:r>
              <a:rPr lang="en-US" sz="1450" dirty="0">
                <a:solidFill>
                  <a:srgbClr val="333F70"/>
                </a:solidFill>
                <a:latin typeface="Open Sans" pitchFamily="34" charset="0"/>
                <a:ea typeface="Open Sans" pitchFamily="34" charset="-122"/>
                <a:cs typeface="Open Sans" pitchFamily="34" charset="-120"/>
              </a:rPr>
              <a:t> Enable cross-user learning to identify patterns and improve recommendations through collective user data</a:t>
            </a:r>
            <a:endParaRPr lang="en-US" sz="1450" dirty="0"/>
          </a:p>
          <a:p>
            <a:pPr marL="342900" indent="-342900" algn="l">
              <a:lnSpc>
                <a:spcPts val="2150"/>
              </a:lnSpc>
              <a:buSzPct val="100000"/>
              <a:buChar char="•"/>
            </a:pPr>
            <a:r>
              <a:rPr lang="en-US" sz="1450" b="1" dirty="0">
                <a:solidFill>
                  <a:srgbClr val="333F70"/>
                </a:solidFill>
                <a:latin typeface="Open Sans" pitchFamily="34" charset="0"/>
                <a:ea typeface="Open Sans" pitchFamily="34" charset="-122"/>
                <a:cs typeface="Open Sans" pitchFamily="34" charset="-120"/>
              </a:rPr>
              <a:t>Longitudinal Studies:</a:t>
            </a:r>
            <a:r>
              <a:rPr lang="en-US" sz="1450" dirty="0">
                <a:solidFill>
                  <a:srgbClr val="333F70"/>
                </a:solidFill>
                <a:latin typeface="Open Sans" pitchFamily="34" charset="0"/>
                <a:ea typeface="Open Sans" pitchFamily="34" charset="-122"/>
                <a:cs typeface="Open Sans" pitchFamily="34" charset="-120"/>
              </a:rPr>
              <a:t> Conduct large-scale user studies to validate long-term health impact and user engagement metrics</a:t>
            </a:r>
            <a:endParaRPr lang="en-US" sz="1450" dirty="0"/>
          </a:p>
        </p:txBody>
      </p:sp>
      <p:sp>
        <p:nvSpPr>
          <p:cNvPr id="7" name="Shape 5">
            <a:extLst>
              <a:ext uri="{FF2B5EF4-FFF2-40B4-BE49-F238E27FC236}">
                <a16:creationId xmlns:a16="http://schemas.microsoft.com/office/drawing/2014/main" id="{FE41CBF6-0593-4080-90DA-8AB2225A40B3}"/>
              </a:ext>
            </a:extLst>
          </p:cNvPr>
          <p:cNvSpPr/>
          <p:nvPr/>
        </p:nvSpPr>
        <p:spPr>
          <a:xfrm>
            <a:off x="288219" y="6277527"/>
            <a:ext cx="11794702" cy="14049"/>
          </a:xfrm>
          <a:prstGeom prst="rect">
            <a:avLst/>
          </a:prstGeom>
          <a:solidFill>
            <a:srgbClr val="333F70">
              <a:alpha val="50000"/>
            </a:srgbClr>
          </a:solidFill>
          <a:ln/>
        </p:spPr>
      </p:sp>
      <p:sp>
        <p:nvSpPr>
          <p:cNvPr id="8" name="Shape 0">
            <a:extLst>
              <a:ext uri="{FF2B5EF4-FFF2-40B4-BE49-F238E27FC236}">
                <a16:creationId xmlns:a16="http://schemas.microsoft.com/office/drawing/2014/main" id="{C9EC14D8-4147-4DA0-86C1-0131A26D5379}"/>
              </a:ext>
            </a:extLst>
          </p:cNvPr>
          <p:cNvSpPr/>
          <p:nvPr/>
        </p:nvSpPr>
        <p:spPr>
          <a:xfrm>
            <a:off x="9144000" y="-975360"/>
            <a:ext cx="4876800" cy="4876800"/>
          </a:xfrm>
          <a:prstGeom prst="ellipse">
            <a:avLst/>
          </a:prstGeom>
          <a:solidFill>
            <a:srgbClr val="028090">
              <a:alpha val="20000"/>
            </a:srgbClr>
          </a:solidFill>
          <a:ln/>
        </p:spPr>
      </p:sp>
      <p:sp>
        <p:nvSpPr>
          <p:cNvPr id="9" name="Shape 1">
            <a:extLst>
              <a:ext uri="{FF2B5EF4-FFF2-40B4-BE49-F238E27FC236}">
                <a16:creationId xmlns:a16="http://schemas.microsoft.com/office/drawing/2014/main" id="{7E92B938-4D5D-4556-8937-35688EF666F1}"/>
              </a:ext>
            </a:extLst>
          </p:cNvPr>
          <p:cNvSpPr/>
          <p:nvPr/>
        </p:nvSpPr>
        <p:spPr>
          <a:xfrm>
            <a:off x="10565635" y="927302"/>
            <a:ext cx="4267200" cy="4267200"/>
          </a:xfrm>
          <a:prstGeom prst="ellipse">
            <a:avLst/>
          </a:prstGeom>
          <a:solidFill>
            <a:srgbClr val="02C39A">
              <a:alpha val="20000"/>
            </a:srgbClr>
          </a:solidFill>
          <a:ln/>
        </p:spPr>
      </p:sp>
      <p:sp>
        <p:nvSpPr>
          <p:cNvPr id="10" name="Text 6">
            <a:extLst>
              <a:ext uri="{FF2B5EF4-FFF2-40B4-BE49-F238E27FC236}">
                <a16:creationId xmlns:a16="http://schemas.microsoft.com/office/drawing/2014/main" id="{D45717AD-37FC-4B45-B202-4C76B9C7F64F}"/>
              </a:ext>
            </a:extLst>
          </p:cNvPr>
          <p:cNvSpPr/>
          <p:nvPr/>
        </p:nvSpPr>
        <p:spPr>
          <a:xfrm>
            <a:off x="2895600" y="6424874"/>
            <a:ext cx="102108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000" b="1">
                <a:solidFill>
                  <a:srgbClr val="4A6670"/>
                </a:solidFill>
                <a:latin typeface="Calibri" pitchFamily="34" charset="0"/>
                <a:ea typeface="Calibri" pitchFamily="34" charset="-122"/>
                <a:cs typeface="Calibri" pitchFamily="34" charset="-120"/>
              </a:rPr>
              <a:t>Project ID: 25-26J-351  |  Specialization: IT  |  Panel: IT-P10</a:t>
            </a:r>
            <a:endParaRPr lang="en-US" sz="2000" b="1"/>
          </a:p>
        </p:txBody>
      </p:sp>
    </p:spTree>
    <p:extLst>
      <p:ext uri="{BB962C8B-B14F-4D97-AF65-F5344CB8AC3E}">
        <p14:creationId xmlns:p14="http://schemas.microsoft.com/office/powerpoint/2010/main" val="2850196385"/>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2d1e402-c42d-419a-bd83-d8d365e28f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476C4981FE2047819081DBF807662E" ma:contentTypeVersion="15" ma:contentTypeDescription="Create a new document." ma:contentTypeScope="" ma:versionID="13e4e1c9d8dfef736ea997080710dd7a">
  <xsd:schema xmlns:xsd="http://www.w3.org/2001/XMLSchema" xmlns:xs="http://www.w3.org/2001/XMLSchema" xmlns:p="http://schemas.microsoft.com/office/2006/metadata/properties" xmlns:ns3="42d1e402-c42d-419a-bd83-d8d365e28f11" xmlns:ns4="fdf483cb-5937-4af3-915e-55fd2d7d3a90" targetNamespace="http://schemas.microsoft.com/office/2006/metadata/properties" ma:root="true" ma:fieldsID="943aedf612584ece6170ec74ba9108e2" ns3:_="" ns4:_="">
    <xsd:import namespace="42d1e402-c42d-419a-bd83-d8d365e28f11"/>
    <xsd:import namespace="fdf483cb-5937-4af3-915e-55fd2d7d3a90"/>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SearchProperties" minOccurs="0"/>
                <xsd:element ref="ns4:SharedWithUsers" minOccurs="0"/>
                <xsd:element ref="ns4:SharedWithDetails" minOccurs="0"/>
                <xsd:element ref="ns4:SharingHintHash"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d1e402-c42d-419a-bd83-d8d365e28f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df483cb-5937-4af3-915e-55fd2d7d3a9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E179EA-5802-4847-97C7-5D18D23DA49F}">
  <ds:schemaRefs>
    <ds:schemaRef ds:uri="http://purl.org/dc/terms/"/>
    <ds:schemaRef ds:uri="http://schemas.microsoft.com/office/infopath/2007/PartnerControls"/>
    <ds:schemaRef ds:uri="42d1e402-c42d-419a-bd83-d8d365e28f11"/>
    <ds:schemaRef ds:uri="http://schemas.microsoft.com/office/2006/documentManagement/types"/>
    <ds:schemaRef ds:uri="http://purl.org/dc/elements/1.1/"/>
    <ds:schemaRef ds:uri="http://purl.org/dc/dcmitype/"/>
    <ds:schemaRef ds:uri="http://schemas.microsoft.com/office/2006/metadata/properties"/>
    <ds:schemaRef ds:uri="http://schemas.openxmlformats.org/package/2006/metadata/core-properties"/>
    <ds:schemaRef ds:uri="fdf483cb-5937-4af3-915e-55fd2d7d3a90"/>
    <ds:schemaRef ds:uri="http://www.w3.org/XML/1998/namespace"/>
  </ds:schemaRefs>
</ds:datastoreItem>
</file>

<file path=customXml/itemProps2.xml><?xml version="1.0" encoding="utf-8"?>
<ds:datastoreItem xmlns:ds="http://schemas.openxmlformats.org/officeDocument/2006/customXml" ds:itemID="{AC4A760F-FF32-4DD8-BC00-88E94A1F34C2}">
  <ds:schemaRefs>
    <ds:schemaRef ds:uri="42d1e402-c42d-419a-bd83-d8d365e28f11"/>
    <ds:schemaRef ds:uri="fdf483cb-5937-4af3-915e-55fd2d7d3a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24EB50-756A-4B4D-A538-B8A80096A112}">
  <ds:schemaRefs>
    <ds:schemaRef ds:uri="http://schemas.microsoft.com/sharepoint/v3/contenttype/forms"/>
  </ds:schemaRefs>
</ds:datastoreItem>
</file>

<file path=docMetadata/LabelInfo.xml><?xml version="1.0" encoding="utf-8"?>
<clbl:labelList xmlns:clbl="http://schemas.microsoft.com/office/2020/mipLabelMetadata">
  <clbl:label id="{1337832b-e06e-4e87-85f5-ecfde68f9c8e}" enabled="1" method="Standard" siteId="{44e3cf94-19c9-4e32-96c3-14f5bf01391a}" removed="0"/>
</clbl:labelList>
</file>

<file path=docProps/app.xml><?xml version="1.0" encoding="utf-8"?>
<Properties xmlns="http://schemas.openxmlformats.org/officeDocument/2006/extended-properties" xmlns:vt="http://schemas.openxmlformats.org/officeDocument/2006/docPropsVTypes">
  <Template>Proposal prsentation stuct (1)</Template>
  <TotalTime>18</TotalTime>
  <Words>2070</Words>
  <Application>Microsoft Office PowerPoint</Application>
  <PresentationFormat>Widescreen</PresentationFormat>
  <Paragraphs>279</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Adobe Devanagari</vt:lpstr>
      <vt:lpstr>Arial</vt:lpstr>
      <vt:lpstr>Calibri</vt:lpstr>
      <vt:lpstr>Cambria</vt:lpstr>
      <vt:lpstr>Open Sans</vt:lpstr>
      <vt:lpstr>Unbounded Bold</vt:lpstr>
      <vt:lpstr>Wingdings</vt:lpstr>
      <vt:lpstr>Office Theme</vt:lpstr>
      <vt:lpstr>AI-Powered Kitchen Ecosystem</vt:lpstr>
      <vt:lpstr>PowerPoint Presentation</vt:lpstr>
      <vt:lpstr>AI-Powered Kitchen Ecosystem </vt:lpstr>
      <vt:lpstr>Identified Limitations of Existing Systems </vt:lpstr>
      <vt:lpstr>AI-Powered Kitchen Ecosystem </vt:lpstr>
      <vt:lpstr>PowerPoint Presentation</vt:lpstr>
      <vt:lpstr>IT22131942 | Perera u. m. k.</vt:lpstr>
      <vt:lpstr>IT22083982 | Shahmi M.T.M</vt:lpstr>
      <vt:lpstr>IT22339010 |  Muraleswaran D</vt:lpstr>
      <vt:lpstr>IT22117946 | JAYASUNDARA D.H</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Overall Title of the Project</dc:title>
  <dc:creator>Koliya Pulasinghe</dc:creator>
  <cp:lastModifiedBy>PERERA U M K it22131942</cp:lastModifiedBy>
  <cp:revision>718</cp:revision>
  <dcterms:created xsi:type="dcterms:W3CDTF">2025-08-25T09:34:25Z</dcterms:created>
  <dcterms:modified xsi:type="dcterms:W3CDTF">2026-05-04T11:12:33Z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0x01010018476C4981FE2047819081DBF807662E</vt:lpwstr>
  </property>
</Properties>
</file>